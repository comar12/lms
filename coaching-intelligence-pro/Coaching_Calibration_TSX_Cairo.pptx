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103715ab-983e-130c-600e-645f3bc2bb47}">
          <p14:sldIdLst>
            <p14:sldId id="256"/>
          </p14:sldIdLst>
        </p14:section>
        <p14:section name="Where the team stands" id="{1fa67a12-8946-89fb-f0a6-3180a3260594}">
          <p14:sldIdLst>
            <p14:sldId id="257"/>
          </p14:sldIdLst>
        </p14:section>
        <p14:section name="How I coach" id="{481d4a2c-827c-02e9-981d-d0367daf48a5}">
          <p14:sldIdLst>
            <p14:sldId id="258"/>
            <p14:sldId id="259"/>
          </p14:sldIdLst>
        </p14:section>
        <p14:section name="Next 30 days" id="{b5cb716c-f5fc-7d12-456b-084e2feff705}">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frame: this is a new-hire team, every agent under 30 days. The numbers are the October month to date through October 14, straight from the TSX dashboard. Three things: how I prepare, how I find the cause behind a behavior, and how I measure one focus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tNPS is rank 11 of 15 and that is the gap. aiCR and GSR are rank 4, XM 3-plus rate rank 5. Context, not excuse: all three new-hire cohorts sit between minus 15 and plus 12 on tNPS. Surveys per agent are 7 to 18, so one survey moves an agent 6 to 14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steps left to right. The two stories in step four are mine: the mute case and the tentative-wording case. Both looked like attitude and both were knowledge. End with the new-hire adaptation: most blame the customer when asked to self-assess, so I let them try, then I direct, and I check the next calls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record for one agent, anonymized. Point at four things: the agent’s own words, the root cause with the question that found it, commitments on both sides, and measures that are calls first and KPI second. The tNPS line is deliberate: minus 20 to 33 in a week is not a promise anyone can keep on 15 surveys, so we commit to direction and set the number once ten new surveys are in. Everything else is parked, including sales, because an offer before the fix costs a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math and the cadence. Six agents are negative on 78 surveys; if they simply reach zero, the team moves from 10.4 to about 20 without a single new promoter. Agent A and Agent B show the same KPI needs two different conversations. Then the two asks, and stop talking after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218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04672"/>
            <a:ext cx="11094415"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8C96AC"/>
                </a:solidFill>
              </a:rPr>
              <a:t>Coaching Calibration · TSX Cairo</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C96AC"/>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04672"/>
            <a:ext cx="11094415"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6B7280"/>
                </a:solidFill>
              </a:rPr>
              <a:t>Coaching Calibration · TSX Cairo</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21826"/>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C96A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412480" y="1097280"/>
            <a:ext cx="2834640" cy="2834640"/>
          </a:xfrm>
          <a:prstGeom prst="roundRect">
            <a:avLst>
              <a:gd name="adj" fmla="val 16129"/>
            </a:avLst>
          </a:prstGeom>
          <a:solidFill>
            <a:srgbClr val="F26522">
              <a:alpha val="14000"/>
            </a:srgbClr>
          </a:solidFill>
          <a:ln w="12700">
            <a:solidFill>
              <a:srgbClr val="F26522">
                <a:alpha val="0"/>
              </a:srgbClr>
            </a:solidFill>
            <a:prstDash val="solid"/>
          </a:ln>
        </p:spPr>
      </p:sp>
      <p:sp>
        <p:nvSpPr>
          <p:cNvPr id="3" name="Shape 1"/>
          <p:cNvSpPr/>
          <p:nvPr/>
        </p:nvSpPr>
        <p:spPr>
          <a:xfrm rot="2700000">
            <a:off x="8961120" y="2366924"/>
            <a:ext cx="1737360" cy="295351"/>
          </a:xfrm>
          <a:prstGeom prst="roundRect">
            <a:avLst>
              <a:gd name="adj" fmla="val 50000"/>
            </a:avLst>
          </a:prstGeom>
          <a:solidFill>
            <a:srgbClr val="F26522"/>
          </a:solidFill>
          <a:ln w="12700">
            <a:solidFill>
              <a:srgbClr val="F26522"/>
            </a:solidFill>
            <a:prstDash val="solid"/>
          </a:ln>
        </p:spPr>
      </p:sp>
      <p:sp>
        <p:nvSpPr>
          <p:cNvPr id="4" name="Shape 2"/>
          <p:cNvSpPr/>
          <p:nvPr/>
        </p:nvSpPr>
        <p:spPr>
          <a:xfrm rot="-2700000">
            <a:off x="8961120" y="2366924"/>
            <a:ext cx="1737360" cy="295351"/>
          </a:xfrm>
          <a:prstGeom prst="roundRect">
            <a:avLst>
              <a:gd name="adj" fmla="val 50000"/>
            </a:avLst>
          </a:prstGeom>
          <a:solidFill>
            <a:srgbClr val="F26522"/>
          </a:solidFill>
          <a:ln w="12700">
            <a:solidFill>
              <a:srgbClr val="F26522"/>
            </a:solidFill>
            <a:prstDash val="solid"/>
          </a:ln>
        </p:spPr>
      </p:sp>
      <p:sp>
        <p:nvSpPr>
          <p:cNvPr id="5" name="Text 3"/>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200" b="1" spc="300" kern="0" dirty="0">
                <a:solidFill>
                  <a:srgbClr val="F26522"/>
                </a:solidFill>
              </a:rPr>
              <a:t>VXI · TSX CAIRO · COMCAST REPAIR</a:t>
            </a:r>
            <a:endParaRPr lang="en-US" sz="1200" dirty="0"/>
          </a:p>
        </p:txBody>
      </p:sp>
      <p:sp>
        <p:nvSpPr>
          <p:cNvPr id="6" name="Text 4"/>
          <p:cNvSpPr txBox="1"/>
          <p:nvPr/>
        </p:nvSpPr>
        <p:spPr>
          <a:xfrm>
            <a:off x="548640" y="1783080"/>
            <a:ext cx="7680960" cy="1371600"/>
          </a:xfrm>
          <a:prstGeom prst="rect">
            <a:avLst/>
          </a:prstGeom>
          <a:noFill/>
          <a:ln/>
        </p:spPr>
        <p:txBody>
          <a:bodyPr wrap="square" lIns="0" tIns="0" rIns="0" bIns="0" rtlCol="0" anchor="ctr"/>
          <a:lstStyle/>
          <a:p>
            <a:pPr indent="0" marL="0">
              <a:buNone/>
            </a:pPr>
            <a:r>
              <a:rPr lang="en-US" sz="6000" b="1" spc="-100" kern="0" dirty="0">
                <a:solidFill>
                  <a:srgbClr val="FFFFFF"/>
                </a:solidFill>
              </a:rPr>
              <a:t>Coaching Calibration</a:t>
            </a:r>
            <a:endParaRPr lang="en-US" sz="6000" dirty="0"/>
          </a:p>
        </p:txBody>
      </p:sp>
      <p:sp>
        <p:nvSpPr>
          <p:cNvPr id="7" name="Text 5"/>
          <p:cNvSpPr txBox="1"/>
          <p:nvPr/>
        </p:nvSpPr>
        <p:spPr>
          <a:xfrm>
            <a:off x="548640" y="3246120"/>
            <a:ext cx="6949440" cy="914400"/>
          </a:xfrm>
          <a:prstGeom prst="rect">
            <a:avLst/>
          </a:prstGeom>
          <a:noFill/>
          <a:ln/>
        </p:spPr>
        <p:txBody>
          <a:bodyPr wrap="square" lIns="0" tIns="0" rIns="0" bIns="0" rtlCol="0" anchor="ctr"/>
          <a:lstStyle/>
          <a:p>
            <a:pPr indent="0" marL="0">
              <a:buNone/>
            </a:pPr>
            <a:r>
              <a:rPr lang="en-US" sz="2000" dirty="0">
                <a:solidFill>
                  <a:srgbClr val="D9DDE6"/>
                </a:solidFill>
              </a:rPr>
              <a:t>How I prepare, how I find the root cause, and how I coach one behavior at a time.</a:t>
            </a:r>
            <a:endParaRPr lang="en-US" sz="2000" dirty="0"/>
          </a:p>
        </p:txBody>
      </p:sp>
      <p:sp>
        <p:nvSpPr>
          <p:cNvPr id="8" name="Text 6"/>
          <p:cNvSpPr txBox="1"/>
          <p:nvPr/>
        </p:nvSpPr>
        <p:spPr>
          <a:xfrm>
            <a:off x="548640" y="5212080"/>
            <a:ext cx="329184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PRESENTED BY</a:t>
            </a:r>
            <a:endParaRPr lang="en-US" sz="1050" dirty="0"/>
          </a:p>
        </p:txBody>
      </p:sp>
      <p:sp>
        <p:nvSpPr>
          <p:cNvPr id="9" name="Text 7"/>
          <p:cNvSpPr txBox="1"/>
          <p:nvPr/>
        </p:nvSpPr>
        <p:spPr>
          <a:xfrm>
            <a:off x="548640" y="5486400"/>
            <a:ext cx="3383280" cy="365760"/>
          </a:xfrm>
          <a:prstGeom prst="rect">
            <a:avLst/>
          </a:prstGeom>
          <a:noFill/>
          <a:ln/>
        </p:spPr>
        <p:txBody>
          <a:bodyPr wrap="square" lIns="0" tIns="0" rIns="0" bIns="0" rtlCol="0" anchor="ctr"/>
          <a:lstStyle/>
          <a:p>
            <a:pPr indent="0" marL="0">
              <a:buNone/>
            </a:pPr>
            <a:r>
              <a:rPr lang="en-US" sz="1700" b="1" dirty="0">
                <a:solidFill>
                  <a:srgbClr val="FFFFFF"/>
                </a:solidFill>
              </a:rPr>
              <a:t>Omar Mansour, Supervisor</a:t>
            </a:r>
            <a:endParaRPr lang="en-US" sz="1700" dirty="0"/>
          </a:p>
        </p:txBody>
      </p:sp>
      <p:sp>
        <p:nvSpPr>
          <p:cNvPr id="10" name="Text 8"/>
          <p:cNvSpPr txBox="1"/>
          <p:nvPr/>
        </p:nvSpPr>
        <p:spPr>
          <a:xfrm>
            <a:off x="4114800" y="5212080"/>
            <a:ext cx="329184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TEAM</a:t>
            </a:r>
            <a:endParaRPr lang="en-US" sz="1050" dirty="0"/>
          </a:p>
        </p:txBody>
      </p:sp>
      <p:sp>
        <p:nvSpPr>
          <p:cNvPr id="11" name="Text 9"/>
          <p:cNvSpPr txBox="1"/>
          <p:nvPr/>
        </p:nvSpPr>
        <p:spPr>
          <a:xfrm>
            <a:off x="4114800" y="5486400"/>
            <a:ext cx="3383280" cy="365760"/>
          </a:xfrm>
          <a:prstGeom prst="rect">
            <a:avLst/>
          </a:prstGeom>
          <a:noFill/>
          <a:ln/>
        </p:spPr>
        <p:txBody>
          <a:bodyPr wrap="square" lIns="0" tIns="0" rIns="0" bIns="0" rtlCol="0" anchor="ctr"/>
          <a:lstStyle/>
          <a:p>
            <a:pPr indent="0" marL="0">
              <a:buNone/>
            </a:pPr>
            <a:r>
              <a:rPr lang="en-US" sz="1700" b="1" dirty="0">
                <a:solidFill>
                  <a:srgbClr val="FFFFFF"/>
                </a:solidFill>
              </a:rPr>
              <a:t>18 agents, 0 to 30 days tenure</a:t>
            </a:r>
            <a:endParaRPr lang="en-US" sz="1700" dirty="0"/>
          </a:p>
        </p:txBody>
      </p:sp>
      <p:sp>
        <p:nvSpPr>
          <p:cNvPr id="12" name="Text 10"/>
          <p:cNvSpPr txBox="1"/>
          <p:nvPr/>
        </p:nvSpPr>
        <p:spPr>
          <a:xfrm>
            <a:off x="7680960" y="5212080"/>
            <a:ext cx="329184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SESSION</a:t>
            </a:r>
            <a:endParaRPr lang="en-US" sz="1050" dirty="0"/>
          </a:p>
        </p:txBody>
      </p:sp>
      <p:sp>
        <p:nvSpPr>
          <p:cNvPr id="13" name="Text 11"/>
          <p:cNvSpPr txBox="1"/>
          <p:nvPr/>
        </p:nvSpPr>
        <p:spPr>
          <a:xfrm>
            <a:off x="7680960" y="5486400"/>
            <a:ext cx="3383280" cy="365760"/>
          </a:xfrm>
          <a:prstGeom prst="rect">
            <a:avLst/>
          </a:prstGeom>
          <a:noFill/>
          <a:ln/>
        </p:spPr>
        <p:txBody>
          <a:bodyPr wrap="square" lIns="0" tIns="0" rIns="0" bIns="0" rtlCol="0" anchor="ctr"/>
          <a:lstStyle/>
          <a:p>
            <a:pPr indent="0" marL="0">
              <a:buNone/>
            </a:pPr>
            <a:r>
              <a:rPr lang="en-US" sz="1700" b="1" dirty="0">
                <a:solidFill>
                  <a:srgbClr val="FFFFFF"/>
                </a:solidFill>
              </a:rPr>
              <a:t>October 2026</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WHERE THE TEAM STANDS</a:t>
            </a:r>
            <a:endParaRPr lang="en-US" sz="1200" dirty="0"/>
          </a:p>
        </p:txBody>
      </p:sp>
      <p:sp>
        <p:nvSpPr>
          <p:cNvPr id="3" name="Text 0"/>
          <p:cNvSpPr/>
          <p:nvPr>
            <p:ph idx="100" type="title" hasCustomPrompt="1"/>
          </p:nvPr>
        </p:nvSpPr>
        <p:spPr>
          <a:xfrm>
            <a:off x="548640" y="804672"/>
            <a:ext cx="11094415" cy="1097280"/>
          </a:xfrm>
          <a:prstGeom prst="rect">
            <a:avLst/>
          </a:prstGeom>
          <a:noFill/>
          <a:ln/>
        </p:spPr>
        <p:txBody>
          <a:bodyPr wrap="square" lIns="0" tIns="0" rIns="0" bIns="0" rtlCol="0" anchor="t"/>
          <a:lstStyle/>
          <a:p>
            <a:pPr algn="l" indent="0" marL="0">
              <a:buNone/>
            </a:pPr>
            <a:r>
              <a:rPr lang="en-US" sz="3200" b="1" dirty="0">
                <a:solidFill>
                  <a:schemeClr val="tx1"/>
                </a:solidFill>
              </a:rPr>
              <a:t>tNPS is the one real gap. Resolution and sales are top four on the floor</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6949440" cy="914400"/>
        </p:xfrm>
        <a:graphic>
          <a:graphicData uri="http://schemas.openxmlformats.org/drawingml/2006/table">
            <a:tbl>
              <a:tblPr/>
              <a:tblGrid>
                <a:gridCol w="1737360"/>
                <a:gridCol w="1097280"/>
                <a:gridCol w="1554480"/>
                <a:gridCol w="1280160"/>
                <a:gridCol w="128016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KPI</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Team</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Target</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Rank of 15</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On target</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r>
              <a:tr h="475488">
                <a:tc>
                  <a:txBody>
                    <a:bodyPr/>
                    <a:lstStyle/>
                    <a:p>
                      <a:pPr algn="l" indent="0" marL="0">
                        <a:buNone/>
                      </a:pPr>
                      <a:r>
                        <a:rPr lang="en-US" sz="1300" b="1" dirty="0">
                          <a:solidFill>
                            <a:srgbClr val="121826"/>
                          </a:solidFill>
                          <a:latin typeface="Calibri" pitchFamily="34" charset="0"/>
                          <a:ea typeface="Calibri" pitchFamily="34" charset="-122"/>
                          <a:cs typeface="Calibri" pitchFamily="34" charset="-120"/>
                        </a:rPr>
                        <a:t>tNPS</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c>
                  <a:txBody>
                    <a:bodyPr/>
                    <a:lstStyle/>
                    <a:p>
                      <a:pPr algn="r" indent="0" marL="0">
                        <a:buNone/>
                      </a:pPr>
                      <a:r>
                        <a:rPr lang="en-US" sz="1300" b="1" dirty="0">
                          <a:solidFill>
                            <a:srgbClr val="B42318"/>
                          </a:solidFill>
                          <a:latin typeface="Calibri" pitchFamily="34" charset="0"/>
                          <a:ea typeface="Calibri" pitchFamily="34" charset="-122"/>
                          <a:cs typeface="Calibri" pitchFamily="34" charset="-120"/>
                        </a:rPr>
                        <a:t>10.4</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33 · leader 35</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c>
                  <a:txBody>
                    <a:bodyPr/>
                    <a:lstStyle/>
                    <a:p>
                      <a:pPr algn="r" indent="0" marL="0">
                        <a:buNone/>
                      </a:pPr>
                      <a:r>
                        <a:rPr lang="en-US" sz="1300" dirty="0">
                          <a:solidFill>
                            <a:srgbClr val="B42318"/>
                          </a:solidFill>
                          <a:latin typeface="Calibri" pitchFamily="34" charset="0"/>
                          <a:ea typeface="Calibri" pitchFamily="34" charset="-122"/>
                          <a:cs typeface="Calibri" pitchFamily="34" charset="-120"/>
                        </a:rPr>
                        <a:t>#11, low</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5 of 18</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r>
              <a:tr h="475488">
                <a:tc>
                  <a:txBody>
                    <a:bodyPr/>
                    <a:lstStyle/>
                    <a:p>
                      <a:pPr algn="l" indent="0" marL="0">
                        <a:buNone/>
                      </a:pPr>
                      <a:r>
                        <a:rPr lang="en-US" sz="1300" b="1" dirty="0">
                          <a:solidFill>
                            <a:srgbClr val="121826"/>
                          </a:solidFill>
                          <a:latin typeface="Calibri" pitchFamily="34" charset="0"/>
                          <a:ea typeface="Calibri" pitchFamily="34" charset="-122"/>
                          <a:cs typeface="Calibri" pitchFamily="34" charset="-120"/>
                        </a:rPr>
                        <a:t>aiCR</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61.2%</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E7F5C"/>
                          </a:solidFill>
                          <a:latin typeface="Calibri" pitchFamily="34" charset="0"/>
                          <a:ea typeface="Calibri" pitchFamily="34" charset="-122"/>
                          <a:cs typeface="Calibri" pitchFamily="34" charset="-120"/>
                        </a:rPr>
                        <a:t>#4, high</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6 of 18</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r>
              <a:tr h="475488">
                <a:tc>
                  <a:txBody>
                    <a:bodyPr/>
                    <a:lstStyle/>
                    <a:p>
                      <a:pPr algn="l" indent="0" marL="0">
                        <a:buNone/>
                      </a:pPr>
                      <a:r>
                        <a:rPr lang="en-US" sz="1300" b="1" dirty="0">
                          <a:solidFill>
                            <a:srgbClr val="121826"/>
                          </a:solidFill>
                          <a:latin typeface="Calibri" pitchFamily="34" charset="0"/>
                          <a:ea typeface="Calibri" pitchFamily="34" charset="-122"/>
                          <a:cs typeface="Calibri" pitchFamily="34" charset="-120"/>
                        </a:rPr>
                        <a:t>GSR 2026</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8% · leader 9%</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E7F5C"/>
                          </a:solidFill>
                          <a:latin typeface="Calibri" pitchFamily="34" charset="0"/>
                          <a:ea typeface="Calibri" pitchFamily="34" charset="-122"/>
                          <a:cs typeface="Calibri" pitchFamily="34" charset="-120"/>
                        </a:rPr>
                        <a:t>#4, high</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4 of 18</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r>
              <a:tr h="475488">
                <a:tc>
                  <a:txBody>
                    <a:bodyPr/>
                    <a:lstStyle/>
                    <a:p>
                      <a:pPr algn="l" indent="0" marL="0">
                        <a:buNone/>
                      </a:pPr>
                      <a:r>
                        <a:rPr lang="en-US" sz="1300" b="1" dirty="0">
                          <a:solidFill>
                            <a:srgbClr val="121826"/>
                          </a:solidFill>
                          <a:latin typeface="Calibri" pitchFamily="34" charset="0"/>
                          <a:ea typeface="Calibri" pitchFamily="34" charset="-122"/>
                          <a:cs typeface="Calibri" pitchFamily="34" charset="-120"/>
                        </a:rPr>
                        <a:t>XM, 3+ lines</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E7F5C"/>
                          </a:solidFill>
                          <a:latin typeface="Calibri" pitchFamily="34" charset="0"/>
                          <a:ea typeface="Calibri" pitchFamily="34" charset="-122"/>
                          <a:cs typeface="Calibri" pitchFamily="34" charset="-120"/>
                        </a:rPr>
                        <a:t>#5, high</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algn="r" indent="0" marL="0">
                        <a:buNone/>
                      </a:pPr>
                      <a:r>
                        <a:rPr lang="en-US" sz="1300" dirty="0">
                          <a:solidFill>
                            <a:srgbClr val="121826"/>
                          </a:solidFill>
                          <a:latin typeface="Calibri" pitchFamily="34" charset="0"/>
                          <a:ea typeface="Calibri" pitchFamily="34" charset="-122"/>
                          <a:cs typeface="Calibri" pitchFamily="34" charset="-120"/>
                        </a:rPr>
                        <a:t>7 of 18 hit 4</a:t>
                      </a:r>
                      <a:endParaRPr lang="en-US" sz="1300" dirty="0">
                        <a:latin typeface="Calibri" charset="0"/>
                        <a:ea typeface="Calibri" charset="0"/>
                        <a:cs typeface="Calibri" charset="0"/>
                      </a:endParaRPr>
                    </a:p>
                  </a:txBody>
                  <a:tcPr marL="128016" marR="128016" marT="73152" marB="73152">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r>
            </a:tbl>
          </a:graphicData>
        </a:graphic>
      </p:graphicFrame>
      <p:sp>
        <p:nvSpPr>
          <p:cNvPr id="5" name="Text 2"/>
          <p:cNvSpPr txBox="1"/>
          <p:nvPr/>
        </p:nvSpPr>
        <p:spPr>
          <a:xfrm>
            <a:off x="548640" y="4983480"/>
            <a:ext cx="6949440" cy="548640"/>
          </a:xfrm>
          <a:prstGeom prst="rect">
            <a:avLst/>
          </a:prstGeom>
          <a:noFill/>
          <a:ln/>
        </p:spPr>
        <p:txBody>
          <a:bodyPr wrap="square" lIns="0" tIns="0" rIns="0" bIns="0" rtlCol="0" anchor="t"/>
          <a:lstStyle/>
          <a:p>
            <a:pPr indent="0" marL="0">
              <a:spcAft>
                <a:spcPts val="400"/>
              </a:spcAft>
              <a:buNone/>
            </a:pPr>
            <a:r>
              <a:rPr lang="en-US" sz="1100" dirty="0">
                <a:solidFill>
                  <a:srgbClr val="6B7280"/>
                </a:solidFill>
              </a:rPr>
              <a:t>October month to date, September 22 to October 14, TSX dashboard. Team tNPS is survey-weighted on 221 surveys.</a:t>
            </a:r>
            <a:endParaRPr lang="en-US" sz="1100" dirty="0"/>
          </a:p>
        </p:txBody>
      </p:sp>
      <p:sp>
        <p:nvSpPr>
          <p:cNvPr id="6" name="Shape 3"/>
          <p:cNvSpPr/>
          <p:nvPr/>
        </p:nvSpPr>
        <p:spPr>
          <a:xfrm>
            <a:off x="7863840" y="2011680"/>
            <a:ext cx="3776472" cy="4023360"/>
          </a:xfrm>
          <a:prstGeom prst="roundRect">
            <a:avLst>
              <a:gd name="adj" fmla="val 4843"/>
            </a:avLst>
          </a:prstGeom>
          <a:solidFill>
            <a:srgbClr val="121826"/>
          </a:solidFill>
          <a:ln w="12700">
            <a:solidFill>
              <a:srgbClr val="121826"/>
            </a:solidFill>
            <a:prstDash val="solid"/>
          </a:ln>
        </p:spPr>
      </p:sp>
      <p:sp>
        <p:nvSpPr>
          <p:cNvPr id="7" name="Text 4"/>
          <p:cNvSpPr txBox="1"/>
          <p:nvPr/>
        </p:nvSpPr>
        <p:spPr>
          <a:xfrm>
            <a:off x="8092440" y="2176272"/>
            <a:ext cx="3383280" cy="365760"/>
          </a:xfrm>
          <a:prstGeom prst="rect">
            <a:avLst/>
          </a:prstGeom>
          <a:noFill/>
          <a:ln/>
        </p:spPr>
        <p:txBody>
          <a:bodyPr wrap="square" lIns="0" tIns="0" rIns="0" bIns="0" rtlCol="0" anchor="ctr"/>
          <a:lstStyle/>
          <a:p>
            <a:pPr indent="0" marL="0">
              <a:buNone/>
            </a:pPr>
            <a:r>
              <a:rPr lang="en-US" sz="1500" b="1" dirty="0">
                <a:solidFill>
                  <a:srgbClr val="F26522"/>
                </a:solidFill>
              </a:rPr>
              <a:t>Against the other new-hire cohorts</a:t>
            </a:r>
            <a:endParaRPr lang="en-US" sz="1500" dirty="0"/>
          </a:p>
        </p:txBody>
      </p:sp>
      <p:sp>
        <p:nvSpPr>
          <p:cNvPr id="8" name="Text 5"/>
          <p:cNvSpPr txBox="1"/>
          <p:nvPr/>
        </p:nvSpPr>
        <p:spPr>
          <a:xfrm>
            <a:off x="8092440" y="2578608"/>
            <a:ext cx="3383280" cy="777240"/>
          </a:xfrm>
          <a:prstGeom prst="rect">
            <a:avLst/>
          </a:prstGeom>
          <a:noFill/>
          <a:ln/>
        </p:spPr>
        <p:txBody>
          <a:bodyPr wrap="square" lIns="0" tIns="0" rIns="0" bIns="0" rtlCol="0" anchor="t"/>
          <a:lstStyle/>
          <a:p>
            <a:pPr indent="0" marL="0">
              <a:spcAft>
                <a:spcPts val="400"/>
              </a:spcAft>
              <a:buNone/>
            </a:pPr>
            <a:r>
              <a:rPr lang="en-US" sz="1250" dirty="0">
                <a:solidFill>
                  <a:srgbClr val="D9DDE6"/>
                </a:solidFill>
              </a:rPr>
              <a:t>Every cohort under 30 days sits between −15 and +12 on tNPS. Mine leads the three on aiCR, GSR and XM.</a:t>
            </a:r>
            <a:endParaRPr lang="en-US" sz="12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8092440" y="3474720"/>
          <a:ext cx="3337560" cy="914400"/>
        </p:xfrm>
        <a:graphic>
          <a:graphicData uri="http://schemas.openxmlformats.org/drawingml/2006/table">
            <a:tbl>
              <a:tblPr/>
              <a:tblGrid>
                <a:gridCol w="1325880"/>
                <a:gridCol w="640080"/>
                <a:gridCol w="685800"/>
                <a:gridCol w="685800"/>
              </a:tblGrid>
              <a:tr h="347472">
                <a:tc>
                  <a:txBody>
                    <a:bodyPr/>
                    <a:lstStyle/>
                    <a:p>
                      <a:pPr algn="l" indent="0" marL="0">
                        <a:buNone/>
                      </a:pPr>
                      <a:r>
                        <a:rPr lang="en-US" sz="1100" b="1" dirty="0">
                          <a:solidFill>
                            <a:srgbClr val="8C96AC"/>
                          </a:solidFill>
                          <a:latin typeface="Calibri" pitchFamily="34" charset="0"/>
                          <a:ea typeface="Calibri" pitchFamily="34" charset="-122"/>
                          <a:cs typeface="Calibri" pitchFamily="34" charset="-120"/>
                        </a:rPr>
                        <a:t>Cohort</a:t>
                      </a:r>
                      <a:endParaRPr lang="en-US" sz="11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100" b="1" dirty="0">
                          <a:solidFill>
                            <a:srgbClr val="8C96AC"/>
                          </a:solidFill>
                          <a:latin typeface="Calibri" pitchFamily="34" charset="0"/>
                          <a:ea typeface="Calibri" pitchFamily="34" charset="-122"/>
                          <a:cs typeface="Calibri" pitchFamily="34" charset="-120"/>
                        </a:rPr>
                        <a:t>tNPS</a:t>
                      </a:r>
                      <a:endParaRPr lang="en-US" sz="11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100" b="1" dirty="0">
                          <a:solidFill>
                            <a:srgbClr val="8C96AC"/>
                          </a:solidFill>
                          <a:latin typeface="Calibri" pitchFamily="34" charset="0"/>
                          <a:ea typeface="Calibri" pitchFamily="34" charset="-122"/>
                          <a:cs typeface="Calibri" pitchFamily="34" charset="-120"/>
                        </a:rPr>
                        <a:t>aiCR</a:t>
                      </a:r>
                      <a:endParaRPr lang="en-US" sz="11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100" b="1" dirty="0">
                          <a:solidFill>
                            <a:srgbClr val="8C96AC"/>
                          </a:solidFill>
                          <a:latin typeface="Calibri" pitchFamily="34" charset="0"/>
                          <a:ea typeface="Calibri" pitchFamily="34" charset="-122"/>
                          <a:cs typeface="Calibri" pitchFamily="34" charset="-120"/>
                        </a:rPr>
                        <a:t>GSR</a:t>
                      </a:r>
                      <a:endParaRPr lang="en-US" sz="11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r>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Mine, Temp 1</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solidFill>
                      <a:srgbClr val="1C24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solidFill>
                      <a:srgbClr val="1C24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61.2%</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solidFill>
                      <a:srgbClr val="1C24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solidFill>
                      <a:srgbClr val="1C2437"/>
                    </a:solidFill>
                  </a:tcPr>
                </a:tc>
              </a:tr>
              <a:tr h="347472">
                <a:tc>
                  <a:txBody>
                    <a:bodyPr/>
                    <a:lstStyle/>
                    <a:p>
                      <a:pPr algn="l" indent="0" marL="0">
                        <a:buNone/>
                      </a:pPr>
                      <a:r>
                        <a:rPr lang="en-US" sz="1200" dirty="0">
                          <a:solidFill>
                            <a:srgbClr val="FFFFFF"/>
                          </a:solidFill>
                          <a:latin typeface="Calibri" pitchFamily="34" charset="0"/>
                          <a:ea typeface="Calibri" pitchFamily="34" charset="-122"/>
                          <a:cs typeface="Calibri" pitchFamily="34" charset="-120"/>
                        </a:rPr>
                        <a:t>Wave Temp 2</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4.3%</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r>
              <a:tr h="347472">
                <a:tc>
                  <a:txBody>
                    <a:bodyPr/>
                    <a:lstStyle/>
                    <a:p>
                      <a:pPr algn="l" indent="0" marL="0">
                        <a:buNone/>
                      </a:pPr>
                      <a:r>
                        <a:rPr lang="en-US" sz="1200" dirty="0">
                          <a:solidFill>
                            <a:srgbClr val="FFFFFF"/>
                          </a:solidFill>
                          <a:latin typeface="Calibri" pitchFamily="34" charset="0"/>
                          <a:ea typeface="Calibri" pitchFamily="34" charset="-122"/>
                          <a:cs typeface="Calibri" pitchFamily="34" charset="-120"/>
                        </a:rPr>
                        <a:t>Wave Temp 3</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60.3%</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r>
              <a:tr h="347472">
                <a:tc>
                  <a:txBody>
                    <a:bodyPr/>
                    <a:lstStyle/>
                    <a:p>
                      <a:pPr algn="l" indent="0" marL="0">
                        <a:buNone/>
                      </a:pPr>
                      <a:r>
                        <a:rPr lang="en-US" sz="1200" dirty="0">
                          <a:solidFill>
                            <a:srgbClr val="FFFFFF"/>
                          </a:solidFill>
                          <a:latin typeface="Calibri" pitchFamily="34" charset="0"/>
                          <a:ea typeface="Calibri" pitchFamily="34" charset="-122"/>
                          <a:cs typeface="Calibri" pitchFamily="34" charset="-120"/>
                        </a:rPr>
                        <a:t>Temp 2 and 33</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58.4%</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c>
                  <a:txBody>
                    <a:bodyPr/>
                    <a:lstStyle/>
                    <a:p>
                      <a:pPr algn="r" indent="0" marL="0">
                        <a:buNone/>
                      </a:pPr>
                      <a:r>
                        <a:rPr lang="en-US" sz="1200" dirty="0">
                          <a:solidFill>
                            <a:srgbClr val="FFFFFF"/>
                          </a:solidFill>
                          <a:latin typeface="Calibri" pitchFamily="34" charset="0"/>
                          <a:ea typeface="Calibri" pitchFamily="34" charset="-122"/>
                          <a:cs typeface="Calibri" pitchFamily="34" charset="-120"/>
                        </a:rPr>
                        <a:t>4.3%</a:t>
                      </a:r>
                      <a:endParaRPr lang="en-US" sz="1200" dirty="0">
                        <a:latin typeface="Calibri" charset="0"/>
                        <a:ea typeface="Calibri" charset="0"/>
                        <a:cs typeface="Calibri" charset="0"/>
                      </a:endParaRPr>
                    </a:p>
                  </a:txBody>
                  <a:tcPr marL="73152" marR="73152" marT="36576" marB="36576">
                    <a:lnL w="6350" cap="flat" cmpd="sng" algn="ctr">
                      <a:solidFill>
                        <a:srgbClr val="2A3449"/>
                      </a:solidFill>
                      <a:prstDash val="solid"/>
                      <a:round/>
                      <a:headEnd type="none" w="med" len="med"/>
                      <a:tailEnd type="none" w="med" len="med"/>
                    </a:lnL>
                    <a:lnR w="6350" cap="flat" cmpd="sng" algn="ctr">
                      <a:solidFill>
                        <a:srgbClr val="2A3449"/>
                      </a:solidFill>
                      <a:prstDash val="solid"/>
                      <a:round/>
                      <a:headEnd type="none" w="med" len="med"/>
                      <a:tailEnd type="none" w="med" len="med"/>
                    </a:lnR>
                    <a:lnT w="6350" cap="flat" cmpd="sng" algn="ctr">
                      <a:solidFill>
                        <a:srgbClr val="2A3449"/>
                      </a:solidFill>
                      <a:prstDash val="solid"/>
                      <a:round/>
                      <a:headEnd type="none" w="med" len="med"/>
                      <a:tailEnd type="none" w="med" len="med"/>
                    </a:lnT>
                    <a:lnB w="6350" cap="flat" cmpd="sng" algn="ctr">
                      <a:solidFill>
                        <a:srgbClr val="2A3449"/>
                      </a:solidFill>
                      <a:prstDash val="solid"/>
                      <a:round/>
                      <a:headEnd type="none" w="med" len="med"/>
                      <a:tailEnd type="none" w="med" len="med"/>
                    </a:lnB>
                  </a:tcPr>
                </a:tc>
              </a:tr>
            </a:tbl>
          </a:graphicData>
        </a:graphic>
      </p:graphicFrame>
      <p:sp>
        <p:nvSpPr>
          <p:cNvPr id="10" name="Text 6"/>
          <p:cNvSpPr txBox="1"/>
          <p:nvPr/>
        </p:nvSpPr>
        <p:spPr>
          <a:xfrm>
            <a:off x="8092440" y="5349240"/>
            <a:ext cx="3383280" cy="457200"/>
          </a:xfrm>
          <a:prstGeom prst="rect">
            <a:avLst/>
          </a:prstGeom>
          <a:noFill/>
          <a:ln/>
        </p:spPr>
        <p:txBody>
          <a:bodyPr wrap="square" lIns="0" tIns="0" rIns="0" bIns="0" rtlCol="0" anchor="t"/>
          <a:lstStyle/>
          <a:p>
            <a:pPr indent="0" marL="0">
              <a:spcAft>
                <a:spcPts val="400"/>
              </a:spcAft>
              <a:buNone/>
            </a:pPr>
            <a:r>
              <a:rPr lang="en-US" sz="1250" i="1" dirty="0">
                <a:solidFill>
                  <a:srgbClr val="D9DDE6"/>
                </a:solidFill>
              </a:rPr>
              <a:t>So tNPS is a tenure-stage problem, and the plan attacks it.</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HOW I PREPARE, AND HOW I FIND THE CAUSE</a:t>
            </a:r>
            <a:endParaRPr lang="en-US" sz="1200" dirty="0"/>
          </a:p>
        </p:txBody>
      </p:sp>
      <p:sp>
        <p:nvSpPr>
          <p:cNvPr id="3" name="Text 0"/>
          <p:cNvSpPr/>
          <p:nvPr>
            <p:ph idx="100" type="title" hasCustomPrompt="1"/>
          </p:nvPr>
        </p:nvSpPr>
        <p:spPr>
          <a:xfrm>
            <a:off x="548640" y="804672"/>
            <a:ext cx="11094415" cy="1097280"/>
          </a:xfrm>
          <a:prstGeom prst="rect">
            <a:avLst/>
          </a:prstGeom>
          <a:noFill/>
          <a:ln/>
        </p:spPr>
        <p:txBody>
          <a:bodyPr wrap="square" lIns="0" tIns="0" rIns="0" bIns="0" rtlCol="0" anchor="t"/>
          <a:lstStyle/>
          <a:p>
            <a:pPr algn="l" indent="0" marL="0">
              <a:buNone/>
            </a:pPr>
            <a:r>
              <a:rPr lang="en-US" sz="3200" b="1" dirty="0">
                <a:solidFill>
                  <a:schemeClr val="tx1"/>
                </a:solidFill>
              </a:rPr>
              <a:t>Data, then calls, then ask before I tell, then the cause, not the symptom</a:t>
            </a:r>
            <a:endParaRPr lang="en-US" sz="3200" dirty="0"/>
          </a:p>
        </p:txBody>
      </p:sp>
      <p:sp>
        <p:nvSpPr>
          <p:cNvPr id="4" name="Shape 2"/>
          <p:cNvSpPr/>
          <p:nvPr/>
        </p:nvSpPr>
        <p:spPr>
          <a:xfrm>
            <a:off x="548640" y="2011680"/>
            <a:ext cx="2567864" cy="2926080"/>
          </a:xfrm>
          <a:prstGeom prst="roundRect">
            <a:avLst>
              <a:gd name="adj" fmla="val 7122"/>
            </a:avLst>
          </a:prstGeom>
          <a:solidFill>
            <a:srgbClr val="F6F3EE"/>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77240" y="2240280"/>
            <a:ext cx="566928" cy="566928"/>
          </a:xfrm>
          <a:prstGeom prst="ellipse">
            <a:avLst/>
          </a:prstGeom>
          <a:solidFill>
            <a:srgbClr val="FDE9DF"/>
          </a:solidFill>
          <a:ln w="12700">
            <a:solidFill>
              <a:srgbClr val="FDE9DF"/>
            </a:solidFill>
            <a:prstDash val="solid"/>
          </a:ln>
        </p:spPr>
      </p:sp>
      <p:pic>
        <p:nvPicPr>
          <p:cNvPr id="6" name="Image 0" descr="preencoded.png">    </p:cNvPr>
          <p:cNvPicPr>
            <a:picLocks noChangeAspect="1"/>
          </p:cNvPicPr>
          <p:nvPr/>
        </p:nvPicPr>
        <p:blipFill>
          <a:blip r:embed="rId1"/>
          <a:stretch>
            <a:fillRect/>
          </a:stretch>
        </p:blipFill>
        <p:spPr>
          <a:xfrm>
            <a:off x="905256" y="2368296"/>
            <a:ext cx="310896" cy="310896"/>
          </a:xfrm>
          <a:prstGeom prst="rect">
            <a:avLst/>
          </a:prstGeom>
        </p:spPr>
      </p:pic>
      <p:sp>
        <p:nvSpPr>
          <p:cNvPr id="7" name="Text 4"/>
          <p:cNvSpPr txBox="1"/>
          <p:nvPr/>
        </p:nvSpPr>
        <p:spPr>
          <a:xfrm>
            <a:off x="777240" y="2971800"/>
            <a:ext cx="2110664" cy="411480"/>
          </a:xfrm>
          <a:prstGeom prst="rect">
            <a:avLst/>
          </a:prstGeom>
          <a:noFill/>
          <a:ln/>
        </p:spPr>
        <p:txBody>
          <a:bodyPr wrap="square" lIns="0" tIns="0" rIns="0" bIns="0" rtlCol="0" anchor="ctr"/>
          <a:lstStyle/>
          <a:p>
            <a:pPr indent="0" marL="0">
              <a:buNone/>
            </a:pPr>
            <a:r>
              <a:rPr lang="en-US" sz="1600" b="1" dirty="0">
                <a:solidFill>
                  <a:srgbClr val="121826"/>
                </a:solidFill>
              </a:rPr>
              <a:t>1  Data</a:t>
            </a:r>
            <a:endParaRPr lang="en-US" sz="1600" dirty="0"/>
          </a:p>
        </p:txBody>
      </p:sp>
      <p:sp>
        <p:nvSpPr>
          <p:cNvPr id="8" name="Text 5"/>
          <p:cNvSpPr txBox="1"/>
          <p:nvPr/>
        </p:nvSpPr>
        <p:spPr>
          <a:xfrm>
            <a:off x="777240" y="3401568"/>
            <a:ext cx="2110664" cy="146304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Tableau and Power BI before every session: which KPI is below target, on how many surveys, and the ITG split between right guide picked and completed.</a:t>
            </a:r>
            <a:endParaRPr lang="en-US" sz="1250" dirty="0"/>
          </a:p>
        </p:txBody>
      </p:sp>
      <p:sp>
        <p:nvSpPr>
          <p:cNvPr id="9" name="Shape 6"/>
          <p:cNvSpPr/>
          <p:nvPr/>
        </p:nvSpPr>
        <p:spPr>
          <a:xfrm>
            <a:off x="3390824" y="2011680"/>
            <a:ext cx="2567864" cy="2926080"/>
          </a:xfrm>
          <a:prstGeom prst="roundRect">
            <a:avLst>
              <a:gd name="adj" fmla="val 7122"/>
            </a:avLst>
          </a:prstGeom>
          <a:solidFill>
            <a:srgbClr val="F6F3EE"/>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619424" y="2240280"/>
            <a:ext cx="566928" cy="566928"/>
          </a:xfrm>
          <a:prstGeom prst="ellipse">
            <a:avLst/>
          </a:prstGeom>
          <a:solidFill>
            <a:srgbClr val="FDE9DF"/>
          </a:solidFill>
          <a:ln w="12700">
            <a:solidFill>
              <a:srgbClr val="FDE9DF"/>
            </a:solidFill>
            <a:prstDash val="solid"/>
          </a:ln>
        </p:spPr>
      </p:sp>
      <p:pic>
        <p:nvPicPr>
          <p:cNvPr id="11" name="Image 1" descr="preencoded.png">    </p:cNvPr>
          <p:cNvPicPr>
            <a:picLocks noChangeAspect="1"/>
          </p:cNvPicPr>
          <p:nvPr/>
        </p:nvPicPr>
        <p:blipFill>
          <a:blip r:embed="rId2"/>
          <a:stretch>
            <a:fillRect/>
          </a:stretch>
        </p:blipFill>
        <p:spPr>
          <a:xfrm>
            <a:off x="3747440" y="2368296"/>
            <a:ext cx="310896" cy="310896"/>
          </a:xfrm>
          <a:prstGeom prst="rect">
            <a:avLst/>
          </a:prstGeom>
        </p:spPr>
      </p:pic>
      <p:sp>
        <p:nvSpPr>
          <p:cNvPr id="12" name="Text 8"/>
          <p:cNvSpPr txBox="1"/>
          <p:nvPr/>
        </p:nvSpPr>
        <p:spPr>
          <a:xfrm>
            <a:off x="3619424" y="2971800"/>
            <a:ext cx="2110664" cy="411480"/>
          </a:xfrm>
          <a:prstGeom prst="rect">
            <a:avLst/>
          </a:prstGeom>
          <a:noFill/>
          <a:ln/>
        </p:spPr>
        <p:txBody>
          <a:bodyPr wrap="square" lIns="0" tIns="0" rIns="0" bIns="0" rtlCol="0" anchor="ctr"/>
          <a:lstStyle/>
          <a:p>
            <a:pPr indent="0" marL="0">
              <a:buNone/>
            </a:pPr>
            <a:r>
              <a:rPr lang="en-US" sz="1600" b="1" dirty="0">
                <a:solidFill>
                  <a:srgbClr val="121826"/>
                </a:solidFill>
              </a:rPr>
              <a:t>2  Calls</a:t>
            </a:r>
            <a:endParaRPr lang="en-US" sz="1600" dirty="0"/>
          </a:p>
        </p:txBody>
      </p:sp>
      <p:sp>
        <p:nvSpPr>
          <p:cNvPr id="13" name="Text 9"/>
          <p:cNvSpPr txBox="1"/>
          <p:nvPr/>
        </p:nvSpPr>
        <p:spPr>
          <a:xfrm>
            <a:off x="3619424" y="3401568"/>
            <a:ext cx="2110664" cy="146304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Two to four calls per agent on i3, time-stamped. The session is built from what I heard, never from the score alone.</a:t>
            </a:r>
            <a:endParaRPr lang="en-US" sz="1250" dirty="0"/>
          </a:p>
        </p:txBody>
      </p:sp>
      <p:sp>
        <p:nvSpPr>
          <p:cNvPr id="14" name="Shape 10"/>
          <p:cNvSpPr/>
          <p:nvPr/>
        </p:nvSpPr>
        <p:spPr>
          <a:xfrm>
            <a:off x="6233008" y="2011680"/>
            <a:ext cx="2567864" cy="2926080"/>
          </a:xfrm>
          <a:prstGeom prst="roundRect">
            <a:avLst>
              <a:gd name="adj" fmla="val 7122"/>
            </a:avLst>
          </a:prstGeom>
          <a:solidFill>
            <a:srgbClr val="F6F3EE"/>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461608" y="2240280"/>
            <a:ext cx="566928" cy="566928"/>
          </a:xfrm>
          <a:prstGeom prst="ellipse">
            <a:avLst/>
          </a:prstGeom>
          <a:solidFill>
            <a:srgbClr val="FDE9DF"/>
          </a:solidFill>
          <a:ln w="12700">
            <a:solidFill>
              <a:srgbClr val="FDE9DF"/>
            </a:solidFill>
            <a:prstDash val="solid"/>
          </a:ln>
        </p:spPr>
      </p:sp>
      <p:pic>
        <p:nvPicPr>
          <p:cNvPr id="16" name="Image 2" descr="preencoded.png">    </p:cNvPr>
          <p:cNvPicPr>
            <a:picLocks noChangeAspect="1"/>
          </p:cNvPicPr>
          <p:nvPr/>
        </p:nvPicPr>
        <p:blipFill>
          <a:blip r:embed="rId3"/>
          <a:stretch>
            <a:fillRect/>
          </a:stretch>
        </p:blipFill>
        <p:spPr>
          <a:xfrm>
            <a:off x="6589624" y="2368296"/>
            <a:ext cx="310896" cy="310896"/>
          </a:xfrm>
          <a:prstGeom prst="rect">
            <a:avLst/>
          </a:prstGeom>
        </p:spPr>
      </p:pic>
      <p:sp>
        <p:nvSpPr>
          <p:cNvPr id="17" name="Text 12"/>
          <p:cNvSpPr txBox="1"/>
          <p:nvPr/>
        </p:nvSpPr>
        <p:spPr>
          <a:xfrm>
            <a:off x="6461608" y="2971800"/>
            <a:ext cx="2110664" cy="411480"/>
          </a:xfrm>
          <a:prstGeom prst="rect">
            <a:avLst/>
          </a:prstGeom>
          <a:noFill/>
          <a:ln/>
        </p:spPr>
        <p:txBody>
          <a:bodyPr wrap="square" lIns="0" tIns="0" rIns="0" bIns="0" rtlCol="0" anchor="ctr"/>
          <a:lstStyle/>
          <a:p>
            <a:pPr indent="0" marL="0">
              <a:buNone/>
            </a:pPr>
            <a:r>
              <a:rPr lang="en-US" sz="1600" b="1" dirty="0">
                <a:solidFill>
                  <a:srgbClr val="121826"/>
                </a:solidFill>
              </a:rPr>
              <a:t>3  Ask before I tell</a:t>
            </a:r>
            <a:endParaRPr lang="en-US" sz="1600" dirty="0"/>
          </a:p>
        </p:txBody>
      </p:sp>
      <p:sp>
        <p:nvSpPr>
          <p:cNvPr id="18" name="Text 13"/>
          <p:cNvSpPr txBox="1"/>
          <p:nvPr/>
        </p:nvSpPr>
        <p:spPr>
          <a:xfrm>
            <a:off x="6461608" y="3401568"/>
            <a:ext cx="2110664" cy="146304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Rapport first, then the agent listens to the call and self-assesses. “How do you feel that went?” “What was in your head at that moment?”</a:t>
            </a:r>
            <a:endParaRPr lang="en-US" sz="1250" dirty="0"/>
          </a:p>
        </p:txBody>
      </p:sp>
      <p:sp>
        <p:nvSpPr>
          <p:cNvPr id="19" name="Shape 14"/>
          <p:cNvSpPr/>
          <p:nvPr/>
        </p:nvSpPr>
        <p:spPr>
          <a:xfrm>
            <a:off x="9075191" y="2011680"/>
            <a:ext cx="2567864" cy="2926080"/>
          </a:xfrm>
          <a:prstGeom prst="roundRect">
            <a:avLst>
              <a:gd name="adj" fmla="val 7122"/>
            </a:avLst>
          </a:prstGeom>
          <a:solidFill>
            <a:srgbClr val="121826"/>
          </a:solidFill>
          <a:ln w="9525">
            <a:solidFill>
              <a:srgbClr val="121826"/>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9303791" y="2240280"/>
            <a:ext cx="566928" cy="566928"/>
          </a:xfrm>
          <a:prstGeom prst="ellipse">
            <a:avLst/>
          </a:prstGeom>
          <a:solidFill>
            <a:srgbClr val="F26522"/>
          </a:solidFill>
          <a:ln w="12700">
            <a:solidFill>
              <a:srgbClr val="F26522"/>
            </a:solidFill>
            <a:prstDash val="solid"/>
          </a:ln>
        </p:spPr>
      </p:sp>
      <p:pic>
        <p:nvPicPr>
          <p:cNvPr id="21" name="Image 3" descr="preencoded.png">    </p:cNvPr>
          <p:cNvPicPr>
            <a:picLocks noChangeAspect="1"/>
          </p:cNvPicPr>
          <p:nvPr/>
        </p:nvPicPr>
        <p:blipFill>
          <a:blip r:embed="rId4"/>
          <a:stretch>
            <a:fillRect/>
          </a:stretch>
        </p:blipFill>
        <p:spPr>
          <a:xfrm>
            <a:off x="9431807" y="2368296"/>
            <a:ext cx="310896" cy="310896"/>
          </a:xfrm>
          <a:prstGeom prst="rect">
            <a:avLst/>
          </a:prstGeom>
        </p:spPr>
      </p:pic>
      <p:sp>
        <p:nvSpPr>
          <p:cNvPr id="22" name="Text 16"/>
          <p:cNvSpPr txBox="1"/>
          <p:nvPr/>
        </p:nvSpPr>
        <p:spPr>
          <a:xfrm>
            <a:off x="9303791" y="2971800"/>
            <a:ext cx="2110664" cy="411480"/>
          </a:xfrm>
          <a:prstGeom prst="rect">
            <a:avLst/>
          </a:prstGeom>
          <a:noFill/>
          <a:ln/>
        </p:spPr>
        <p:txBody>
          <a:bodyPr wrap="square" lIns="0" tIns="0" rIns="0" bIns="0" rtlCol="0" anchor="ctr"/>
          <a:lstStyle/>
          <a:p>
            <a:pPr indent="0" marL="0">
              <a:buNone/>
            </a:pPr>
            <a:r>
              <a:rPr lang="en-US" sz="1600" b="1" dirty="0">
                <a:solidFill>
                  <a:srgbClr val="FFFFFF"/>
                </a:solidFill>
              </a:rPr>
              <a:t>4  Cause, not symptom</a:t>
            </a:r>
            <a:endParaRPr lang="en-US" sz="1600" dirty="0"/>
          </a:p>
        </p:txBody>
      </p:sp>
      <p:sp>
        <p:nvSpPr>
          <p:cNvPr id="23" name="Text 17"/>
          <p:cNvSpPr txBox="1"/>
          <p:nvPr/>
        </p:nvSpPr>
        <p:spPr>
          <a:xfrm>
            <a:off x="9303791" y="3401568"/>
            <a:ext cx="2110664" cy="1463040"/>
          </a:xfrm>
          <a:prstGeom prst="rect">
            <a:avLst/>
          </a:prstGeom>
          <a:noFill/>
          <a:ln/>
        </p:spPr>
        <p:txBody>
          <a:bodyPr wrap="square" lIns="0" tIns="0" rIns="0" bIns="0" rtlCol="0" anchor="t"/>
          <a:lstStyle/>
          <a:p>
            <a:pPr indent="0" marL="0">
              <a:spcAft>
                <a:spcPts val="400"/>
              </a:spcAft>
              <a:buNone/>
            </a:pPr>
            <a:r>
              <a:rPr lang="en-US" sz="1250" dirty="0">
                <a:solidFill>
                  <a:srgbClr val="D9DDE6"/>
                </a:solidFill>
              </a:rPr>
              <a:t>Long mutes looked like avoidance. He was searching for the answer, so I coached hold technique. Tentative wording looked like low confidence. It was ITG knowledge.</a:t>
            </a:r>
            <a:endParaRPr lang="en-US" sz="1250" dirty="0"/>
          </a:p>
        </p:txBody>
      </p:sp>
      <p:sp>
        <p:nvSpPr>
          <p:cNvPr id="24" name="Shape 18"/>
          <p:cNvSpPr/>
          <p:nvPr/>
        </p:nvSpPr>
        <p:spPr>
          <a:xfrm>
            <a:off x="548640" y="5212080"/>
            <a:ext cx="11094415" cy="868680"/>
          </a:xfrm>
          <a:prstGeom prst="roundRect">
            <a:avLst>
              <a:gd name="adj" fmla="val 15789"/>
            </a:avLst>
          </a:prstGeom>
          <a:solidFill>
            <a:srgbClr val="FDE9DF"/>
          </a:solidFill>
          <a:ln w="12700">
            <a:solidFill>
              <a:srgbClr val="FDE9DF"/>
            </a:solidFill>
            <a:prstDash val="solid"/>
          </a:ln>
        </p:spPr>
      </p:sp>
      <p:pic>
        <p:nvPicPr>
          <p:cNvPr id="25" name="Image 4" descr="preencoded.png">    </p:cNvPr>
          <p:cNvPicPr>
            <a:picLocks noChangeAspect="1"/>
          </p:cNvPicPr>
          <p:nvPr/>
        </p:nvPicPr>
        <p:blipFill>
          <a:blip r:embed="rId5"/>
          <a:stretch>
            <a:fillRect/>
          </a:stretch>
        </p:blipFill>
        <p:spPr>
          <a:xfrm>
            <a:off x="822960" y="5458968"/>
            <a:ext cx="365760" cy="365760"/>
          </a:xfrm>
          <a:prstGeom prst="rect">
            <a:avLst/>
          </a:prstGeom>
        </p:spPr>
      </p:pic>
      <p:sp>
        <p:nvSpPr>
          <p:cNvPr id="26" name="Text 19"/>
          <p:cNvSpPr txBox="1"/>
          <p:nvPr/>
        </p:nvSpPr>
        <p:spPr>
          <a:xfrm>
            <a:off x="1371600" y="5285232"/>
            <a:ext cx="9997135" cy="731520"/>
          </a:xfrm>
          <a:prstGeom prst="rect">
            <a:avLst/>
          </a:prstGeom>
          <a:noFill/>
          <a:ln/>
        </p:spPr>
        <p:txBody>
          <a:bodyPr wrap="square" lIns="0" tIns="0" rIns="0" bIns="0" rtlCol="0" anchor="ctr"/>
          <a:lstStyle/>
          <a:p>
            <a:pPr indent="0" marL="0">
              <a:buNone/>
            </a:pPr>
            <a:r>
              <a:rPr lang="en-US" sz="1350" b="1" dirty="0">
                <a:solidFill>
                  <a:srgbClr val="121826"/>
                </a:solidFill>
              </a:rPr>
              <a:t>New hires cannot self-assess yet, </a:t>
            </a:r>
            <a:pPr indent="0" marL="0">
              <a:buNone/>
            </a:pPr>
            <a:r>
              <a:rPr lang="en-US" sz="1350" dirty="0">
                <a:solidFill>
                  <a:srgbClr val="121826"/>
                </a:solidFill>
              </a:rPr>
              <a:t>so I direct more and loop faster: 15 to 30 minutes per session, follow-up calls the same day or the next, two to three follow-ups for the bottom quartile.</a:t>
            </a:r>
            <a:endParaRPr lang="en-US" sz="13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26522"/>
                </a:solidFill>
              </a:rPr>
              <a:t>ONE FOCUS PER SESSION, MEASURED ON CALLS BEFORE SURVEYS</a:t>
            </a:r>
            <a:endParaRPr lang="en-US" sz="1200" dirty="0"/>
          </a:p>
        </p:txBody>
      </p:sp>
      <p:sp>
        <p:nvSpPr>
          <p:cNvPr id="3" name="Text 0"/>
          <p:cNvSpPr/>
          <p:nvPr>
            <p:ph idx="100" type="title" hasCustomPrompt="1"/>
          </p:nvPr>
        </p:nvSpPr>
        <p:spPr>
          <a:xfrm>
            <a:off x="548640" y="804672"/>
            <a:ext cx="11094415" cy="1097280"/>
          </a:xfrm>
          <a:prstGeom prst="rect">
            <a:avLst/>
          </a:prstGeom>
          <a:noFill/>
          <a:ln/>
        </p:spPr>
        <p:txBody>
          <a:bodyPr wrap="square" lIns="0" tIns="0" rIns="0" bIns="0" rtlCol="0" anchor="t"/>
          <a:lstStyle/>
          <a:p>
            <a:pPr algn="l" indent="0" marL="0">
              <a:buNone/>
            </a:pPr>
            <a:r>
              <a:rPr lang="en-US" sz="3200" b="1" dirty="0">
                <a:solidFill>
                  <a:schemeClr val="bg1"/>
                </a:solidFill>
              </a:rPr>
              <a:t>Agent A, 25 days: one behavior, one cause, both sides commit, dates on everything</a:t>
            </a:r>
            <a:endParaRPr lang="en-US" sz="3200" dirty="0"/>
          </a:p>
        </p:txBody>
      </p:sp>
      <p:sp>
        <p:nvSpPr>
          <p:cNvPr id="4" name="Shape 2"/>
          <p:cNvSpPr/>
          <p:nvPr/>
        </p:nvSpPr>
        <p:spPr>
          <a:xfrm>
            <a:off x="548640" y="1965960"/>
            <a:ext cx="5387188" cy="4160520"/>
          </a:xfrm>
          <a:prstGeom prst="roundRect">
            <a:avLst>
              <a:gd name="adj" fmla="val 4396"/>
            </a:avLst>
          </a:prstGeom>
          <a:solidFill>
            <a:srgbClr val="1C2437"/>
          </a:solidFill>
          <a:ln w="12700">
            <a:solidFill>
              <a:srgbClr val="1C2437"/>
            </a:solidFill>
            <a:prstDash val="solid"/>
          </a:ln>
        </p:spPr>
      </p:sp>
      <p:sp>
        <p:nvSpPr>
          <p:cNvPr id="5" name="Shape 3"/>
          <p:cNvSpPr/>
          <p:nvPr/>
        </p:nvSpPr>
        <p:spPr>
          <a:xfrm>
            <a:off x="6255868" y="1965960"/>
            <a:ext cx="5387188" cy="4160520"/>
          </a:xfrm>
          <a:prstGeom prst="roundRect">
            <a:avLst>
              <a:gd name="adj" fmla="val 4396"/>
            </a:avLst>
          </a:prstGeom>
          <a:solidFill>
            <a:srgbClr val="F6F3EE"/>
          </a:solidFill>
          <a:ln w="12700">
            <a:solidFill>
              <a:srgbClr val="F6F3EE"/>
            </a:solidFill>
            <a:prstDash val="solid"/>
          </a:ln>
        </p:spPr>
      </p:sp>
      <p:sp>
        <p:nvSpPr>
          <p:cNvPr id="6" name="Text 4"/>
          <p:cNvSpPr txBox="1"/>
          <p:nvPr/>
        </p:nvSpPr>
        <p:spPr>
          <a:xfrm>
            <a:off x="822960" y="2194560"/>
            <a:ext cx="4838548" cy="237744"/>
          </a:xfrm>
          <a:prstGeom prst="rect">
            <a:avLst/>
          </a:prstGeom>
          <a:noFill/>
          <a:ln/>
        </p:spPr>
        <p:txBody>
          <a:bodyPr wrap="square" lIns="0" tIns="0" rIns="0" bIns="0" rtlCol="0" anchor="ctr"/>
          <a:lstStyle/>
          <a:p>
            <a:pPr indent="0" marL="0">
              <a:buNone/>
            </a:pPr>
            <a:r>
              <a:rPr lang="en-US" sz="1050" b="1" spc="200" kern="0" dirty="0">
                <a:solidFill>
                  <a:srgbClr val="F26522"/>
                </a:solidFill>
              </a:rPr>
              <a:t>DATA REVIEWED</a:t>
            </a:r>
            <a:endParaRPr lang="en-US" sz="1050" dirty="0"/>
          </a:p>
        </p:txBody>
      </p:sp>
      <p:sp>
        <p:nvSpPr>
          <p:cNvPr id="7" name="Text 5"/>
          <p:cNvSpPr txBox="1"/>
          <p:nvPr/>
        </p:nvSpPr>
        <p:spPr>
          <a:xfrm>
            <a:off x="822960" y="2450592"/>
            <a:ext cx="4838548" cy="685800"/>
          </a:xfrm>
          <a:prstGeom prst="rect">
            <a:avLst/>
          </a:prstGeom>
          <a:noFill/>
          <a:ln/>
        </p:spPr>
        <p:txBody>
          <a:bodyPr wrap="square" lIns="0" tIns="0" rIns="0" bIns="0" rtlCol="0" anchor="t"/>
          <a:lstStyle/>
          <a:p>
            <a:pPr indent="0" marL="0">
              <a:spcAft>
                <a:spcPts val="400"/>
              </a:spcAft>
              <a:buNone/>
            </a:pPr>
            <a:r>
              <a:rPr lang="en-US" sz="1250" dirty="0">
                <a:solidFill>
                  <a:srgbClr val="D9DDE6"/>
                </a:solidFill>
              </a:rPr>
              <a:t>aiCR 53.4% against 62. tNPS −20 on 15 surveys. XM 0. Three calls from October 13 and 14.</a:t>
            </a:r>
            <a:endParaRPr lang="en-US" sz="1250" dirty="0"/>
          </a:p>
        </p:txBody>
      </p:sp>
      <p:sp>
        <p:nvSpPr>
          <p:cNvPr id="8" name="Text 6"/>
          <p:cNvSpPr txBox="1"/>
          <p:nvPr/>
        </p:nvSpPr>
        <p:spPr>
          <a:xfrm>
            <a:off x="822960" y="3182112"/>
            <a:ext cx="4838548" cy="237744"/>
          </a:xfrm>
          <a:prstGeom prst="rect">
            <a:avLst/>
          </a:prstGeom>
          <a:noFill/>
          <a:ln/>
        </p:spPr>
        <p:txBody>
          <a:bodyPr wrap="square" lIns="0" tIns="0" rIns="0" bIns="0" rtlCol="0" anchor="ctr"/>
          <a:lstStyle/>
          <a:p>
            <a:pPr indent="0" marL="0">
              <a:buNone/>
            </a:pPr>
            <a:r>
              <a:rPr lang="en-US" sz="1050" b="1" spc="200" kern="0" dirty="0">
                <a:solidFill>
                  <a:srgbClr val="F26522"/>
                </a:solidFill>
              </a:rPr>
              <a:t>IN THE AGENT’S WORDS</a:t>
            </a:r>
            <a:endParaRPr lang="en-US" sz="1050" dirty="0"/>
          </a:p>
        </p:txBody>
      </p:sp>
      <p:sp>
        <p:nvSpPr>
          <p:cNvPr id="9" name="Text 7"/>
          <p:cNvSpPr txBox="1"/>
          <p:nvPr/>
        </p:nvSpPr>
        <p:spPr>
          <a:xfrm>
            <a:off x="822960" y="3438144"/>
            <a:ext cx="4838548" cy="685800"/>
          </a:xfrm>
          <a:prstGeom prst="rect">
            <a:avLst/>
          </a:prstGeom>
          <a:noFill/>
          <a:ln/>
        </p:spPr>
        <p:txBody>
          <a:bodyPr wrap="square" lIns="0" tIns="0" rIns="0" bIns="0" rtlCol="0" anchor="t"/>
          <a:lstStyle/>
          <a:p>
            <a:pPr indent="0" marL="0">
              <a:spcAft>
                <a:spcPts val="400"/>
              </a:spcAft>
              <a:buNone/>
            </a:pPr>
            <a:r>
              <a:rPr lang="en-US" sz="1250" dirty="0">
                <a:solidFill>
                  <a:srgbClr val="D9DDE6"/>
                </a:solidFill>
              </a:rPr>
              <a:t>“Customers are difficult. I did everything but they were still angry.”</a:t>
            </a:r>
            <a:endParaRPr lang="en-US" sz="1250" dirty="0"/>
          </a:p>
        </p:txBody>
      </p:sp>
      <p:sp>
        <p:nvSpPr>
          <p:cNvPr id="10" name="Text 8"/>
          <p:cNvSpPr txBox="1"/>
          <p:nvPr/>
        </p:nvSpPr>
        <p:spPr>
          <a:xfrm>
            <a:off x="822960" y="4169664"/>
            <a:ext cx="4838548" cy="237744"/>
          </a:xfrm>
          <a:prstGeom prst="rect">
            <a:avLst/>
          </a:prstGeom>
          <a:noFill/>
          <a:ln/>
        </p:spPr>
        <p:txBody>
          <a:bodyPr wrap="square" lIns="0" tIns="0" rIns="0" bIns="0" rtlCol="0" anchor="ctr"/>
          <a:lstStyle/>
          <a:p>
            <a:pPr indent="0" marL="0">
              <a:buNone/>
            </a:pPr>
            <a:r>
              <a:rPr lang="en-US" sz="1050" b="1" spc="200" kern="0" dirty="0">
                <a:solidFill>
                  <a:srgbClr val="F26522"/>
                </a:solidFill>
              </a:rPr>
              <a:t>OBSERVED GAP, ONE FOCUS</a:t>
            </a:r>
            <a:endParaRPr lang="en-US" sz="1050" dirty="0"/>
          </a:p>
        </p:txBody>
      </p:sp>
      <p:sp>
        <p:nvSpPr>
          <p:cNvPr id="11" name="Text 9"/>
          <p:cNvSpPr txBox="1"/>
          <p:nvPr/>
        </p:nvSpPr>
        <p:spPr>
          <a:xfrm>
            <a:off x="822960" y="4425696"/>
            <a:ext cx="4838548" cy="685800"/>
          </a:xfrm>
          <a:prstGeom prst="rect">
            <a:avLst/>
          </a:prstGeom>
          <a:noFill/>
          <a:ln/>
        </p:spPr>
        <p:txBody>
          <a:bodyPr wrap="square" lIns="0" tIns="0" rIns="0" bIns="0" rtlCol="0" anchor="t"/>
          <a:lstStyle/>
          <a:p>
            <a:pPr indent="0" marL="0">
              <a:spcAft>
                <a:spcPts val="400"/>
              </a:spcAft>
              <a:buNone/>
            </a:pPr>
            <a:r>
              <a:rPr lang="en-US" sz="1250" dirty="0">
                <a:solidFill>
                  <a:srgbClr val="D9DDE6"/>
                </a:solidFill>
              </a:rPr>
              <a:t>Goes straight to troubleshooting with no acknowledgement, no restatement, no commitment. Focus: acknowledge, restate, assure before any step.</a:t>
            </a:r>
            <a:endParaRPr lang="en-US" sz="1250" dirty="0"/>
          </a:p>
        </p:txBody>
      </p:sp>
      <p:sp>
        <p:nvSpPr>
          <p:cNvPr id="12" name="Text 10"/>
          <p:cNvSpPr txBox="1"/>
          <p:nvPr/>
        </p:nvSpPr>
        <p:spPr>
          <a:xfrm>
            <a:off x="822960" y="5157216"/>
            <a:ext cx="4838548" cy="237744"/>
          </a:xfrm>
          <a:prstGeom prst="rect">
            <a:avLst/>
          </a:prstGeom>
          <a:noFill/>
          <a:ln/>
        </p:spPr>
        <p:txBody>
          <a:bodyPr wrap="square" lIns="0" tIns="0" rIns="0" bIns="0" rtlCol="0" anchor="ctr"/>
          <a:lstStyle/>
          <a:p>
            <a:pPr indent="0" marL="0">
              <a:buNone/>
            </a:pPr>
            <a:r>
              <a:rPr lang="en-US" sz="1050" b="1" spc="200" kern="0" dirty="0">
                <a:solidFill>
                  <a:srgbClr val="F26522"/>
                </a:solidFill>
              </a:rPr>
              <a:t>ROOT CAUSE, AND HOW I FOUND IT</a:t>
            </a:r>
            <a:endParaRPr lang="en-US" sz="1050" dirty="0"/>
          </a:p>
        </p:txBody>
      </p:sp>
      <p:sp>
        <p:nvSpPr>
          <p:cNvPr id="13" name="Text 11"/>
          <p:cNvSpPr txBox="1"/>
          <p:nvPr/>
        </p:nvSpPr>
        <p:spPr>
          <a:xfrm>
            <a:off x="822960" y="5413248"/>
            <a:ext cx="4838548" cy="685800"/>
          </a:xfrm>
          <a:prstGeom prst="rect">
            <a:avLst/>
          </a:prstGeom>
          <a:noFill/>
          <a:ln/>
        </p:spPr>
        <p:txBody>
          <a:bodyPr wrap="square" lIns="0" tIns="0" rIns="0" bIns="0" rtlCol="0" anchor="t"/>
          <a:lstStyle/>
          <a:p>
            <a:pPr indent="0" marL="0">
              <a:spcAft>
                <a:spcPts val="400"/>
              </a:spcAft>
              <a:buNone/>
            </a:pPr>
            <a:r>
              <a:rPr lang="en-US" sz="1250" dirty="0">
                <a:solidFill>
                  <a:srgbClr val="D9DDE6"/>
                </a:solidFill>
              </a:rPr>
              <a:t>Asked what was in his head. Still searching for the right ITG, so no attention left for the customer. Knowledge, not attitude.</a:t>
            </a:r>
            <a:endParaRPr lang="en-US" sz="1250" dirty="0"/>
          </a:p>
        </p:txBody>
      </p:sp>
      <p:sp>
        <p:nvSpPr>
          <p:cNvPr id="14" name="Text 12"/>
          <p:cNvSpPr txBox="1"/>
          <p:nvPr/>
        </p:nvSpPr>
        <p:spPr>
          <a:xfrm>
            <a:off x="6530188" y="2194560"/>
            <a:ext cx="4838548" cy="237744"/>
          </a:xfrm>
          <a:prstGeom prst="rect">
            <a:avLst/>
          </a:prstGeom>
          <a:noFill/>
          <a:ln/>
        </p:spPr>
        <p:txBody>
          <a:bodyPr wrap="square" lIns="0" tIns="0" rIns="0" bIns="0" rtlCol="0" anchor="ctr"/>
          <a:lstStyle/>
          <a:p>
            <a:pPr indent="0" marL="0">
              <a:buNone/>
            </a:pPr>
            <a:r>
              <a:rPr lang="en-US" sz="1050" b="1" spc="200" kern="0" dirty="0">
                <a:solidFill>
                  <a:srgbClr val="C94A10"/>
                </a:solidFill>
              </a:rPr>
              <a:t>AGENT COMMITS TO</a:t>
            </a:r>
            <a:endParaRPr lang="en-US" sz="1050" dirty="0"/>
          </a:p>
        </p:txBody>
      </p:sp>
      <p:sp>
        <p:nvSpPr>
          <p:cNvPr id="15" name="Text 13"/>
          <p:cNvSpPr txBox="1"/>
          <p:nvPr/>
        </p:nvSpPr>
        <p:spPr>
          <a:xfrm>
            <a:off x="6530188" y="2450592"/>
            <a:ext cx="4838548" cy="68580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The three-step opening on every call, phrase card on the desk, one-line self-check log for three days.</a:t>
            </a:r>
            <a:endParaRPr lang="en-US" sz="1250" dirty="0"/>
          </a:p>
        </p:txBody>
      </p:sp>
      <p:sp>
        <p:nvSpPr>
          <p:cNvPr id="16" name="Text 14"/>
          <p:cNvSpPr txBox="1"/>
          <p:nvPr/>
        </p:nvSpPr>
        <p:spPr>
          <a:xfrm>
            <a:off x="6530188" y="3182112"/>
            <a:ext cx="4838548" cy="237744"/>
          </a:xfrm>
          <a:prstGeom prst="rect">
            <a:avLst/>
          </a:prstGeom>
          <a:noFill/>
          <a:ln/>
        </p:spPr>
        <p:txBody>
          <a:bodyPr wrap="square" lIns="0" tIns="0" rIns="0" bIns="0" rtlCol="0" anchor="ctr"/>
          <a:lstStyle/>
          <a:p>
            <a:pPr indent="0" marL="0">
              <a:buNone/>
            </a:pPr>
            <a:r>
              <a:rPr lang="en-US" sz="1050" b="1" spc="200" kern="0" dirty="0">
                <a:solidFill>
                  <a:srgbClr val="C94A10"/>
                </a:solidFill>
              </a:rPr>
              <a:t>I COMMIT TO</a:t>
            </a:r>
            <a:endParaRPr lang="en-US" sz="1050" dirty="0"/>
          </a:p>
        </p:txBody>
      </p:sp>
      <p:sp>
        <p:nvSpPr>
          <p:cNvPr id="17" name="Text 15"/>
          <p:cNvSpPr txBox="1"/>
          <p:nvPr/>
        </p:nvSpPr>
        <p:spPr>
          <a:xfrm>
            <a:off x="6530188" y="3438144"/>
            <a:ext cx="4838548" cy="68580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15-minute ITG walkthrough on the three top call types, ten minutes side by side, two model calls from a top performer.</a:t>
            </a:r>
            <a:endParaRPr lang="en-US" sz="1250" dirty="0"/>
          </a:p>
        </p:txBody>
      </p:sp>
      <p:sp>
        <p:nvSpPr>
          <p:cNvPr id="18" name="Text 16"/>
          <p:cNvSpPr txBox="1"/>
          <p:nvPr/>
        </p:nvSpPr>
        <p:spPr>
          <a:xfrm>
            <a:off x="6530188" y="4169664"/>
            <a:ext cx="4838548" cy="237744"/>
          </a:xfrm>
          <a:prstGeom prst="rect">
            <a:avLst/>
          </a:prstGeom>
          <a:noFill/>
          <a:ln/>
        </p:spPr>
        <p:txBody>
          <a:bodyPr wrap="square" lIns="0" tIns="0" rIns="0" bIns="0" rtlCol="0" anchor="ctr"/>
          <a:lstStyle/>
          <a:p>
            <a:pPr indent="0" marL="0">
              <a:buNone/>
            </a:pPr>
            <a:r>
              <a:rPr lang="en-US" sz="1050" b="1" spc="200" kern="0" dirty="0">
                <a:solidFill>
                  <a:srgbClr val="C94A10"/>
                </a:solidFill>
              </a:rPr>
              <a:t>HOW WE MEASURE</a:t>
            </a:r>
            <a:endParaRPr lang="en-US" sz="1050" dirty="0"/>
          </a:p>
        </p:txBody>
      </p:sp>
      <p:sp>
        <p:nvSpPr>
          <p:cNvPr id="19" name="Text 17"/>
          <p:cNvSpPr txBox="1"/>
          <p:nvPr/>
        </p:nvSpPr>
        <p:spPr>
          <a:xfrm>
            <a:off x="6530188" y="4425696"/>
            <a:ext cx="4838548" cy="68580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October 17: 3 of 3 calls show it. October 22: 5 of 5, right ITG on all five, aiCR at or above 62%. tNPS: direction above 0, the 33 target set once ten new surveys are in.</a:t>
            </a:r>
            <a:endParaRPr lang="en-US" sz="1250" dirty="0"/>
          </a:p>
        </p:txBody>
      </p:sp>
      <p:sp>
        <p:nvSpPr>
          <p:cNvPr id="20" name="Text 18"/>
          <p:cNvSpPr txBox="1"/>
          <p:nvPr/>
        </p:nvSpPr>
        <p:spPr>
          <a:xfrm>
            <a:off x="6530188" y="5157216"/>
            <a:ext cx="4838548" cy="237744"/>
          </a:xfrm>
          <a:prstGeom prst="rect">
            <a:avLst/>
          </a:prstGeom>
          <a:noFill/>
          <a:ln/>
        </p:spPr>
        <p:txBody>
          <a:bodyPr wrap="square" lIns="0" tIns="0" rIns="0" bIns="0" rtlCol="0" anchor="ctr"/>
          <a:lstStyle/>
          <a:p>
            <a:pPr indent="0" marL="0">
              <a:buNone/>
            </a:pPr>
            <a:r>
              <a:rPr lang="en-US" sz="1050" b="1" spc="200" kern="0" dirty="0">
                <a:solidFill>
                  <a:srgbClr val="C94A10"/>
                </a:solidFill>
              </a:rPr>
              <a:t>FOLLOW-UP AND ESCALATION</a:t>
            </a:r>
            <a:endParaRPr lang="en-US" sz="1050" dirty="0"/>
          </a:p>
        </p:txBody>
      </p:sp>
      <p:sp>
        <p:nvSpPr>
          <p:cNvPr id="21" name="Text 19"/>
          <p:cNvSpPr txBox="1"/>
          <p:nvPr/>
        </p:nvSpPr>
        <p:spPr>
          <a:xfrm>
            <a:off x="6530188" y="5413248"/>
            <a:ext cx="4838548" cy="68580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Ten-minute check October 17, full session October 22. Fewer than 3 of 5: daily five-minute role plays for a week. Parked: rapport, opening. Sales starts once the fix holds.</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C96A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THE NEXT 30 DAYS</a:t>
            </a:r>
            <a:endParaRPr lang="en-US" sz="1200" dirty="0"/>
          </a:p>
        </p:txBody>
      </p:sp>
      <p:sp>
        <p:nvSpPr>
          <p:cNvPr id="3" name="Text 0"/>
          <p:cNvSpPr/>
          <p:nvPr>
            <p:ph idx="100" type="title" hasCustomPrompt="1"/>
          </p:nvPr>
        </p:nvSpPr>
        <p:spPr>
          <a:xfrm>
            <a:off x="548640" y="804672"/>
            <a:ext cx="11094415" cy="1097280"/>
          </a:xfrm>
          <a:prstGeom prst="rect">
            <a:avLst/>
          </a:prstGeom>
          <a:noFill/>
          <a:ln/>
        </p:spPr>
        <p:txBody>
          <a:bodyPr wrap="square" lIns="0" tIns="0" rIns="0" bIns="0" rtlCol="0" anchor="t"/>
          <a:lstStyle/>
          <a:p>
            <a:pPr algn="l" indent="0" marL="0">
              <a:buNone/>
            </a:pPr>
            <a:r>
              <a:rPr lang="en-US" sz="3200" b="1" dirty="0">
                <a:solidFill>
                  <a:schemeClr val="tx1"/>
                </a:solidFill>
              </a:rPr>
              <a:t>Six agents carry the tNPS gap. Move them to zero and the team is at 20</a:t>
            </a:r>
            <a:endParaRPr lang="en-US" sz="3200" dirty="0"/>
          </a:p>
        </p:txBody>
      </p:sp>
      <p:sp>
        <p:nvSpPr>
          <p:cNvPr id="4" name="Shape 2"/>
          <p:cNvSpPr/>
          <p:nvPr/>
        </p:nvSpPr>
        <p:spPr>
          <a:xfrm>
            <a:off x="548640" y="1965960"/>
            <a:ext cx="3246120" cy="1600200"/>
          </a:xfrm>
          <a:prstGeom prst="roundRect">
            <a:avLst>
              <a:gd name="adj" fmla="val 11429"/>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77240" y="2103120"/>
            <a:ext cx="2788920" cy="731520"/>
          </a:xfrm>
          <a:prstGeom prst="rect">
            <a:avLst/>
          </a:prstGeom>
          <a:noFill/>
          <a:ln/>
        </p:spPr>
        <p:txBody>
          <a:bodyPr wrap="square" lIns="0" tIns="0" rIns="0" bIns="0" rtlCol="0" anchor="ctr"/>
          <a:lstStyle/>
          <a:p>
            <a:pPr indent="0" marL="0">
              <a:buNone/>
            </a:pPr>
            <a:r>
              <a:rPr lang="en-US" sz="4000" b="1" dirty="0">
                <a:solidFill>
                  <a:srgbClr val="B42318"/>
                </a:solidFill>
              </a:rPr>
              <a:t>6 of 18</a:t>
            </a:r>
            <a:endParaRPr lang="en-US" sz="4000" dirty="0"/>
          </a:p>
        </p:txBody>
      </p:sp>
      <p:sp>
        <p:nvSpPr>
          <p:cNvPr id="6" name="Text 4"/>
          <p:cNvSpPr txBox="1"/>
          <p:nvPr/>
        </p:nvSpPr>
        <p:spPr>
          <a:xfrm>
            <a:off x="777240" y="2852928"/>
            <a:ext cx="2788920" cy="640080"/>
          </a:xfrm>
          <a:prstGeom prst="rect">
            <a:avLst/>
          </a:prstGeom>
          <a:noFill/>
          <a:ln/>
        </p:spPr>
        <p:txBody>
          <a:bodyPr wrap="square" lIns="0" tIns="0" rIns="0" bIns="0" rtlCol="0" anchor="t"/>
          <a:lstStyle/>
          <a:p>
            <a:pPr indent="0" marL="0">
              <a:spcAft>
                <a:spcPts val="400"/>
              </a:spcAft>
              <a:buNone/>
            </a:pPr>
            <a:r>
              <a:rPr lang="en-US" sz="1200" dirty="0">
                <a:solidFill>
                  <a:srgbClr val="3D4453"/>
                </a:solidFill>
              </a:rPr>
              <a:t>agents negative on tNPS, on 78 of the team’s 221 surveys</a:t>
            </a:r>
            <a:endParaRPr lang="en-US" sz="1200" dirty="0"/>
          </a:p>
        </p:txBody>
      </p:sp>
      <p:sp>
        <p:nvSpPr>
          <p:cNvPr id="7" name="Shape 5"/>
          <p:cNvSpPr/>
          <p:nvPr/>
        </p:nvSpPr>
        <p:spPr>
          <a:xfrm>
            <a:off x="4069080" y="1965960"/>
            <a:ext cx="3246120" cy="1600200"/>
          </a:xfrm>
          <a:prstGeom prst="roundRect">
            <a:avLst>
              <a:gd name="adj" fmla="val 11429"/>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297680" y="2103120"/>
            <a:ext cx="2788920" cy="731520"/>
          </a:xfrm>
          <a:prstGeom prst="rect">
            <a:avLst/>
          </a:prstGeom>
          <a:noFill/>
          <a:ln/>
        </p:spPr>
        <p:txBody>
          <a:bodyPr wrap="square" lIns="0" tIns="0" rIns="0" bIns="0" rtlCol="0" anchor="ctr"/>
          <a:lstStyle/>
          <a:p>
            <a:pPr indent="0" marL="0">
              <a:buNone/>
            </a:pPr>
            <a:r>
              <a:rPr lang="en-US" sz="4000" b="1" dirty="0">
                <a:solidFill>
                  <a:srgbClr val="1E7F5C"/>
                </a:solidFill>
              </a:rPr>
              <a:t>10.4 to 20</a:t>
            </a:r>
            <a:endParaRPr lang="en-US" sz="4000" dirty="0"/>
          </a:p>
        </p:txBody>
      </p:sp>
      <p:sp>
        <p:nvSpPr>
          <p:cNvPr id="9" name="Text 7"/>
          <p:cNvSpPr txBox="1"/>
          <p:nvPr/>
        </p:nvSpPr>
        <p:spPr>
          <a:xfrm>
            <a:off x="4297680" y="2852928"/>
            <a:ext cx="2788920" cy="640080"/>
          </a:xfrm>
          <a:prstGeom prst="rect">
            <a:avLst/>
          </a:prstGeom>
          <a:noFill/>
          <a:ln/>
        </p:spPr>
        <p:txBody>
          <a:bodyPr wrap="square" lIns="0" tIns="0" rIns="0" bIns="0" rtlCol="0" anchor="t"/>
          <a:lstStyle/>
          <a:p>
            <a:pPr indent="0" marL="0">
              <a:spcAft>
                <a:spcPts val="400"/>
              </a:spcAft>
              <a:buNone/>
            </a:pPr>
            <a:r>
              <a:rPr lang="en-US" sz="1200" dirty="0">
                <a:solidFill>
                  <a:srgbClr val="3D4453"/>
                </a:solidFill>
              </a:rPr>
              <a:t>team tNPS if those six reach zero, before any promoter is added</a:t>
            </a:r>
            <a:endParaRPr lang="en-US" sz="1200" dirty="0"/>
          </a:p>
        </p:txBody>
      </p:sp>
      <p:sp>
        <p:nvSpPr>
          <p:cNvPr id="10" name="Shape 8"/>
          <p:cNvSpPr/>
          <p:nvPr/>
        </p:nvSpPr>
        <p:spPr>
          <a:xfrm>
            <a:off x="548640" y="3840480"/>
            <a:ext cx="6766560" cy="2286000"/>
          </a:xfrm>
          <a:prstGeom prst="roundRect">
            <a:avLst>
              <a:gd name="adj" fmla="val 8000"/>
            </a:avLst>
          </a:prstGeom>
          <a:solidFill>
            <a:srgbClr val="121826"/>
          </a:solidFill>
          <a:ln w="12700">
            <a:solidFill>
              <a:srgbClr val="121826"/>
            </a:solidFill>
            <a:prstDash val="solid"/>
          </a:ln>
        </p:spPr>
      </p:sp>
      <p:pic>
        <p:nvPicPr>
          <p:cNvPr id="11" name="Image 0" descr="preencoded.png">    </p:cNvPr>
          <p:cNvPicPr>
            <a:picLocks noChangeAspect="1"/>
          </p:cNvPicPr>
          <p:nvPr/>
        </p:nvPicPr>
        <p:blipFill>
          <a:blip r:embed="rId1"/>
          <a:stretch>
            <a:fillRect/>
          </a:stretch>
        </p:blipFill>
        <p:spPr>
          <a:xfrm>
            <a:off x="777240" y="4041648"/>
            <a:ext cx="310896" cy="310896"/>
          </a:xfrm>
          <a:prstGeom prst="rect">
            <a:avLst/>
          </a:prstGeom>
        </p:spPr>
      </p:pic>
      <p:sp>
        <p:nvSpPr>
          <p:cNvPr id="12" name="Text 9"/>
          <p:cNvSpPr txBox="1"/>
          <p:nvPr/>
        </p:nvSpPr>
        <p:spPr>
          <a:xfrm>
            <a:off x="1188720" y="4078224"/>
            <a:ext cx="4572000" cy="237744"/>
          </a:xfrm>
          <a:prstGeom prst="rect">
            <a:avLst/>
          </a:prstGeom>
          <a:noFill/>
          <a:ln/>
        </p:spPr>
        <p:txBody>
          <a:bodyPr wrap="square" lIns="0" tIns="0" rIns="0" bIns="0" rtlCol="0" anchor="ctr"/>
          <a:lstStyle/>
          <a:p>
            <a:pPr indent="0" marL="0">
              <a:buNone/>
            </a:pPr>
            <a:r>
              <a:rPr lang="en-US" sz="1050" b="1" spc="200" kern="0" dirty="0">
                <a:solidFill>
                  <a:srgbClr val="F26522"/>
                </a:solidFill>
              </a:rPr>
              <a:t>TWO DIFFERENT CONVERSATIONS</a:t>
            </a:r>
            <a:endParaRPr lang="en-US" sz="1050" dirty="0"/>
          </a:p>
        </p:txBody>
      </p:sp>
      <p:sp>
        <p:nvSpPr>
          <p:cNvPr id="13" name="Text 10"/>
          <p:cNvSpPr txBox="1"/>
          <p:nvPr/>
        </p:nvSpPr>
        <p:spPr>
          <a:xfrm>
            <a:off x="777240" y="4434840"/>
            <a:ext cx="6309360" cy="1600200"/>
          </a:xfrm>
          <a:prstGeom prst="rect">
            <a:avLst/>
          </a:prstGeom>
          <a:noFill/>
          <a:ln/>
        </p:spPr>
        <p:txBody>
          <a:bodyPr wrap="square" lIns="0" tIns="0" rIns="0" bIns="0" rtlCol="0" anchor="t"/>
          <a:lstStyle/>
          <a:p>
            <a:pPr indent="0" marL="0">
              <a:spcAft>
                <a:spcPts val="800"/>
              </a:spcAft>
              <a:buNone/>
            </a:pPr>
            <a:r>
              <a:rPr lang="en-US" sz="1250" b="1" dirty="0">
                <a:solidFill>
                  <a:srgbClr val="D9DDE6"/>
                </a:solidFill>
              </a:rPr>
              <a:t>Agent A</a:t>
            </a:r>
            <a:pPr indent="0" marL="0">
              <a:spcAft>
                <a:spcPts val="800"/>
              </a:spcAft>
              <a:buNone/>
            </a:pPr>
            <a:r>
              <a:rPr lang="en-US" sz="1250" dirty="0">
                <a:solidFill>
                  <a:srgbClr val="D9DDE6"/>
                </a:solidFill>
              </a:rPr>
              <a:t> is below target on all four KPIs: a knowledge gap, coached with ITG walkthroughs and the three-step opening.</a:t>
            </a:r>
            <a:endParaRPr lang="en-US" sz="1250" dirty="0"/>
          </a:p>
          <a:p>
            <a:pPr indent="0" marL="0">
              <a:spcAft>
                <a:spcPts val="800"/>
              </a:spcAft>
              <a:buNone/>
            </a:pPr>
            <a:r>
              <a:rPr lang="en-US" sz="1250" b="1" dirty="0">
                <a:solidFill>
                  <a:srgbClr val="D9DDE6"/>
                </a:solidFill>
              </a:rPr>
              <a:t>Agent B</a:t>
            </a:r>
            <a:pPr indent="0" marL="0">
              <a:spcAft>
                <a:spcPts val="800"/>
              </a:spcAft>
              <a:buNone/>
            </a:pPr>
            <a:r>
              <a:rPr lang="en-US" sz="1250" dirty="0">
                <a:solidFill>
                  <a:srgbClr val="D9DDE6"/>
                </a:solidFill>
              </a:rPr>
              <a:t> resolves at 61% and sells 5 lines, yet sits at −38 on 16 surveys: a behavior gap on the call, coached on expectation setting and the close, not on knowledge.</a:t>
            </a:r>
            <a:endParaRPr lang="en-US" sz="1250" dirty="0"/>
          </a:p>
        </p:txBody>
      </p:sp>
      <p:sp>
        <p:nvSpPr>
          <p:cNvPr id="14" name="Shape 11"/>
          <p:cNvSpPr/>
          <p:nvPr/>
        </p:nvSpPr>
        <p:spPr>
          <a:xfrm>
            <a:off x="7589520" y="1965960"/>
            <a:ext cx="4053535" cy="4160520"/>
          </a:xfrm>
          <a:prstGeom prst="roundRect">
            <a:avLst>
              <a:gd name="adj" fmla="val 4512"/>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pic>
        <p:nvPicPr>
          <p:cNvPr id="15" name="Image 1" descr="preencoded.png">    </p:cNvPr>
          <p:cNvPicPr>
            <a:picLocks noChangeAspect="1"/>
          </p:cNvPicPr>
          <p:nvPr/>
        </p:nvPicPr>
        <p:blipFill>
          <a:blip r:embed="rId2"/>
          <a:stretch>
            <a:fillRect/>
          </a:stretch>
        </p:blipFill>
        <p:spPr>
          <a:xfrm>
            <a:off x="7818120" y="2148840"/>
            <a:ext cx="274320" cy="274320"/>
          </a:xfrm>
          <a:prstGeom prst="rect">
            <a:avLst/>
          </a:prstGeom>
        </p:spPr>
      </p:pic>
      <p:sp>
        <p:nvSpPr>
          <p:cNvPr id="16" name="Text 12"/>
          <p:cNvSpPr txBox="1"/>
          <p:nvPr/>
        </p:nvSpPr>
        <p:spPr>
          <a:xfrm>
            <a:off x="8183880" y="2103120"/>
            <a:ext cx="3230575" cy="365760"/>
          </a:xfrm>
          <a:prstGeom prst="rect">
            <a:avLst/>
          </a:prstGeom>
          <a:noFill/>
          <a:ln/>
        </p:spPr>
        <p:txBody>
          <a:bodyPr wrap="square" lIns="0" tIns="0" rIns="0" bIns="0" rtlCol="0" anchor="ctr"/>
          <a:lstStyle/>
          <a:p>
            <a:pPr indent="0" marL="0">
              <a:buNone/>
            </a:pPr>
            <a:r>
              <a:rPr lang="en-US" sz="1600" b="1" dirty="0">
                <a:solidFill>
                  <a:srgbClr val="121826"/>
                </a:solidFill>
              </a:rPr>
              <a:t>Cadence</a:t>
            </a:r>
            <a:endParaRPr lang="en-US" sz="1600" dirty="0"/>
          </a:p>
        </p:txBody>
      </p:sp>
      <p:sp>
        <p:nvSpPr>
          <p:cNvPr id="17" name="Text 13"/>
          <p:cNvSpPr txBox="1"/>
          <p:nvPr/>
        </p:nvSpPr>
        <p:spPr>
          <a:xfrm>
            <a:off x="7818120" y="2514600"/>
            <a:ext cx="3596335" cy="17373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3D4453"/>
                </a:solidFill>
              </a:rPr>
              <a:t>One session per agent per week, one focus behavior, two at most</a:t>
            </a:r>
            <a:endParaRPr lang="en-US" sz="1250" dirty="0"/>
          </a:p>
          <a:p>
            <a:pPr marL="342900" indent="-342900">
              <a:spcAft>
                <a:spcPts val="500"/>
              </a:spcAft>
              <a:buSzPct val="100000"/>
              <a:buChar char="•"/>
            </a:pPr>
            <a:r>
              <a:rPr lang="en-US" sz="1250" dirty="0">
                <a:solidFill>
                  <a:srgbClr val="3D4453"/>
                </a:solidFill>
              </a:rPr>
              <a:t>Bottom quartile: two to three follow-up call reviews in the same week</a:t>
            </a:r>
            <a:endParaRPr lang="en-US" sz="1250" dirty="0"/>
          </a:p>
          <a:p>
            <a:pPr marL="342900" indent="-342900">
              <a:spcAft>
                <a:spcPts val="500"/>
              </a:spcAft>
              <a:buSzPct val="100000"/>
              <a:buChar char="•"/>
            </a:pPr>
            <a:r>
              <a:rPr lang="en-US" sz="1250" dirty="0">
                <a:solidFill>
                  <a:srgbClr val="3D4453"/>
                </a:solidFill>
              </a:rPr>
              <a:t>ITG right guide picked and completed checked on every reviewed call</a:t>
            </a:r>
            <a:endParaRPr lang="en-US" sz="1250" dirty="0"/>
          </a:p>
          <a:p>
            <a:pPr marL="342900" indent="-342900">
              <a:spcAft>
                <a:spcPts val="500"/>
              </a:spcAft>
              <a:buSzPct val="100000"/>
              <a:buChar char="•"/>
            </a:pPr>
            <a:r>
              <a:rPr lang="en-US" sz="1250" dirty="0">
                <a:solidFill>
                  <a:srgbClr val="3D4453"/>
                </a:solidFill>
              </a:rPr>
              <a:t>Surveys judged by the end of the plan, behavior judged on calls first</a:t>
            </a:r>
            <a:endParaRPr lang="en-US" sz="1250" dirty="0"/>
          </a:p>
        </p:txBody>
      </p:sp>
      <p:pic>
        <p:nvPicPr>
          <p:cNvPr id="18" name="Image 2" descr="preencoded.png">    </p:cNvPr>
          <p:cNvPicPr>
            <a:picLocks noChangeAspect="1"/>
          </p:cNvPicPr>
          <p:nvPr/>
        </p:nvPicPr>
        <p:blipFill>
          <a:blip r:embed="rId3"/>
          <a:stretch>
            <a:fillRect/>
          </a:stretch>
        </p:blipFill>
        <p:spPr>
          <a:xfrm>
            <a:off x="7818120" y="4434840"/>
            <a:ext cx="274320" cy="274320"/>
          </a:xfrm>
          <a:prstGeom prst="rect">
            <a:avLst/>
          </a:prstGeom>
        </p:spPr>
      </p:pic>
      <p:sp>
        <p:nvSpPr>
          <p:cNvPr id="19" name="Text 14"/>
          <p:cNvSpPr txBox="1"/>
          <p:nvPr/>
        </p:nvSpPr>
        <p:spPr>
          <a:xfrm>
            <a:off x="8183880" y="4389120"/>
            <a:ext cx="3230575" cy="365760"/>
          </a:xfrm>
          <a:prstGeom prst="rect">
            <a:avLst/>
          </a:prstGeom>
          <a:noFill/>
          <a:ln/>
        </p:spPr>
        <p:txBody>
          <a:bodyPr wrap="square" lIns="0" tIns="0" rIns="0" bIns="0" rtlCol="0" anchor="ctr"/>
          <a:lstStyle/>
          <a:p>
            <a:pPr indent="0" marL="0">
              <a:buNone/>
            </a:pPr>
            <a:r>
              <a:rPr lang="en-US" sz="1600" b="1" dirty="0">
                <a:solidFill>
                  <a:srgbClr val="C94A10"/>
                </a:solidFill>
              </a:rPr>
              <a:t>What would help from the client</a:t>
            </a:r>
            <a:endParaRPr lang="en-US" sz="1600" dirty="0"/>
          </a:p>
        </p:txBody>
      </p:sp>
      <p:sp>
        <p:nvSpPr>
          <p:cNvPr id="20" name="Text 15"/>
          <p:cNvSpPr txBox="1"/>
          <p:nvPr/>
        </p:nvSpPr>
        <p:spPr>
          <a:xfrm>
            <a:off x="7818120" y="4800600"/>
            <a:ext cx="3596335" cy="118872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3D4453"/>
                </a:solidFill>
              </a:rPr>
              <a:t>Detractor survey comments shared weekly, to coach the exact moment</a:t>
            </a:r>
            <a:endParaRPr lang="en-US" sz="1250" dirty="0"/>
          </a:p>
          <a:p>
            <a:pPr marL="342900" indent="-342900">
              <a:spcAft>
                <a:spcPts val="500"/>
              </a:spcAft>
              <a:buSzPct val="100000"/>
              <a:buChar char="•"/>
            </a:pPr>
            <a:r>
              <a:rPr lang="en-US" sz="1250" dirty="0">
                <a:solidFill>
                  <a:srgbClr val="3D4453"/>
                </a:solidFill>
              </a:rPr>
              <a:t>One agreed definition of ITG compliance for the 100% target</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VXI Coaching">
  <a:themeElements>
    <a:clrScheme name="VXI Coaching">
      <a:dk1>
        <a:srgbClr val="121826"/>
      </a:dk1>
      <a:lt1>
        <a:srgbClr val="FFFFFF"/>
      </a:lt1>
      <a:dk2>
        <a:srgbClr val="3D4453"/>
      </a:dk2>
      <a:lt2>
        <a:srgbClr val="F6F3EE"/>
      </a:lt2>
      <a:accent1>
        <a:srgbClr val="F26522"/>
      </a:accent1>
      <a:accent2>
        <a:srgbClr val="C94A10"/>
      </a:accent2>
      <a:accent3>
        <a:srgbClr val="1E7F5C"/>
      </a:accent3>
      <a:accent4>
        <a:srgbClr val="B42318"/>
      </a:accent4>
      <a:accent5>
        <a:srgbClr val="FDE9DF"/>
      </a:accent5>
      <a:accent6>
        <a:srgbClr val="8C96AC"/>
      </a:accent6>
      <a:hlink>
        <a:srgbClr val="C94A10"/>
      </a:hlink>
      <a:folHlink>
        <a:srgbClr val="C94A10"/>
      </a:folHlink>
    </a:clrScheme>
    <a:fontScheme name="VXI Coachi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Coaching Calibration: TSX Cairo</dc:title>
  <dc:subject>PptxGenJS Presentation</dc:subject>
  <dc:creator>Omar Mansour</dc:creator>
  <cp:lastModifiedBy>Omar Mansour</cp:lastModifiedBy>
  <cp:revision>1</cp:revision>
  <dcterms:created xsi:type="dcterms:W3CDTF">2026-10-17T05:27:10Z</dcterms:created>
  <dcterms:modified xsi:type="dcterms:W3CDTF">2026-10-17T05:27:10Z</dcterms:modified>
</cp:coreProperties>
</file>