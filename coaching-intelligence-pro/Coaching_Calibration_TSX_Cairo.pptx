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charts/chart1.xml" ContentType="application/vnd.openxmlformats-officedocument.drawingml.chart+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 id="{5aa92946-83a2-67f2-b826-5565a9a2b69b}">
          <p14:sldIdLst>
            <p14:sldId id="256"/>
          </p14:sldIdLst>
        </p14:section>
        <p14:section name="Where the team stands" id="{3f0c440a-335b-65cc-8a5b-354bb6feae93}">
          <p14:sldIdLst>
            <p14:sldId id="257"/>
          </p14:sldIdLst>
        </p14:section>
        <p14:section name="How I coach" id="{3e3ba79c-7172-3587-e79a-f0c4a2439bd6}">
          <p14:sldIdLst>
            <p14:sldId id="258"/>
            <p14:sldId id="259"/>
          </p14:sldIdLst>
        </p14:section>
        <p14:section name="Next 30 days" id="{3f9ed6d5-535e-5cc5-23b9-5caf7aed50f5}">
          <p14:sldIdLst>
            <p14:sldId id="26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tNPS</c:v>
                </c:pt>
              </c:strCache>
            </c:strRef>
          </c:tx>
          <c:spPr>
            <a:solidFill>
              <a:srgbClr val="F26522"/>
            </a:solidFill>
            <a:effectLst/>
          </c:spPr>
          <c:invertIfNegative val="0"/>
          <c:dLbls>
            <c:numFmt formatCode="0.0;−0.0" sourceLinked="0"/>
            <c:txPr>
              <a:bodyPr/>
              <a:lstStyle/>
              <a:p>
                <a:pPr>
                  <a:defRPr b="1" i="0" strike="noStrike" sz="1100" u="none">
                    <a:solidFill>
                      <a:srgbClr val="121826"/>
                    </a:solidFill>
                    <a:latin typeface="+mn-lt"/>
                  </a:defRPr>
                </a:pPr>
              </a:p>
            </c:txPr>
            <c:dLblPos val="outEnd"/>
            <c:showLegendKey val="0"/>
            <c:showVal val="1"/>
            <c:showCatName val="0"/>
            <c:showSerName val="0"/>
            <c:showPercent val="0"/>
            <c:showBubbleSize val="0"/>
            <c:showLeaderLines val="0"/>
          </c:dLbls>
          <c:dPt>
            <c:idx val="0"/>
            <c:invertIfNegative val="0"/>
            <c:bubble3D val="0"/>
            <c:spPr>
              <a:solidFill>
                <a:srgbClr val="F26522"/>
              </a:solidFill>
              <a:effectLst/>
            </c:spPr>
          </c:dPt>
          <c:dPt>
            <c:idx val="1"/>
            <c:invertIfNegative val="0"/>
            <c:bubble3D val="0"/>
            <c:spPr>
              <a:solidFill>
                <a:srgbClr val="8C96AC"/>
              </a:solidFill>
              <a:effectLst/>
            </c:spPr>
          </c:dPt>
          <c:dPt>
            <c:idx val="2"/>
            <c:invertIfNegative val="0"/>
            <c:bubble3D val="0"/>
            <c:spPr>
              <a:solidFill>
                <a:srgbClr val="8C96AC"/>
              </a:solidFill>
              <a:effectLst/>
            </c:spPr>
          </c:dPt>
          <c:dPt>
            <c:idx val="3"/>
            <c:invertIfNegative val="0"/>
            <c:bubble3D val="0"/>
            <c:spPr>
              <a:solidFill>
                <a:srgbClr val="8C96AC"/>
              </a:solidFill>
              <a:effectLst/>
            </c:spPr>
          </c:dPt>
          <c:dPt>
            <c:idx val="4"/>
            <c:invertIfNegative val="0"/>
            <c:bubble3D val="0"/>
            <c:spPr>
              <a:solidFill>
                <a:srgbClr val="121826"/>
              </a:solidFill>
              <a:effectLst/>
            </c:spPr>
          </c:dPt>
          <c:cat>
            <c:multiLvlStrRef>
              <c:f>Sheet1!$A$2:$A$6</c:f>
              <c:multiLvlStrCache>
                <c:ptCount val="5"/>
                <c:lvl>
                  <c:pt idx="0">
                    <c:v>My team</c:v>
                  </c:pt>
                  <c:pt idx="1">
                    <c:v>Wave Temp 2</c:v>
                  </c:pt>
                  <c:pt idx="2">
                    <c:v>Wave Temp 3</c:v>
                  </c:pt>
                  <c:pt idx="3">
                    <c:v>Temp 2 + 33</c:v>
                  </c:pt>
                  <c:pt idx="4">
                    <c:v>Whole LOB</c:v>
                  </c:pt>
                </c:lvl>
              </c:multiLvlStrCache>
            </c:multiLvlStrRef>
          </c:cat>
          <c:val>
            <c:numRef>
              <c:f>Sheet1!$B$2:$B$6</c:f>
              <c:numCache>
                <c:formatCode>General</c:formatCode>
                <c:ptCount val="5"/>
                <c:pt idx="0">
                  <c:v>10.4</c:v>
                </c:pt>
                <c:pt idx="1">
                  <c:v>11.5</c:v>
                </c:pt>
                <c:pt idx="2">
                  <c:v>8.2</c:v>
                </c:pt>
                <c:pt idx="3">
                  <c:v>-14.6</c:v>
                </c:pt>
                <c:pt idx="4">
                  <c:v>17.6</c:v>
                </c:pt>
              </c:numCache>
            </c:numRef>
          </c:val>
        </c:ser>
        <c:dLbls>
          <c:numFmt formatCode="0.0;−0.0" sourceLinked="0"/>
          <c:txPr>
            <a:bodyPr/>
            <a:lstStyle/>
            <a:p>
              <a:pPr>
                <a:defRPr b="1" i="0" strike="noStrike" sz="1100" u="none">
                  <a:solidFill>
                    <a:srgbClr val="121826"/>
                  </a:solidFill>
                  <a:latin typeface="+mn-lt"/>
                </a:defRPr>
              </a:pPr>
            </a:p>
          </c:txPr>
          <c:dLblPos val="outEnd"/>
          <c:showLegendKey val="0"/>
          <c:showVal val="1"/>
          <c:showCatName val="0"/>
          <c:showSerName val="0"/>
          <c:showPercent val="0"/>
          <c:showBubbleSize val="0"/>
          <c:showLeaderLines val="0"/>
        </c:dLbls>
        <c:gapWidth val="55"/>
        <c:overlap val="0"/>
        <c:axId val="2094734554"/>
        <c:axId val="2094734552"/>
        <c:axId val="2094734556"/>
      </c:barChart>
      <c:lineChart>
        <c:varyColors val="0"/>
        <c:ser>
          <c:idx val="1"/>
          <c:order val="1"/>
          <c:tx>
            <c:strRef>
              <c:f>Sheet1!$C$1</c:f>
              <c:strCache>
                <c:ptCount val="1"/>
                <c:pt idx="0">
                  <c:v>Agent target 33</c:v>
                </c:pt>
              </c:strCache>
            </c:strRef>
          </c:tx>
          <c:spPr>
            <a:solidFill>
              <a:srgbClr val="1E7F5C"/>
            </a:solidFill>
            <a:ln w="25400" cap="flat">
              <a:solidFill>
                <a:srgbClr val="1E7F5C"/>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1E7F5C"/>
              </a:solidFill>
              <a:ln w="9525" cap="flat">
                <a:solidFill>
                  <a:srgbClr val="1E7F5C"/>
                </a:solidFill>
                <a:prstDash val="solid"/>
                <a:round/>
              </a:ln>
              <a:effectLst/>
            </c:spPr>
          </c:marker>
          <c:cat>
            <c:multiLvlStrRef>
              <c:f>Sheet1!$A$2:$A$6</c:f>
              <c:multiLvlStrCache>
                <c:ptCount val="5"/>
                <c:lvl>
                  <c:pt idx="0">
                    <c:v>My team</c:v>
                  </c:pt>
                  <c:pt idx="1">
                    <c:v>Wave Temp 2</c:v>
                  </c:pt>
                  <c:pt idx="2">
                    <c:v>Wave Temp 3</c:v>
                  </c:pt>
                  <c:pt idx="3">
                    <c:v>Temp 2 + 33</c:v>
                  </c:pt>
                  <c:pt idx="4">
                    <c:v>Whole LOB</c:v>
                  </c:pt>
                </c:lvl>
              </c:multiLvlStrCache>
            </c:multiLvlStrRef>
          </c:cat>
          <c:val>
            <c:numRef>
              <c:f>Sheet1!$C$2:$C$6</c:f>
              <c:numCache>
                <c:formatCode>General</c:formatCode>
                <c:ptCount val="5"/>
                <c:pt idx="0">
                  <c:v>33</c:v>
                </c:pt>
                <c:pt idx="1">
                  <c:v>33</c:v>
                </c:pt>
                <c:pt idx="2">
                  <c:v>33</c:v>
                </c:pt>
                <c:pt idx="3">
                  <c:v>33</c:v>
                </c:pt>
                <c:pt idx="4">
                  <c:v>33</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E3DED7"/>
            </a:solidFill>
            <a:prstDash val="solid"/>
            <a:round/>
          </a:ln>
        </c:spPr>
        <c:txPr>
          <a:bodyPr/>
          <a:lstStyle/>
          <a:p>
            <a:pPr>
              <a:defRPr sz="950" b="0" i="0" u="none" strike="noStrike">
                <a:solidFill>
                  <a:srgbClr val="3D4453"/>
                </a:solidFill>
                <a:latin typeface="+mn-lt"/>
              </a:defRPr>
            </a:pPr>
            <a:endParaRPr lang="en-US"/>
          </a:p>
        </c:txPr>
        <c:crossAx val="2094734552"/>
        <c:crosses val="autoZero"/>
        <c:auto val="1"/>
        <c:lblAlgn val="ctr"/>
        <c:noMultiLvlLbl val="1"/>
      </c:catAx>
      <c:valAx>
        <c:axId val="2094734552"/>
        <c:scaling>
          <c:orientation val="minMax"/>
          <c:max val="40"/>
          <c:min val="-20"/>
        </c:scaling>
        <c:delete val="0"/>
        <c:axPos val="l"/>
        <c:majorGridlines>
          <c:spPr>
            <a:ln w="6350" cap="flat">
              <a:solidFill>
                <a:srgbClr val="E3DED7"/>
              </a:solidFill>
              <a:prstDash val="solid"/>
              <a:round/>
            </a:ln>
          </c:spPr>
        </c:majorGridlines>
        <c:numFmt formatCode="0;−0" sourceLinked="0"/>
        <c:majorTickMark val="out"/>
        <c:minorTickMark val="none"/>
        <c:tickLblPos val="nextTo"/>
        <c:spPr>
          <a:ln w="12700" cap="flat">
            <a:noFill/>
            <a:prstDash val="solid"/>
            <a:round/>
          </a:ln>
        </c:spPr>
        <c:txPr>
          <a:bodyPr/>
          <a:lstStyle/>
          <a:p>
            <a:pPr>
              <a:defRPr sz="1000" b="0" i="0" u="none" strike="noStrike">
                <a:solidFill>
                  <a:srgbClr val="6B7280"/>
                </a:solidFill>
                <a:latin typeface="+mn-lt"/>
              </a:defRPr>
            </a:pPr>
            <a:endParaRPr lang="en-US"/>
          </a:p>
        </c:txPr>
        <c:crossAx val="2094734554"/>
        <c:crosses val="autoZero"/>
        <c:crossBetween val="between"/>
        <c:majorUnit val="10"/>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frame: this is a new-hire team, every agent under 30 days. The numbers are the October month to date through October 14, straight from the TSX dashboard. Three things: how I prepare, how I find the cause behind a behavior, and how I measure one focus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tNPS is rank 11 of 15 and that is the gap. aiCR and GSR are rank 4, XM 3-plus rate rank 5. The chart puts the team against the other new-hire cohorts and the whole LOB at 17.6: all three cohorts under 30 days sit between minus 15 and plus 12 on tNPS, and the agent target is 33. Context, not excuse. Surveys per agent are 7 to 18, so one survey moves an agent 6 to 14 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four steps left to right. The two stories in step four are mine: the mute case and the tentative-wording case. Both looked like attitude and both were knowledge. End with the new-hire adaptation: most blame the customer when asked to self-assess, so I let them try, then I direct, and I check the next calls fast. The cadence numbers on the band: 15 to 30 minutes per session, follow-up calls the same day or the next, two to three follow-ups for the bottom quartile.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Kareem Gharib’s real record, 25 days on the floor. Point at four things: his own words, the root cause with the question that found it, commitments on both sides, and measures that are calls first and KPI second. The tiles are his October month to date: tNPS minus 20 on 15 surveys, aiCR 53.4 against 62, XM 0 against 4, GSR 1.4 against 8, rank 205 of 220. The tNPS line is deliberate: minus 20 to 33 in a week is not a promise anyone can keep on 15 surveys, so we commit to direction and set the number once ten new surveys are in. Everything else is parked, including sales, because an offer before the fix costs a repeat.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math and the cadence. Six agents are negative on 78 surveys; if they simply reach zero, the team moves from 10.4 to about 20 without a single new promoter. Kareem Gharib and Mohammed Ammar show that the same KPI needs two different conversations: Kareem is rank 205 of 220 and below target on all four, a knowledge gap; Mohammed is rank 54 of 220, resolves at 61.3 percent and sells 5 lines, yet sits at minus 37.5 on 16 surveys, a behavior gap on the call, expectation setting and the close. Then the two asks, and stop talking after the asks.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121826"/>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804672"/>
            <a:ext cx="11094415" cy="1097280"/>
          </a:xfrm>
          <a:prstGeom prst="rect">
            <a:avLst/>
          </a:prstGeom>
          <a:noFill/>
          <a:ln/>
        </p:spPr>
        <p:txBody>
          <a:bodyPr wrap="square" rtlCol="0"/>
          <a:lstStyle>
            <a:lvl1pPr algn="l" indent="0" marL="0">
              <a:buNone/>
              <a:defRPr lang="en-US" sz="3200" b="1" dirty="0">
                <a:solidFill>
                  <a:schemeClr val="bg1"/>
                </a:solidFill>
              </a:defRPr>
            </a:lvl1pPr>
          </a:lstStyle>
          <a:p>
            <a:pPr algn="l" indent="0" marL="0">
              <a:buNone/>
            </a:pPr>
            <a:endParaRPr lang="en-US" sz="3200" dirty="0"/>
          </a:p>
        </p:txBody>
      </p:sp>
      <p:sp>
        <p:nvSpPr>
          <p:cNvPr id="3" name="Text 0"/>
          <p:cNvSpPr/>
          <p:nvPr/>
        </p:nvSpPr>
        <p:spPr>
          <a:xfrm>
            <a:off x="548640" y="6400800"/>
            <a:ext cx="5486400" cy="274320"/>
          </a:xfrm>
          <a:prstGeom prst="rect">
            <a:avLst/>
          </a:prstGeom>
          <a:noFill/>
          <a:ln/>
        </p:spPr>
        <p:txBody>
          <a:bodyPr wrap="square" lIns="0" tIns="0" rIns="0" bIns="0" rtlCol="0" anchor="ctr"/>
          <a:lstStyle/>
          <a:p>
            <a:pPr indent="0" marL="0">
              <a:buNone/>
            </a:pPr>
            <a:r>
              <a:rPr lang="en-US" sz="1100" dirty="0">
                <a:solidFill>
                  <a:srgbClr val="8C96AC"/>
                </a:solidFill>
              </a:rPr>
              <a:t>Coaching Calibration · TSX Cairo</a:t>
            </a:r>
            <a:endParaRPr lang="en-US" sz="11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C96AC"/>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804672"/>
            <a:ext cx="11094415" cy="1097280"/>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endParaRPr lang="en-US" sz="3200" dirty="0"/>
          </a:p>
        </p:txBody>
      </p:sp>
      <p:sp>
        <p:nvSpPr>
          <p:cNvPr id="3" name="Text 0"/>
          <p:cNvSpPr/>
          <p:nvPr/>
        </p:nvSpPr>
        <p:spPr>
          <a:xfrm>
            <a:off x="548640" y="6400800"/>
            <a:ext cx="5486400" cy="274320"/>
          </a:xfrm>
          <a:prstGeom prst="rect">
            <a:avLst/>
          </a:prstGeom>
          <a:noFill/>
          <a:ln/>
        </p:spPr>
        <p:txBody>
          <a:bodyPr wrap="square" lIns="0" tIns="0" rIns="0" bIns="0" rtlCol="0" anchor="ctr"/>
          <a:lstStyle/>
          <a:p>
            <a:pPr indent="0" marL="0">
              <a:buNone/>
            </a:pPr>
            <a:r>
              <a:rPr lang="en-US" sz="1100" dirty="0">
                <a:solidFill>
                  <a:srgbClr val="6B7280"/>
                </a:solidFill>
              </a:rPr>
              <a:t>Coaching Calibration · TSX Cairo</a:t>
            </a:r>
            <a:endParaRPr lang="en-US" sz="11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7280"/>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VER">
    <p:bg>
      <p:bgPr>
        <a:solidFill>
          <a:srgbClr val="121826"/>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C96AC"/>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4.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2" Type="http://schemas.openxmlformats.org/officeDocument/2006/relationships/chart" Target="/ppt/charts/chart1.xml"/><Relationship Id="rId1" Type="http://schemas.openxmlformats.org/officeDocument/2006/relationships/image" Target="../media/image-2-1.png"/><Relationship Id="rId3" Type="http://schemas.openxmlformats.org/officeDocument/2006/relationships/slideLayout" Target="../slideLayouts/slideLayout3.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3.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3.xml"/><Relationship Id="rId7"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Eyebrow"/>
          <p:cNvSpPr txBox="1"/>
          <p:nvPr/>
        </p:nvSpPr>
        <p:spPr>
          <a:xfrm>
            <a:off x="548640" y="1280160"/>
            <a:ext cx="8229600" cy="274320"/>
          </a:xfrm>
          <a:prstGeom prst="rect">
            <a:avLst/>
          </a:prstGeom>
          <a:noFill/>
          <a:ln/>
        </p:spPr>
        <p:txBody>
          <a:bodyPr wrap="square" lIns="0" tIns="0" rIns="0" bIns="0" rtlCol="0" anchor="ctr"/>
          <a:lstStyle/>
          <a:p>
            <a:pPr indent="0" marL="0">
              <a:buNone/>
            </a:pPr>
            <a:r>
              <a:rPr lang="en-US" sz="1200" b="1" spc="300" kern="0" dirty="0">
                <a:solidFill>
                  <a:srgbClr val="F26522"/>
                </a:solidFill>
              </a:rPr>
              <a:t>VXI · TSX CAIRO · COMCAST REPAIR</a:t>
            </a:r>
            <a:endParaRPr lang="en-US" sz="1200" dirty="0"/>
          </a:p>
        </p:txBody>
      </p:sp>
      <p:sp>
        <p:nvSpPr>
          <p:cNvPr id="3" name="Deck title"/>
          <p:cNvSpPr txBox="1"/>
          <p:nvPr/>
        </p:nvSpPr>
        <p:spPr>
          <a:xfrm>
            <a:off x="548640" y="1783080"/>
            <a:ext cx="6949440" cy="1371600"/>
          </a:xfrm>
          <a:prstGeom prst="rect">
            <a:avLst/>
          </a:prstGeom>
          <a:noFill/>
          <a:ln/>
        </p:spPr>
        <p:txBody>
          <a:bodyPr wrap="square" lIns="0" tIns="0" rIns="0" bIns="0" rtlCol="0" anchor="ctr"/>
          <a:lstStyle/>
          <a:p>
            <a:pPr indent="0" marL="0">
              <a:buNone/>
            </a:pPr>
            <a:r>
              <a:rPr lang="en-US" sz="6000" b="1" spc="-100" kern="0" dirty="0">
                <a:solidFill>
                  <a:srgbClr val="FFFFFF"/>
                </a:solidFill>
              </a:rPr>
              <a:t>Coaching Calibration</a:t>
            </a:r>
            <a:endParaRPr lang="en-US" sz="6000" dirty="0"/>
          </a:p>
        </p:txBody>
      </p:sp>
      <p:sp>
        <p:nvSpPr>
          <p:cNvPr id="4" name="Subtitle"/>
          <p:cNvSpPr txBox="1"/>
          <p:nvPr/>
        </p:nvSpPr>
        <p:spPr>
          <a:xfrm>
            <a:off x="548640" y="3246120"/>
            <a:ext cx="6583680" cy="914400"/>
          </a:xfrm>
          <a:prstGeom prst="rect">
            <a:avLst/>
          </a:prstGeom>
          <a:noFill/>
          <a:ln/>
        </p:spPr>
        <p:txBody>
          <a:bodyPr wrap="square" lIns="0" tIns="0" rIns="0" bIns="0" rtlCol="0" anchor="ctr"/>
          <a:lstStyle/>
          <a:p>
            <a:pPr indent="0" marL="0">
              <a:buNone/>
            </a:pPr>
            <a:r>
              <a:rPr lang="en-US" sz="2000" dirty="0">
                <a:solidFill>
                  <a:srgbClr val="D9DDE6"/>
                </a:solidFill>
              </a:rPr>
              <a:t>How I prepare, how I find the root cause, and how I coach one behavior at a time.</a:t>
            </a:r>
            <a:endParaRPr lang="en-US" sz="2000" dirty="0"/>
          </a:p>
        </p:txBody>
      </p:sp>
      <p:sp>
        <p:nvSpPr>
          <p:cNvPr id="5" name="Agenda card"/>
          <p:cNvSpPr/>
          <p:nvPr/>
        </p:nvSpPr>
        <p:spPr>
          <a:xfrm>
            <a:off x="7863840" y="1371600"/>
            <a:ext cx="3779215" cy="3154680"/>
          </a:xfrm>
          <a:prstGeom prst="roundRect">
            <a:avLst>
              <a:gd name="adj" fmla="val 5797"/>
            </a:avLst>
          </a:prstGeom>
          <a:solidFill>
            <a:srgbClr val="1C2437"/>
          </a:solidFill>
          <a:ln/>
        </p:spPr>
      </p:sp>
      <p:sp>
        <p:nvSpPr>
          <p:cNvPr id="6" name="Icon circle"/>
          <p:cNvSpPr/>
          <p:nvPr/>
        </p:nvSpPr>
        <p:spPr>
          <a:xfrm>
            <a:off x="8147304" y="1655064"/>
            <a:ext cx="566928" cy="566928"/>
          </a:xfrm>
          <a:prstGeom prst="ellipse">
            <a:avLst/>
          </a:prstGeom>
          <a:solidFill>
            <a:srgbClr val="F26522"/>
          </a:solidFill>
          <a:ln/>
        </p:spPr>
      </p:sp>
      <p:pic>
        <p:nvPicPr>
          <p:cNvPr id="7" name="Icon" descr="preencoded.png">    </p:cNvPr>
          <p:cNvPicPr>
            <a:picLocks noChangeAspect="1"/>
          </p:cNvPicPr>
          <p:nvPr/>
        </p:nvPicPr>
        <p:blipFill>
          <a:blip r:embed="rId1"/>
          <a:stretch>
            <a:fillRect/>
          </a:stretch>
        </p:blipFill>
        <p:spPr>
          <a:xfrm>
            <a:off x="8283367" y="1791127"/>
            <a:ext cx="294803" cy="294803"/>
          </a:xfrm>
          <a:prstGeom prst="rect">
            <a:avLst/>
          </a:prstGeom>
        </p:spPr>
      </p:pic>
      <p:sp>
        <p:nvSpPr>
          <p:cNvPr id="8" name="Agenda title"/>
          <p:cNvSpPr txBox="1"/>
          <p:nvPr/>
        </p:nvSpPr>
        <p:spPr>
          <a:xfrm>
            <a:off x="8869680" y="1591056"/>
            <a:ext cx="2544775" cy="329184"/>
          </a:xfrm>
          <a:prstGeom prst="rect">
            <a:avLst/>
          </a:prstGeom>
          <a:noFill/>
          <a:ln/>
        </p:spPr>
        <p:txBody>
          <a:bodyPr wrap="square" lIns="0" tIns="0" rIns="0" bIns="0" rtlCol="0" anchor="ctr"/>
          <a:lstStyle/>
          <a:p>
            <a:pPr indent="0" marL="0">
              <a:buNone/>
            </a:pPr>
            <a:r>
              <a:rPr lang="en-US" sz="1600" b="1" dirty="0">
                <a:solidFill>
                  <a:srgbClr val="FFFFFF"/>
                </a:solidFill>
              </a:rPr>
              <a:t>Prepare</a:t>
            </a:r>
            <a:endParaRPr lang="en-US" sz="1600" dirty="0"/>
          </a:p>
        </p:txBody>
      </p:sp>
      <p:sp>
        <p:nvSpPr>
          <p:cNvPr id="9" name="Paragraph"/>
          <p:cNvSpPr txBox="1"/>
          <p:nvPr/>
        </p:nvSpPr>
        <p:spPr>
          <a:xfrm>
            <a:off x="8869680" y="1938528"/>
            <a:ext cx="2544775" cy="457200"/>
          </a:xfrm>
          <a:prstGeom prst="rect">
            <a:avLst/>
          </a:prstGeom>
          <a:noFill/>
          <a:ln/>
        </p:spPr>
        <p:txBody>
          <a:bodyPr wrap="square" lIns="0" tIns="0" rIns="0" bIns="0" rtlCol="0" anchor="t"/>
          <a:lstStyle/>
          <a:p>
            <a:pPr indent="0" marL="0">
              <a:spcAft>
                <a:spcPts val="400"/>
              </a:spcAft>
              <a:buNone/>
            </a:pPr>
            <a:r>
              <a:rPr lang="en-US" sz="1200" dirty="0">
                <a:solidFill>
                  <a:srgbClr val="D9DDE6"/>
                </a:solidFill>
              </a:rPr>
              <a:t>Data and calls before every session</a:t>
            </a:r>
            <a:endParaRPr lang="en-US" sz="1200" dirty="0"/>
          </a:p>
        </p:txBody>
      </p:sp>
      <p:sp>
        <p:nvSpPr>
          <p:cNvPr id="10" name="Icon circle"/>
          <p:cNvSpPr/>
          <p:nvPr/>
        </p:nvSpPr>
        <p:spPr>
          <a:xfrm>
            <a:off x="8147304" y="2642616"/>
            <a:ext cx="566928" cy="566928"/>
          </a:xfrm>
          <a:prstGeom prst="ellipse">
            <a:avLst/>
          </a:prstGeom>
          <a:solidFill>
            <a:srgbClr val="F26522"/>
          </a:solidFill>
          <a:ln/>
        </p:spPr>
      </p:sp>
      <p:pic>
        <p:nvPicPr>
          <p:cNvPr id="11" name="Icon" descr="preencoded.png">    </p:cNvPr>
          <p:cNvPicPr>
            <a:picLocks noChangeAspect="1"/>
          </p:cNvPicPr>
          <p:nvPr/>
        </p:nvPicPr>
        <p:blipFill>
          <a:blip r:embed="rId2"/>
          <a:stretch>
            <a:fillRect/>
          </a:stretch>
        </p:blipFill>
        <p:spPr>
          <a:xfrm>
            <a:off x="8283367" y="2778679"/>
            <a:ext cx="294803" cy="294803"/>
          </a:xfrm>
          <a:prstGeom prst="rect">
            <a:avLst/>
          </a:prstGeom>
        </p:spPr>
      </p:pic>
      <p:sp>
        <p:nvSpPr>
          <p:cNvPr id="12" name="Agenda title"/>
          <p:cNvSpPr txBox="1"/>
          <p:nvPr/>
        </p:nvSpPr>
        <p:spPr>
          <a:xfrm>
            <a:off x="8869680" y="2578608"/>
            <a:ext cx="2544775" cy="329184"/>
          </a:xfrm>
          <a:prstGeom prst="rect">
            <a:avLst/>
          </a:prstGeom>
          <a:noFill/>
          <a:ln/>
        </p:spPr>
        <p:txBody>
          <a:bodyPr wrap="square" lIns="0" tIns="0" rIns="0" bIns="0" rtlCol="0" anchor="ctr"/>
          <a:lstStyle/>
          <a:p>
            <a:pPr indent="0" marL="0">
              <a:buNone/>
            </a:pPr>
            <a:r>
              <a:rPr lang="en-US" sz="1600" b="1" dirty="0">
                <a:solidFill>
                  <a:srgbClr val="FFFFFF"/>
                </a:solidFill>
              </a:rPr>
              <a:t>Find the cause</a:t>
            </a:r>
            <a:endParaRPr lang="en-US" sz="1600" dirty="0"/>
          </a:p>
        </p:txBody>
      </p:sp>
      <p:sp>
        <p:nvSpPr>
          <p:cNvPr id="13" name="Paragraph"/>
          <p:cNvSpPr txBox="1"/>
          <p:nvPr/>
        </p:nvSpPr>
        <p:spPr>
          <a:xfrm>
            <a:off x="8869680" y="2926080"/>
            <a:ext cx="2544775" cy="457200"/>
          </a:xfrm>
          <a:prstGeom prst="rect">
            <a:avLst/>
          </a:prstGeom>
          <a:noFill/>
          <a:ln/>
        </p:spPr>
        <p:txBody>
          <a:bodyPr wrap="square" lIns="0" tIns="0" rIns="0" bIns="0" rtlCol="0" anchor="t"/>
          <a:lstStyle/>
          <a:p>
            <a:pPr indent="0" marL="0">
              <a:spcAft>
                <a:spcPts val="400"/>
              </a:spcAft>
              <a:buNone/>
            </a:pPr>
            <a:r>
              <a:rPr lang="en-US" sz="1200" dirty="0">
                <a:solidFill>
                  <a:srgbClr val="D9DDE6"/>
                </a:solidFill>
              </a:rPr>
              <a:t>Ask before I tell, and fix the cause, not the symptom</a:t>
            </a:r>
            <a:endParaRPr lang="en-US" sz="1200" dirty="0"/>
          </a:p>
        </p:txBody>
      </p:sp>
      <p:sp>
        <p:nvSpPr>
          <p:cNvPr id="14" name="Icon circle"/>
          <p:cNvSpPr/>
          <p:nvPr/>
        </p:nvSpPr>
        <p:spPr>
          <a:xfrm>
            <a:off x="8147304" y="3630168"/>
            <a:ext cx="566928" cy="566928"/>
          </a:xfrm>
          <a:prstGeom prst="ellipse">
            <a:avLst/>
          </a:prstGeom>
          <a:solidFill>
            <a:srgbClr val="F26522"/>
          </a:solidFill>
          <a:ln/>
        </p:spPr>
      </p:sp>
      <p:pic>
        <p:nvPicPr>
          <p:cNvPr id="15" name="Icon" descr="preencoded.png">    </p:cNvPr>
          <p:cNvPicPr>
            <a:picLocks noChangeAspect="1"/>
          </p:cNvPicPr>
          <p:nvPr/>
        </p:nvPicPr>
        <p:blipFill>
          <a:blip r:embed="rId3"/>
          <a:stretch>
            <a:fillRect/>
          </a:stretch>
        </p:blipFill>
        <p:spPr>
          <a:xfrm>
            <a:off x="8283367" y="3766231"/>
            <a:ext cx="294803" cy="294803"/>
          </a:xfrm>
          <a:prstGeom prst="rect">
            <a:avLst/>
          </a:prstGeom>
        </p:spPr>
      </p:pic>
      <p:sp>
        <p:nvSpPr>
          <p:cNvPr id="16" name="Agenda title"/>
          <p:cNvSpPr txBox="1"/>
          <p:nvPr/>
        </p:nvSpPr>
        <p:spPr>
          <a:xfrm>
            <a:off x="8869680" y="3566160"/>
            <a:ext cx="2544775" cy="329184"/>
          </a:xfrm>
          <a:prstGeom prst="rect">
            <a:avLst/>
          </a:prstGeom>
          <a:noFill/>
          <a:ln/>
        </p:spPr>
        <p:txBody>
          <a:bodyPr wrap="square" lIns="0" tIns="0" rIns="0" bIns="0" rtlCol="0" anchor="ctr"/>
          <a:lstStyle/>
          <a:p>
            <a:pPr indent="0" marL="0">
              <a:buNone/>
            </a:pPr>
            <a:r>
              <a:rPr lang="en-US" sz="1600" b="1" dirty="0">
                <a:solidFill>
                  <a:srgbClr val="FFFFFF"/>
                </a:solidFill>
              </a:rPr>
              <a:t>Coach one behavior</a:t>
            </a:r>
            <a:endParaRPr lang="en-US" sz="1600" dirty="0"/>
          </a:p>
        </p:txBody>
      </p:sp>
      <p:sp>
        <p:nvSpPr>
          <p:cNvPr id="17" name="Paragraph"/>
          <p:cNvSpPr txBox="1"/>
          <p:nvPr/>
        </p:nvSpPr>
        <p:spPr>
          <a:xfrm>
            <a:off x="8869680" y="3913632"/>
            <a:ext cx="2544775" cy="457200"/>
          </a:xfrm>
          <a:prstGeom prst="rect">
            <a:avLst/>
          </a:prstGeom>
          <a:noFill/>
          <a:ln/>
        </p:spPr>
        <p:txBody>
          <a:bodyPr wrap="square" lIns="0" tIns="0" rIns="0" bIns="0" rtlCol="0" anchor="t"/>
          <a:lstStyle/>
          <a:p>
            <a:pPr indent="0" marL="0">
              <a:spcAft>
                <a:spcPts val="400"/>
              </a:spcAft>
              <a:buNone/>
            </a:pPr>
            <a:r>
              <a:rPr lang="en-US" sz="1200" dirty="0">
                <a:solidFill>
                  <a:srgbClr val="D9DDE6"/>
                </a:solidFill>
              </a:rPr>
              <a:t>One focus per session, dated, measured on calls first</a:t>
            </a:r>
            <a:endParaRPr lang="en-US" sz="1200" dirty="0"/>
          </a:p>
        </p:txBody>
      </p:sp>
      <p:sp>
        <p:nvSpPr>
          <p:cNvPr id="18" name="Label"/>
          <p:cNvSpPr txBox="1"/>
          <p:nvPr/>
        </p:nvSpPr>
        <p:spPr>
          <a:xfrm>
            <a:off x="548640" y="5212080"/>
            <a:ext cx="3291840" cy="237744"/>
          </a:xfrm>
          <a:prstGeom prst="rect">
            <a:avLst/>
          </a:prstGeom>
          <a:noFill/>
          <a:ln/>
        </p:spPr>
        <p:txBody>
          <a:bodyPr wrap="square" lIns="0" tIns="0" rIns="0" bIns="0" rtlCol="0" anchor="ctr"/>
          <a:lstStyle/>
          <a:p>
            <a:pPr indent="0" marL="0">
              <a:buNone/>
            </a:pPr>
            <a:r>
              <a:rPr lang="en-US" sz="1050" b="1" spc="200" kern="0" dirty="0">
                <a:solidFill>
                  <a:srgbClr val="8C96AC"/>
                </a:solidFill>
              </a:rPr>
              <a:t>PRESENTED BY</a:t>
            </a:r>
            <a:endParaRPr lang="en-US" sz="1050" dirty="0"/>
          </a:p>
        </p:txBody>
      </p:sp>
      <p:sp>
        <p:nvSpPr>
          <p:cNvPr id="19" name="Cover detail"/>
          <p:cNvSpPr txBox="1"/>
          <p:nvPr/>
        </p:nvSpPr>
        <p:spPr>
          <a:xfrm>
            <a:off x="548640" y="5486400"/>
            <a:ext cx="3383280" cy="365760"/>
          </a:xfrm>
          <a:prstGeom prst="rect">
            <a:avLst/>
          </a:prstGeom>
          <a:noFill/>
          <a:ln/>
        </p:spPr>
        <p:txBody>
          <a:bodyPr wrap="square" lIns="0" tIns="0" rIns="0" bIns="0" rtlCol="0" anchor="ctr"/>
          <a:lstStyle/>
          <a:p>
            <a:pPr indent="0" marL="0">
              <a:buNone/>
            </a:pPr>
            <a:r>
              <a:rPr lang="en-US" sz="1700" b="1" dirty="0">
                <a:solidFill>
                  <a:srgbClr val="FFFFFF"/>
                </a:solidFill>
              </a:rPr>
              <a:t>Omar Mansour, Supervisor</a:t>
            </a:r>
            <a:endParaRPr lang="en-US" sz="1700" dirty="0"/>
          </a:p>
        </p:txBody>
      </p:sp>
      <p:sp>
        <p:nvSpPr>
          <p:cNvPr id="20" name="Label"/>
          <p:cNvSpPr txBox="1"/>
          <p:nvPr/>
        </p:nvSpPr>
        <p:spPr>
          <a:xfrm>
            <a:off x="4114800" y="5212080"/>
            <a:ext cx="3291840" cy="237744"/>
          </a:xfrm>
          <a:prstGeom prst="rect">
            <a:avLst/>
          </a:prstGeom>
          <a:noFill/>
          <a:ln/>
        </p:spPr>
        <p:txBody>
          <a:bodyPr wrap="square" lIns="0" tIns="0" rIns="0" bIns="0" rtlCol="0" anchor="ctr"/>
          <a:lstStyle/>
          <a:p>
            <a:pPr indent="0" marL="0">
              <a:buNone/>
            </a:pPr>
            <a:r>
              <a:rPr lang="en-US" sz="1050" b="1" spc="200" kern="0" dirty="0">
                <a:solidFill>
                  <a:srgbClr val="8C96AC"/>
                </a:solidFill>
              </a:rPr>
              <a:t>TEAM</a:t>
            </a:r>
            <a:endParaRPr lang="en-US" sz="1050" dirty="0"/>
          </a:p>
        </p:txBody>
      </p:sp>
      <p:sp>
        <p:nvSpPr>
          <p:cNvPr id="21" name="Cover detail"/>
          <p:cNvSpPr txBox="1"/>
          <p:nvPr/>
        </p:nvSpPr>
        <p:spPr>
          <a:xfrm>
            <a:off x="4114800" y="5486400"/>
            <a:ext cx="3383280" cy="365760"/>
          </a:xfrm>
          <a:prstGeom prst="rect">
            <a:avLst/>
          </a:prstGeom>
          <a:noFill/>
          <a:ln/>
        </p:spPr>
        <p:txBody>
          <a:bodyPr wrap="square" lIns="0" tIns="0" rIns="0" bIns="0" rtlCol="0" anchor="ctr"/>
          <a:lstStyle/>
          <a:p>
            <a:pPr indent="0" marL="0">
              <a:buNone/>
            </a:pPr>
            <a:r>
              <a:rPr lang="en-US" sz="1700" b="1" dirty="0">
                <a:solidFill>
                  <a:srgbClr val="FFFFFF"/>
                </a:solidFill>
              </a:rPr>
              <a:t>18 agents, 0 to 30 days tenure</a:t>
            </a:r>
            <a:endParaRPr lang="en-US" sz="1700" dirty="0"/>
          </a:p>
        </p:txBody>
      </p:sp>
      <p:sp>
        <p:nvSpPr>
          <p:cNvPr id="22" name="Label"/>
          <p:cNvSpPr txBox="1"/>
          <p:nvPr/>
        </p:nvSpPr>
        <p:spPr>
          <a:xfrm>
            <a:off x="7680960" y="5212080"/>
            <a:ext cx="3291840" cy="237744"/>
          </a:xfrm>
          <a:prstGeom prst="rect">
            <a:avLst/>
          </a:prstGeom>
          <a:noFill/>
          <a:ln/>
        </p:spPr>
        <p:txBody>
          <a:bodyPr wrap="square" lIns="0" tIns="0" rIns="0" bIns="0" rtlCol="0" anchor="ctr"/>
          <a:lstStyle/>
          <a:p>
            <a:pPr indent="0" marL="0">
              <a:buNone/>
            </a:pPr>
            <a:r>
              <a:rPr lang="en-US" sz="1050" b="1" spc="200" kern="0" dirty="0">
                <a:solidFill>
                  <a:srgbClr val="8C96AC"/>
                </a:solidFill>
              </a:rPr>
              <a:t>SESSION</a:t>
            </a:r>
            <a:endParaRPr lang="en-US" sz="1050" dirty="0"/>
          </a:p>
        </p:txBody>
      </p:sp>
      <p:sp>
        <p:nvSpPr>
          <p:cNvPr id="23" name="Cover detail"/>
          <p:cNvSpPr txBox="1"/>
          <p:nvPr/>
        </p:nvSpPr>
        <p:spPr>
          <a:xfrm>
            <a:off x="7680960" y="5486400"/>
            <a:ext cx="3383280" cy="365760"/>
          </a:xfrm>
          <a:prstGeom prst="rect">
            <a:avLst/>
          </a:prstGeom>
          <a:noFill/>
          <a:ln/>
        </p:spPr>
        <p:txBody>
          <a:bodyPr wrap="square" lIns="0" tIns="0" rIns="0" bIns="0" rtlCol="0" anchor="ctr"/>
          <a:lstStyle/>
          <a:p>
            <a:pPr indent="0" marL="0">
              <a:buNone/>
            </a:pPr>
            <a:r>
              <a:rPr lang="en-US" sz="1700" b="1" dirty="0">
                <a:solidFill>
                  <a:srgbClr val="FFFFFF"/>
                </a:solidFill>
              </a:rPr>
              <a:t>October 2026</a:t>
            </a:r>
            <a:endParaRPr lang="en-US" sz="1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Eyebrow"/>
          <p:cNvSpPr txBox="1"/>
          <p:nvPr/>
        </p:nvSpPr>
        <p:spPr>
          <a:xfrm>
            <a:off x="548640" y="457200"/>
            <a:ext cx="8229600" cy="274320"/>
          </a:xfrm>
          <a:prstGeom prst="rect">
            <a:avLst/>
          </a:prstGeom>
          <a:noFill/>
          <a:ln/>
        </p:spPr>
        <p:txBody>
          <a:bodyPr wrap="square" lIns="0" tIns="0" rIns="0" bIns="0" rtlCol="0" anchor="ctr"/>
          <a:lstStyle/>
          <a:p>
            <a:pPr indent="0" marL="0">
              <a:buNone/>
            </a:pPr>
            <a:r>
              <a:rPr lang="en-US" sz="1200" b="1" spc="300" kern="0" dirty="0">
                <a:solidFill>
                  <a:srgbClr val="C94A10"/>
                </a:solidFill>
              </a:rPr>
              <a:t>WHERE THE TEAM STANDS</a:t>
            </a:r>
            <a:endParaRPr lang="en-US" sz="1200" dirty="0"/>
          </a:p>
        </p:txBody>
      </p:sp>
      <p:sp>
        <p:nvSpPr>
          <p:cNvPr id="3" name="Text 0"/>
          <p:cNvSpPr/>
          <p:nvPr>
            <p:ph idx="100" type="title" hasCustomPrompt="1"/>
          </p:nvPr>
        </p:nvSpPr>
        <p:spPr>
          <a:xfrm>
            <a:off x="548640" y="804672"/>
            <a:ext cx="11094415" cy="1097280"/>
          </a:xfrm>
          <a:prstGeom prst="rect">
            <a:avLst/>
          </a:prstGeom>
          <a:noFill/>
          <a:ln/>
        </p:spPr>
        <p:txBody>
          <a:bodyPr wrap="square" lIns="0" tIns="0" rIns="0" bIns="0" rtlCol="0" anchor="t"/>
          <a:lstStyle/>
          <a:p>
            <a:pPr algn="l" indent="0" marL="0">
              <a:buNone/>
            </a:pPr>
            <a:r>
              <a:rPr lang="en-US" sz="3200" b="1" dirty="0">
                <a:solidFill>
                  <a:schemeClr val="tx1"/>
                </a:solidFill>
              </a:rPr>
              <a:t>tNPS is the one real gap.</a:t>
            </a:r>
            <a:endParaRPr lang="en-US" sz="3200" dirty="0"/>
          </a:p>
          <a:p>
            <a:pPr algn="l" indent="0" marL="0">
              <a:buNone/>
            </a:pPr>
            <a:r>
              <a:rPr lang="en-US" sz="3200" b="1" dirty="0">
                <a:solidFill>
                  <a:schemeClr val="tx1"/>
                </a:solidFill>
              </a:rPr>
              <a:t>Resolution and GSR are top four on the floor</a:t>
            </a:r>
            <a:endParaRPr lang="en-US" sz="3200" dirty="0"/>
          </a:p>
        </p:txBody>
      </p:sp>
      <p:graphicFrame>
        <p:nvGraphicFramePr>
          <p:cNvPr id="3" name="KPI table"/>
          <p:cNvGraphicFramePr>
            <a:graphicFrameLocks noGrp="1"/>
          </p:cNvGraphicFramePr>
          <p:nvPr>
            <p:extLst>
              <p:ext uri="{D42A27DB-BD31-4B8C-83A1-F6EECF244321}">
                <p14:modId xmlns:p14="http://schemas.microsoft.com/office/powerpoint/2010/main" val="1579011935"/>
              </p:ext>
            </p:extLst>
          </p:nvPr>
        </p:nvGraphicFramePr>
        <p:xfrm>
          <a:off x="548640" y="2011680"/>
          <a:ext cx="6400800" cy="914400"/>
        </p:xfrm>
        <a:graphic>
          <a:graphicData uri="http://schemas.openxmlformats.org/drawingml/2006/table">
            <a:tbl>
              <a:tblPr/>
              <a:tblGrid>
                <a:gridCol w="1554480"/>
                <a:gridCol w="960120"/>
                <a:gridCol w="1508760"/>
                <a:gridCol w="1188720"/>
                <a:gridCol w="1188720"/>
              </a:tblGrid>
              <a:tr h="438912">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KPI</a:t>
                      </a:r>
                      <a:endParaRPr lang="en-US" sz="1250" dirty="0">
                        <a:latin typeface="Calibri" charset="0"/>
                        <a:ea typeface="Calibri" charset="0"/>
                        <a:cs typeface="Calibri" charset="0"/>
                      </a:endParaRPr>
                    </a:p>
                  </a:txBody>
                  <a:tcPr marL="109728" marR="109728" marT="54864" marB="54864">
                    <a:lnL w="9525" cap="flat" cmpd="sng" algn="ctr">
                      <a:solidFill>
                        <a:srgbClr val="E3DED7"/>
                      </a:solidFill>
                      <a:prstDash val="solid"/>
                      <a:round/>
                      <a:headEnd type="none" w="med" len="med"/>
                      <a:tailEnd type="none" w="med" len="med"/>
                    </a:lnL>
                    <a:lnR w="9525" cap="flat" cmpd="sng" algn="ctr">
                      <a:solidFill>
                        <a:srgbClr val="E3DED7"/>
                      </a:solidFill>
                      <a:prstDash val="solid"/>
                      <a:round/>
                      <a:headEnd type="none" w="med" len="med"/>
                      <a:tailEnd type="none" w="med" len="med"/>
                    </a:lnR>
                    <a:lnT w="9525" cap="flat" cmpd="sng" algn="ctr">
                      <a:solidFill>
                        <a:srgbClr val="E3DED7"/>
                      </a:solidFill>
                      <a:prstDash val="solid"/>
                      <a:round/>
                      <a:headEnd type="none" w="med" len="med"/>
                      <a:tailEnd type="none" w="med" len="med"/>
                    </a:lnT>
                    <a:lnB w="9525" cap="flat" cmpd="sng" algn="ctr">
                      <a:solidFill>
                        <a:srgbClr val="E3DED7"/>
                      </a:solidFill>
                      <a:prstDash val="solid"/>
                      <a:round/>
                      <a:headEnd type="none" w="med" len="med"/>
                      <a:tailEnd type="none" w="med" len="med"/>
                    </a:lnB>
                    <a:solidFill>
                      <a:srgbClr val="121826"/>
                    </a:solidFill>
                  </a:tcPr>
                </a:tc>
                <a:tc>
                  <a:txBody>
                    <a:bodyPr/>
                    <a:lstStyle/>
                    <a:p>
                      <a:pPr algn="r" indent="0" marL="0">
                        <a:buNone/>
                      </a:pPr>
                      <a:r>
                        <a:rPr lang="en-US" sz="1250" b="1" dirty="0">
                          <a:solidFill>
                            <a:srgbClr val="FFFFFF"/>
                          </a:solidFill>
                          <a:latin typeface="Calibri" pitchFamily="34" charset="0"/>
                          <a:ea typeface="Calibri" pitchFamily="34" charset="-122"/>
                          <a:cs typeface="Calibri" pitchFamily="34" charset="-120"/>
                        </a:rPr>
                        <a:t>Team</a:t>
                      </a:r>
                      <a:endParaRPr lang="en-US" sz="1250" dirty="0">
                        <a:latin typeface="Calibri" charset="0"/>
                        <a:ea typeface="Calibri" charset="0"/>
                        <a:cs typeface="Calibri" charset="0"/>
                      </a:endParaRPr>
                    </a:p>
                  </a:txBody>
                  <a:tcPr marL="109728" marR="109728" marT="54864" marB="54864">
                    <a:lnL w="9525" cap="flat" cmpd="sng" algn="ctr">
                      <a:solidFill>
                        <a:srgbClr val="E3DED7"/>
                      </a:solidFill>
                      <a:prstDash val="solid"/>
                      <a:round/>
                      <a:headEnd type="none" w="med" len="med"/>
                      <a:tailEnd type="none" w="med" len="med"/>
                    </a:lnL>
                    <a:lnR w="9525" cap="flat" cmpd="sng" algn="ctr">
                      <a:solidFill>
                        <a:srgbClr val="E3DED7"/>
                      </a:solidFill>
                      <a:prstDash val="solid"/>
                      <a:round/>
                      <a:headEnd type="none" w="med" len="med"/>
                      <a:tailEnd type="none" w="med" len="med"/>
                    </a:lnR>
                    <a:lnT w="9525" cap="flat" cmpd="sng" algn="ctr">
                      <a:solidFill>
                        <a:srgbClr val="E3DED7"/>
                      </a:solidFill>
                      <a:prstDash val="solid"/>
                      <a:round/>
                      <a:headEnd type="none" w="med" len="med"/>
                      <a:tailEnd type="none" w="med" len="med"/>
                    </a:lnT>
                    <a:lnB w="9525" cap="flat" cmpd="sng" algn="ctr">
                      <a:solidFill>
                        <a:srgbClr val="E3DED7"/>
                      </a:solidFill>
                      <a:prstDash val="solid"/>
                      <a:round/>
                      <a:headEnd type="none" w="med" len="med"/>
                      <a:tailEnd type="none" w="med" len="med"/>
                    </a:lnB>
                    <a:solidFill>
                      <a:srgbClr val="121826"/>
                    </a:solidFill>
                  </a:tcPr>
                </a:tc>
                <a:tc>
                  <a:txBody>
                    <a:bodyPr/>
                    <a:lstStyle/>
                    <a:p>
                      <a:pPr algn="r" indent="0" marL="0">
                        <a:buNone/>
                      </a:pPr>
                      <a:r>
                        <a:rPr lang="en-US" sz="1250" b="1" dirty="0">
                          <a:solidFill>
                            <a:srgbClr val="FFFFFF"/>
                          </a:solidFill>
                          <a:latin typeface="Calibri" pitchFamily="34" charset="0"/>
                          <a:ea typeface="Calibri" pitchFamily="34" charset="-122"/>
                          <a:cs typeface="Calibri" pitchFamily="34" charset="-120"/>
                        </a:rPr>
                        <a:t>Target</a:t>
                      </a:r>
                      <a:endParaRPr lang="en-US" sz="1250" dirty="0">
                        <a:latin typeface="Calibri" charset="0"/>
                        <a:ea typeface="Calibri" charset="0"/>
                        <a:cs typeface="Calibri" charset="0"/>
                      </a:endParaRPr>
                    </a:p>
                  </a:txBody>
                  <a:tcPr marL="109728" marR="109728" marT="54864" marB="54864">
                    <a:lnL w="9525" cap="flat" cmpd="sng" algn="ctr">
                      <a:solidFill>
                        <a:srgbClr val="E3DED7"/>
                      </a:solidFill>
                      <a:prstDash val="solid"/>
                      <a:round/>
                      <a:headEnd type="none" w="med" len="med"/>
                      <a:tailEnd type="none" w="med" len="med"/>
                    </a:lnL>
                    <a:lnR w="9525" cap="flat" cmpd="sng" algn="ctr">
                      <a:solidFill>
                        <a:srgbClr val="E3DED7"/>
                      </a:solidFill>
                      <a:prstDash val="solid"/>
                      <a:round/>
                      <a:headEnd type="none" w="med" len="med"/>
                      <a:tailEnd type="none" w="med" len="med"/>
                    </a:lnR>
                    <a:lnT w="9525" cap="flat" cmpd="sng" algn="ctr">
                      <a:solidFill>
                        <a:srgbClr val="E3DED7"/>
                      </a:solidFill>
                      <a:prstDash val="solid"/>
                      <a:round/>
                      <a:headEnd type="none" w="med" len="med"/>
                      <a:tailEnd type="none" w="med" len="med"/>
                    </a:lnT>
                    <a:lnB w="9525" cap="flat" cmpd="sng" algn="ctr">
                      <a:solidFill>
                        <a:srgbClr val="E3DED7"/>
                      </a:solidFill>
                      <a:prstDash val="solid"/>
                      <a:round/>
                      <a:headEnd type="none" w="med" len="med"/>
                      <a:tailEnd type="none" w="med" len="med"/>
                    </a:lnB>
                    <a:solidFill>
                      <a:srgbClr val="121826"/>
                    </a:solidFill>
                  </a:tcPr>
                </a:tc>
                <a:tc>
                  <a:txBody>
                    <a:bodyPr/>
                    <a:lstStyle/>
                    <a:p>
                      <a:pPr algn="r" indent="0" marL="0">
                        <a:buNone/>
                      </a:pPr>
                      <a:r>
                        <a:rPr lang="en-US" sz="1250" b="1" dirty="0">
                          <a:solidFill>
                            <a:srgbClr val="FFFFFF"/>
                          </a:solidFill>
                          <a:latin typeface="Calibri" pitchFamily="34" charset="0"/>
                          <a:ea typeface="Calibri" pitchFamily="34" charset="-122"/>
                          <a:cs typeface="Calibri" pitchFamily="34" charset="-120"/>
                        </a:rPr>
                        <a:t>Rank of 15</a:t>
                      </a:r>
                      <a:endParaRPr lang="en-US" sz="1250" dirty="0">
                        <a:latin typeface="Calibri" charset="0"/>
                        <a:ea typeface="Calibri" charset="0"/>
                        <a:cs typeface="Calibri" charset="0"/>
                      </a:endParaRPr>
                    </a:p>
                  </a:txBody>
                  <a:tcPr marL="109728" marR="109728" marT="54864" marB="54864">
                    <a:lnL w="9525" cap="flat" cmpd="sng" algn="ctr">
                      <a:solidFill>
                        <a:srgbClr val="E3DED7"/>
                      </a:solidFill>
                      <a:prstDash val="solid"/>
                      <a:round/>
                      <a:headEnd type="none" w="med" len="med"/>
                      <a:tailEnd type="none" w="med" len="med"/>
                    </a:lnL>
                    <a:lnR w="9525" cap="flat" cmpd="sng" algn="ctr">
                      <a:solidFill>
                        <a:srgbClr val="E3DED7"/>
                      </a:solidFill>
                      <a:prstDash val="solid"/>
                      <a:round/>
                      <a:headEnd type="none" w="med" len="med"/>
                      <a:tailEnd type="none" w="med" len="med"/>
                    </a:lnR>
                    <a:lnT w="9525" cap="flat" cmpd="sng" algn="ctr">
                      <a:solidFill>
                        <a:srgbClr val="E3DED7"/>
                      </a:solidFill>
                      <a:prstDash val="solid"/>
                      <a:round/>
                      <a:headEnd type="none" w="med" len="med"/>
                      <a:tailEnd type="none" w="med" len="med"/>
                    </a:lnT>
                    <a:lnB w="9525" cap="flat" cmpd="sng" algn="ctr">
                      <a:solidFill>
                        <a:srgbClr val="E3DED7"/>
                      </a:solidFill>
                      <a:prstDash val="solid"/>
                      <a:round/>
                      <a:headEnd type="none" w="med" len="med"/>
                      <a:tailEnd type="none" w="med" len="med"/>
                    </a:lnB>
                    <a:solidFill>
                      <a:srgbClr val="121826"/>
                    </a:solidFill>
                  </a:tcPr>
                </a:tc>
                <a:tc>
                  <a:txBody>
                    <a:bodyPr/>
                    <a:lstStyle/>
                    <a:p>
                      <a:pPr algn="r" indent="0" marL="0">
                        <a:buNone/>
                      </a:pPr>
                      <a:r>
                        <a:rPr lang="en-US" sz="1250" b="1" dirty="0">
                          <a:solidFill>
                            <a:srgbClr val="FFFFFF"/>
                          </a:solidFill>
                          <a:latin typeface="Calibri" pitchFamily="34" charset="0"/>
                          <a:ea typeface="Calibri" pitchFamily="34" charset="-122"/>
                          <a:cs typeface="Calibri" pitchFamily="34" charset="-120"/>
                        </a:rPr>
                        <a:t>On target</a:t>
                      </a:r>
                      <a:endParaRPr lang="en-US" sz="1250" dirty="0">
                        <a:latin typeface="Calibri" charset="0"/>
                        <a:ea typeface="Calibri" charset="0"/>
                        <a:cs typeface="Calibri" charset="0"/>
                      </a:endParaRPr>
                    </a:p>
                  </a:txBody>
                  <a:tcPr marL="109728" marR="109728" marT="54864" marB="54864">
                    <a:lnL w="9525" cap="flat" cmpd="sng" algn="ctr">
                      <a:solidFill>
                        <a:srgbClr val="E3DED7"/>
                      </a:solidFill>
                      <a:prstDash val="solid"/>
                      <a:round/>
                      <a:headEnd type="none" w="med" len="med"/>
                      <a:tailEnd type="none" w="med" len="med"/>
                    </a:lnL>
                    <a:lnR w="9525" cap="flat" cmpd="sng" algn="ctr">
                      <a:solidFill>
                        <a:srgbClr val="E3DED7"/>
                      </a:solidFill>
                      <a:prstDash val="solid"/>
                      <a:round/>
                      <a:headEnd type="none" w="med" len="med"/>
                      <a:tailEnd type="none" w="med" len="med"/>
                    </a:lnR>
                    <a:lnT w="9525" cap="flat" cmpd="sng" algn="ctr">
                      <a:solidFill>
                        <a:srgbClr val="E3DED7"/>
                      </a:solidFill>
                      <a:prstDash val="solid"/>
                      <a:round/>
                      <a:headEnd type="none" w="med" len="med"/>
                      <a:tailEnd type="none" w="med" len="med"/>
                    </a:lnT>
                    <a:lnB w="9525" cap="flat" cmpd="sng" algn="ctr">
                      <a:solidFill>
                        <a:srgbClr val="E3DED7"/>
                      </a:solidFill>
                      <a:prstDash val="solid"/>
                      <a:round/>
                      <a:headEnd type="none" w="med" len="med"/>
                      <a:tailEnd type="none" w="med" len="med"/>
                    </a:lnB>
                    <a:solidFill>
                      <a:srgbClr val="121826"/>
                    </a:solidFill>
                  </a:tcPr>
                </a:tc>
              </a:tr>
              <a:tr h="438912">
                <a:tc>
                  <a:txBody>
                    <a:bodyPr/>
                    <a:lstStyle/>
                    <a:p>
                      <a:pPr algn="l" indent="0" marL="0">
                        <a:buNone/>
                      </a:pPr>
                      <a:r>
                        <a:rPr lang="en-US" sz="1250" b="1" dirty="0">
                          <a:solidFill>
                            <a:srgbClr val="121826"/>
                          </a:solidFill>
                          <a:latin typeface="Calibri" pitchFamily="34" charset="0"/>
                          <a:ea typeface="Calibri" pitchFamily="34" charset="-122"/>
                          <a:cs typeface="Calibri" pitchFamily="34" charset="-120"/>
                        </a:rPr>
                        <a:t>tNPS</a:t>
                      </a:r>
                      <a:endParaRPr lang="en-US" sz="1250" dirty="0">
                        <a:latin typeface="Calibri" charset="0"/>
                        <a:ea typeface="Calibri" charset="0"/>
                        <a:cs typeface="Calibri" charset="0"/>
                      </a:endParaRPr>
                    </a:p>
                  </a:txBody>
                  <a:tcPr marL="109728" marR="109728" marT="54864" marB="54864">
                    <a:lnL w="9525" cap="flat" cmpd="sng" algn="ctr">
                      <a:solidFill>
                        <a:srgbClr val="E3DED7"/>
                      </a:solidFill>
                      <a:prstDash val="solid"/>
                      <a:round/>
                      <a:headEnd type="none" w="med" len="med"/>
                      <a:tailEnd type="none" w="med" len="med"/>
                    </a:lnL>
                    <a:lnR w="9525" cap="flat" cmpd="sng" algn="ctr">
                      <a:solidFill>
                        <a:srgbClr val="E3DED7"/>
                      </a:solidFill>
                      <a:prstDash val="solid"/>
                      <a:round/>
                      <a:headEnd type="none" w="med" len="med"/>
                      <a:tailEnd type="none" w="med" len="med"/>
                    </a:lnR>
                    <a:lnT w="9525" cap="flat" cmpd="sng" algn="ctr">
                      <a:solidFill>
                        <a:srgbClr val="E3DED7"/>
                      </a:solidFill>
                      <a:prstDash val="solid"/>
                      <a:round/>
                      <a:headEnd type="none" w="med" len="med"/>
                      <a:tailEnd type="none" w="med" len="med"/>
                    </a:lnT>
                    <a:lnB w="9525" cap="flat" cmpd="sng" algn="ctr">
                      <a:solidFill>
                        <a:srgbClr val="E3DED7"/>
                      </a:solidFill>
                      <a:prstDash val="solid"/>
                      <a:round/>
                      <a:headEnd type="none" w="med" len="med"/>
                      <a:tailEnd type="none" w="med" len="med"/>
                    </a:lnB>
                    <a:solidFill>
                      <a:srgbClr val="FDE9DF"/>
                    </a:solidFill>
                  </a:tcPr>
                </a:tc>
                <a:tc>
                  <a:txBody>
                    <a:bodyPr/>
                    <a:lstStyle/>
                    <a:p>
                      <a:pPr algn="r" indent="0" marL="0">
                        <a:buNone/>
                      </a:pPr>
                      <a:r>
                        <a:rPr lang="en-US" sz="1250" b="1" dirty="0">
                          <a:solidFill>
                            <a:srgbClr val="B42318"/>
                          </a:solidFill>
                          <a:latin typeface="Calibri" pitchFamily="34" charset="0"/>
                          <a:ea typeface="Calibri" pitchFamily="34" charset="-122"/>
                          <a:cs typeface="Calibri" pitchFamily="34" charset="-120"/>
                        </a:rPr>
                        <a:t>10.4</a:t>
                      </a:r>
                      <a:endParaRPr lang="en-US" sz="1250" dirty="0">
                        <a:latin typeface="Calibri" charset="0"/>
                        <a:ea typeface="Calibri" charset="0"/>
                        <a:cs typeface="Calibri" charset="0"/>
                      </a:endParaRPr>
                    </a:p>
                  </a:txBody>
                  <a:tcPr marL="109728" marR="109728" marT="54864" marB="54864">
                    <a:lnL w="9525" cap="flat" cmpd="sng" algn="ctr">
                      <a:solidFill>
                        <a:srgbClr val="E3DED7"/>
                      </a:solidFill>
                      <a:prstDash val="solid"/>
                      <a:round/>
                      <a:headEnd type="none" w="med" len="med"/>
                      <a:tailEnd type="none" w="med" len="med"/>
                    </a:lnL>
                    <a:lnR w="9525" cap="flat" cmpd="sng" algn="ctr">
                      <a:solidFill>
                        <a:srgbClr val="E3DED7"/>
                      </a:solidFill>
                      <a:prstDash val="solid"/>
                      <a:round/>
                      <a:headEnd type="none" w="med" len="med"/>
                      <a:tailEnd type="none" w="med" len="med"/>
                    </a:lnR>
                    <a:lnT w="9525" cap="flat" cmpd="sng" algn="ctr">
                      <a:solidFill>
                        <a:srgbClr val="E3DED7"/>
                      </a:solidFill>
                      <a:prstDash val="solid"/>
                      <a:round/>
                      <a:headEnd type="none" w="med" len="med"/>
                      <a:tailEnd type="none" w="med" len="med"/>
                    </a:lnT>
                    <a:lnB w="9525" cap="flat" cmpd="sng" algn="ctr">
                      <a:solidFill>
                        <a:srgbClr val="E3DED7"/>
                      </a:solidFill>
                      <a:prstDash val="solid"/>
                      <a:round/>
                      <a:headEnd type="none" w="med" len="med"/>
                      <a:tailEnd type="none" w="med" len="med"/>
                    </a:lnB>
                    <a:solidFill>
                      <a:srgbClr val="FDE9DF"/>
                    </a:solidFill>
                  </a:tcPr>
                </a:tc>
                <a:tc>
                  <a:txBody>
                    <a:bodyPr/>
                    <a:lstStyle/>
                    <a:p>
                      <a:pPr algn="r" indent="0" marL="0">
                        <a:buNone/>
                      </a:pPr>
                      <a:r>
                        <a:rPr lang="en-US" sz="1250" dirty="0">
                          <a:solidFill>
                            <a:srgbClr val="121826"/>
                          </a:solidFill>
                          <a:latin typeface="Calibri" pitchFamily="34" charset="0"/>
                          <a:ea typeface="Calibri" pitchFamily="34" charset="-122"/>
                          <a:cs typeface="Calibri" pitchFamily="34" charset="-120"/>
                        </a:rPr>
                        <a:t>33 · leader 35</a:t>
                      </a:r>
                      <a:endParaRPr lang="en-US" sz="1250" dirty="0">
                        <a:latin typeface="Calibri" charset="0"/>
                        <a:ea typeface="Calibri" charset="0"/>
                        <a:cs typeface="Calibri" charset="0"/>
                      </a:endParaRPr>
                    </a:p>
                  </a:txBody>
                  <a:tcPr marL="109728" marR="109728" marT="54864" marB="54864">
                    <a:lnL w="9525" cap="flat" cmpd="sng" algn="ctr">
                      <a:solidFill>
                        <a:srgbClr val="E3DED7"/>
                      </a:solidFill>
                      <a:prstDash val="solid"/>
                      <a:round/>
                      <a:headEnd type="none" w="med" len="med"/>
                      <a:tailEnd type="none" w="med" len="med"/>
                    </a:lnL>
                    <a:lnR w="9525" cap="flat" cmpd="sng" algn="ctr">
                      <a:solidFill>
                        <a:srgbClr val="E3DED7"/>
                      </a:solidFill>
                      <a:prstDash val="solid"/>
                      <a:round/>
                      <a:headEnd type="none" w="med" len="med"/>
                      <a:tailEnd type="none" w="med" len="med"/>
                    </a:lnR>
                    <a:lnT w="9525" cap="flat" cmpd="sng" algn="ctr">
                      <a:solidFill>
                        <a:srgbClr val="E3DED7"/>
                      </a:solidFill>
                      <a:prstDash val="solid"/>
                      <a:round/>
                      <a:headEnd type="none" w="med" len="med"/>
                      <a:tailEnd type="none" w="med" len="med"/>
                    </a:lnT>
                    <a:lnB w="9525" cap="flat" cmpd="sng" algn="ctr">
                      <a:solidFill>
                        <a:srgbClr val="E3DED7"/>
                      </a:solidFill>
                      <a:prstDash val="solid"/>
                      <a:round/>
                      <a:headEnd type="none" w="med" len="med"/>
                      <a:tailEnd type="none" w="med" len="med"/>
                    </a:lnB>
                    <a:solidFill>
                      <a:srgbClr val="FDE9DF"/>
                    </a:solidFill>
                  </a:tcPr>
                </a:tc>
                <a:tc>
                  <a:txBody>
                    <a:bodyPr/>
                    <a:lstStyle/>
                    <a:p>
                      <a:pPr algn="r" indent="0" marL="0">
                        <a:buNone/>
                      </a:pPr>
                      <a:r>
                        <a:rPr lang="en-US" sz="1250" b="1" dirty="0">
                          <a:solidFill>
                            <a:srgbClr val="B42318"/>
                          </a:solidFill>
                          <a:latin typeface="Calibri" pitchFamily="34" charset="0"/>
                          <a:ea typeface="Calibri" pitchFamily="34" charset="-122"/>
                          <a:cs typeface="Calibri" pitchFamily="34" charset="-120"/>
                        </a:rPr>
                        <a:t>#11, low</a:t>
                      </a:r>
                      <a:endParaRPr lang="en-US" sz="1250" dirty="0">
                        <a:latin typeface="Calibri" charset="0"/>
                        <a:ea typeface="Calibri" charset="0"/>
                        <a:cs typeface="Calibri" charset="0"/>
                      </a:endParaRPr>
                    </a:p>
                  </a:txBody>
                  <a:tcPr marL="109728" marR="109728" marT="54864" marB="54864">
                    <a:lnL w="9525" cap="flat" cmpd="sng" algn="ctr">
                      <a:solidFill>
                        <a:srgbClr val="E3DED7"/>
                      </a:solidFill>
                      <a:prstDash val="solid"/>
                      <a:round/>
                      <a:headEnd type="none" w="med" len="med"/>
                      <a:tailEnd type="none" w="med" len="med"/>
                    </a:lnL>
                    <a:lnR w="9525" cap="flat" cmpd="sng" algn="ctr">
                      <a:solidFill>
                        <a:srgbClr val="E3DED7"/>
                      </a:solidFill>
                      <a:prstDash val="solid"/>
                      <a:round/>
                      <a:headEnd type="none" w="med" len="med"/>
                      <a:tailEnd type="none" w="med" len="med"/>
                    </a:lnR>
                    <a:lnT w="9525" cap="flat" cmpd="sng" algn="ctr">
                      <a:solidFill>
                        <a:srgbClr val="E3DED7"/>
                      </a:solidFill>
                      <a:prstDash val="solid"/>
                      <a:round/>
                      <a:headEnd type="none" w="med" len="med"/>
                      <a:tailEnd type="none" w="med" len="med"/>
                    </a:lnT>
                    <a:lnB w="9525" cap="flat" cmpd="sng" algn="ctr">
                      <a:solidFill>
                        <a:srgbClr val="E3DED7"/>
                      </a:solidFill>
                      <a:prstDash val="solid"/>
                      <a:round/>
                      <a:headEnd type="none" w="med" len="med"/>
                      <a:tailEnd type="none" w="med" len="med"/>
                    </a:lnB>
                    <a:solidFill>
                      <a:srgbClr val="FDE9DF"/>
                    </a:solidFill>
                  </a:tcPr>
                </a:tc>
                <a:tc>
                  <a:txBody>
                    <a:bodyPr/>
                    <a:lstStyle/>
                    <a:p>
                      <a:pPr algn="r" indent="0" marL="0">
                        <a:buNone/>
                      </a:pPr>
                      <a:r>
                        <a:rPr lang="en-US" sz="1250" dirty="0">
                          <a:solidFill>
                            <a:srgbClr val="121826"/>
                          </a:solidFill>
                          <a:latin typeface="Calibri" pitchFamily="34" charset="0"/>
                          <a:ea typeface="Calibri" pitchFamily="34" charset="-122"/>
                          <a:cs typeface="Calibri" pitchFamily="34" charset="-120"/>
                        </a:rPr>
                        <a:t>5 of 18</a:t>
                      </a:r>
                      <a:endParaRPr lang="en-US" sz="1250" dirty="0">
                        <a:latin typeface="Calibri" charset="0"/>
                        <a:ea typeface="Calibri" charset="0"/>
                        <a:cs typeface="Calibri" charset="0"/>
                      </a:endParaRPr>
                    </a:p>
                  </a:txBody>
                  <a:tcPr marL="109728" marR="109728" marT="54864" marB="54864">
                    <a:lnL w="9525" cap="flat" cmpd="sng" algn="ctr">
                      <a:solidFill>
                        <a:srgbClr val="E3DED7"/>
                      </a:solidFill>
                      <a:prstDash val="solid"/>
                      <a:round/>
                      <a:headEnd type="none" w="med" len="med"/>
                      <a:tailEnd type="none" w="med" len="med"/>
                    </a:lnL>
                    <a:lnR w="9525" cap="flat" cmpd="sng" algn="ctr">
                      <a:solidFill>
                        <a:srgbClr val="E3DED7"/>
                      </a:solidFill>
                      <a:prstDash val="solid"/>
                      <a:round/>
                      <a:headEnd type="none" w="med" len="med"/>
                      <a:tailEnd type="none" w="med" len="med"/>
                    </a:lnR>
                    <a:lnT w="9525" cap="flat" cmpd="sng" algn="ctr">
                      <a:solidFill>
                        <a:srgbClr val="E3DED7"/>
                      </a:solidFill>
                      <a:prstDash val="solid"/>
                      <a:round/>
                      <a:headEnd type="none" w="med" len="med"/>
                      <a:tailEnd type="none" w="med" len="med"/>
                    </a:lnT>
                    <a:lnB w="9525" cap="flat" cmpd="sng" algn="ctr">
                      <a:solidFill>
                        <a:srgbClr val="E3DED7"/>
                      </a:solidFill>
                      <a:prstDash val="solid"/>
                      <a:round/>
                      <a:headEnd type="none" w="med" len="med"/>
                      <a:tailEnd type="none" w="med" len="med"/>
                    </a:lnB>
                    <a:solidFill>
                      <a:srgbClr val="FDE9DF"/>
                    </a:solidFill>
                  </a:tcPr>
                </a:tc>
              </a:tr>
              <a:tr h="438912">
                <a:tc>
                  <a:txBody>
                    <a:bodyPr/>
                    <a:lstStyle/>
                    <a:p>
                      <a:pPr algn="l" indent="0" marL="0">
                        <a:buNone/>
                      </a:pPr>
                      <a:r>
                        <a:rPr lang="en-US" sz="1250" b="1" dirty="0">
                          <a:solidFill>
                            <a:srgbClr val="121826"/>
                          </a:solidFill>
                          <a:latin typeface="Calibri" pitchFamily="34" charset="0"/>
                          <a:ea typeface="Calibri" pitchFamily="34" charset="-122"/>
                          <a:cs typeface="Calibri" pitchFamily="34" charset="-120"/>
                        </a:rPr>
                        <a:t>aiCR</a:t>
                      </a:r>
                      <a:endParaRPr lang="en-US" sz="1250" dirty="0">
                        <a:latin typeface="Calibri" charset="0"/>
                        <a:ea typeface="Calibri" charset="0"/>
                        <a:cs typeface="Calibri" charset="0"/>
                      </a:endParaRPr>
                    </a:p>
                  </a:txBody>
                  <a:tcPr marL="109728" marR="109728" marT="54864" marB="54864">
                    <a:lnL w="9525" cap="flat" cmpd="sng" algn="ctr">
                      <a:solidFill>
                        <a:srgbClr val="E3DED7"/>
                      </a:solidFill>
                      <a:prstDash val="solid"/>
                      <a:round/>
                      <a:headEnd type="none" w="med" len="med"/>
                      <a:tailEnd type="none" w="med" len="med"/>
                    </a:lnL>
                    <a:lnR w="9525" cap="flat" cmpd="sng" algn="ctr">
                      <a:solidFill>
                        <a:srgbClr val="E3DED7"/>
                      </a:solidFill>
                      <a:prstDash val="solid"/>
                      <a:round/>
                      <a:headEnd type="none" w="med" len="med"/>
                      <a:tailEnd type="none" w="med" len="med"/>
                    </a:lnR>
                    <a:lnT w="9525" cap="flat" cmpd="sng" algn="ctr">
                      <a:solidFill>
                        <a:srgbClr val="E3DED7"/>
                      </a:solidFill>
                      <a:prstDash val="solid"/>
                      <a:round/>
                      <a:headEnd type="none" w="med" len="med"/>
                      <a:tailEnd type="none" w="med" len="med"/>
                    </a:lnT>
                    <a:lnB w="9525" cap="flat" cmpd="sng" algn="ctr">
                      <a:solidFill>
                        <a:srgbClr val="E3DED7"/>
                      </a:solidFill>
                      <a:prstDash val="solid"/>
                      <a:round/>
                      <a:headEnd type="none" w="med" len="med"/>
                      <a:tailEnd type="none" w="med" len="med"/>
                    </a:lnB>
                  </a:tcPr>
                </a:tc>
                <a:tc>
                  <a:txBody>
                    <a:bodyPr/>
                    <a:lstStyle/>
                    <a:p>
                      <a:pPr algn="r" indent="0" marL="0">
                        <a:buNone/>
                      </a:pPr>
                      <a:r>
                        <a:rPr lang="en-US" sz="1250" dirty="0">
                          <a:solidFill>
                            <a:srgbClr val="121826"/>
                          </a:solidFill>
                          <a:latin typeface="Calibri" pitchFamily="34" charset="0"/>
                          <a:ea typeface="Calibri" pitchFamily="34" charset="-122"/>
                          <a:cs typeface="Calibri" pitchFamily="34" charset="-120"/>
                        </a:rPr>
                        <a:t>61.2%</a:t>
                      </a:r>
                      <a:endParaRPr lang="en-US" sz="1250" dirty="0">
                        <a:latin typeface="Calibri" charset="0"/>
                        <a:ea typeface="Calibri" charset="0"/>
                        <a:cs typeface="Calibri" charset="0"/>
                      </a:endParaRPr>
                    </a:p>
                  </a:txBody>
                  <a:tcPr marL="109728" marR="109728" marT="54864" marB="54864">
                    <a:lnL w="9525" cap="flat" cmpd="sng" algn="ctr">
                      <a:solidFill>
                        <a:srgbClr val="E3DED7"/>
                      </a:solidFill>
                      <a:prstDash val="solid"/>
                      <a:round/>
                      <a:headEnd type="none" w="med" len="med"/>
                      <a:tailEnd type="none" w="med" len="med"/>
                    </a:lnL>
                    <a:lnR w="9525" cap="flat" cmpd="sng" algn="ctr">
                      <a:solidFill>
                        <a:srgbClr val="E3DED7"/>
                      </a:solidFill>
                      <a:prstDash val="solid"/>
                      <a:round/>
                      <a:headEnd type="none" w="med" len="med"/>
                      <a:tailEnd type="none" w="med" len="med"/>
                    </a:lnR>
                    <a:lnT w="9525" cap="flat" cmpd="sng" algn="ctr">
                      <a:solidFill>
                        <a:srgbClr val="E3DED7"/>
                      </a:solidFill>
                      <a:prstDash val="solid"/>
                      <a:round/>
                      <a:headEnd type="none" w="med" len="med"/>
                      <a:tailEnd type="none" w="med" len="med"/>
                    </a:lnT>
                    <a:lnB w="9525" cap="flat" cmpd="sng" algn="ctr">
                      <a:solidFill>
                        <a:srgbClr val="E3DED7"/>
                      </a:solidFill>
                      <a:prstDash val="solid"/>
                      <a:round/>
                      <a:headEnd type="none" w="med" len="med"/>
                      <a:tailEnd type="none" w="med" len="med"/>
                    </a:lnB>
                  </a:tcPr>
                </a:tc>
                <a:tc>
                  <a:txBody>
                    <a:bodyPr/>
                    <a:lstStyle/>
                    <a:p>
                      <a:pPr algn="r" indent="0" marL="0">
                        <a:buNone/>
                      </a:pPr>
                      <a:r>
                        <a:rPr lang="en-US" sz="1250" dirty="0">
                          <a:solidFill>
                            <a:srgbClr val="121826"/>
                          </a:solidFill>
                          <a:latin typeface="Calibri" pitchFamily="34" charset="0"/>
                          <a:ea typeface="Calibri" pitchFamily="34" charset="-122"/>
                          <a:cs typeface="Calibri" pitchFamily="34" charset="-120"/>
                        </a:rPr>
                        <a:t>62%</a:t>
                      </a:r>
                      <a:endParaRPr lang="en-US" sz="1250" dirty="0">
                        <a:latin typeface="Calibri" charset="0"/>
                        <a:ea typeface="Calibri" charset="0"/>
                        <a:cs typeface="Calibri" charset="0"/>
                      </a:endParaRPr>
                    </a:p>
                  </a:txBody>
                  <a:tcPr marL="109728" marR="109728" marT="54864" marB="54864">
                    <a:lnL w="9525" cap="flat" cmpd="sng" algn="ctr">
                      <a:solidFill>
                        <a:srgbClr val="E3DED7"/>
                      </a:solidFill>
                      <a:prstDash val="solid"/>
                      <a:round/>
                      <a:headEnd type="none" w="med" len="med"/>
                      <a:tailEnd type="none" w="med" len="med"/>
                    </a:lnL>
                    <a:lnR w="9525" cap="flat" cmpd="sng" algn="ctr">
                      <a:solidFill>
                        <a:srgbClr val="E3DED7"/>
                      </a:solidFill>
                      <a:prstDash val="solid"/>
                      <a:round/>
                      <a:headEnd type="none" w="med" len="med"/>
                      <a:tailEnd type="none" w="med" len="med"/>
                    </a:lnR>
                    <a:lnT w="9525" cap="flat" cmpd="sng" algn="ctr">
                      <a:solidFill>
                        <a:srgbClr val="E3DED7"/>
                      </a:solidFill>
                      <a:prstDash val="solid"/>
                      <a:round/>
                      <a:headEnd type="none" w="med" len="med"/>
                      <a:tailEnd type="none" w="med" len="med"/>
                    </a:lnT>
                    <a:lnB w="9525" cap="flat" cmpd="sng" algn="ctr">
                      <a:solidFill>
                        <a:srgbClr val="E3DED7"/>
                      </a:solidFill>
                      <a:prstDash val="solid"/>
                      <a:round/>
                      <a:headEnd type="none" w="med" len="med"/>
                      <a:tailEnd type="none" w="med" len="med"/>
                    </a:lnB>
                  </a:tcPr>
                </a:tc>
                <a:tc>
                  <a:txBody>
                    <a:bodyPr/>
                    <a:lstStyle/>
                    <a:p>
                      <a:pPr algn="r" indent="0" marL="0">
                        <a:buNone/>
                      </a:pPr>
                      <a:r>
                        <a:rPr lang="en-US" sz="1250" b="1" dirty="0">
                          <a:solidFill>
                            <a:srgbClr val="1E7F5C"/>
                          </a:solidFill>
                          <a:latin typeface="Calibri" pitchFamily="34" charset="0"/>
                          <a:ea typeface="Calibri" pitchFamily="34" charset="-122"/>
                          <a:cs typeface="Calibri" pitchFamily="34" charset="-120"/>
                        </a:rPr>
                        <a:t>#4, high</a:t>
                      </a:r>
                      <a:endParaRPr lang="en-US" sz="1250" dirty="0">
                        <a:latin typeface="Calibri" charset="0"/>
                        <a:ea typeface="Calibri" charset="0"/>
                        <a:cs typeface="Calibri" charset="0"/>
                      </a:endParaRPr>
                    </a:p>
                  </a:txBody>
                  <a:tcPr marL="109728" marR="109728" marT="54864" marB="54864">
                    <a:lnL w="9525" cap="flat" cmpd="sng" algn="ctr">
                      <a:solidFill>
                        <a:srgbClr val="E3DED7"/>
                      </a:solidFill>
                      <a:prstDash val="solid"/>
                      <a:round/>
                      <a:headEnd type="none" w="med" len="med"/>
                      <a:tailEnd type="none" w="med" len="med"/>
                    </a:lnL>
                    <a:lnR w="9525" cap="flat" cmpd="sng" algn="ctr">
                      <a:solidFill>
                        <a:srgbClr val="E3DED7"/>
                      </a:solidFill>
                      <a:prstDash val="solid"/>
                      <a:round/>
                      <a:headEnd type="none" w="med" len="med"/>
                      <a:tailEnd type="none" w="med" len="med"/>
                    </a:lnR>
                    <a:lnT w="9525" cap="flat" cmpd="sng" algn="ctr">
                      <a:solidFill>
                        <a:srgbClr val="E3DED7"/>
                      </a:solidFill>
                      <a:prstDash val="solid"/>
                      <a:round/>
                      <a:headEnd type="none" w="med" len="med"/>
                      <a:tailEnd type="none" w="med" len="med"/>
                    </a:lnT>
                    <a:lnB w="9525" cap="flat" cmpd="sng" algn="ctr">
                      <a:solidFill>
                        <a:srgbClr val="E3DED7"/>
                      </a:solidFill>
                      <a:prstDash val="solid"/>
                      <a:round/>
                      <a:headEnd type="none" w="med" len="med"/>
                      <a:tailEnd type="none" w="med" len="med"/>
                    </a:lnB>
                  </a:tcPr>
                </a:tc>
                <a:tc>
                  <a:txBody>
                    <a:bodyPr/>
                    <a:lstStyle/>
                    <a:p>
                      <a:pPr algn="r" indent="0" marL="0">
                        <a:buNone/>
                      </a:pPr>
                      <a:r>
                        <a:rPr lang="en-US" sz="1250" dirty="0">
                          <a:solidFill>
                            <a:srgbClr val="121826"/>
                          </a:solidFill>
                          <a:latin typeface="Calibri" pitchFamily="34" charset="0"/>
                          <a:ea typeface="Calibri" pitchFamily="34" charset="-122"/>
                          <a:cs typeface="Calibri" pitchFamily="34" charset="-120"/>
                        </a:rPr>
                        <a:t>6 of 18</a:t>
                      </a:r>
                      <a:endParaRPr lang="en-US" sz="1250" dirty="0">
                        <a:latin typeface="Calibri" charset="0"/>
                        <a:ea typeface="Calibri" charset="0"/>
                        <a:cs typeface="Calibri" charset="0"/>
                      </a:endParaRPr>
                    </a:p>
                  </a:txBody>
                  <a:tcPr marL="109728" marR="109728" marT="54864" marB="54864">
                    <a:lnL w="9525" cap="flat" cmpd="sng" algn="ctr">
                      <a:solidFill>
                        <a:srgbClr val="E3DED7"/>
                      </a:solidFill>
                      <a:prstDash val="solid"/>
                      <a:round/>
                      <a:headEnd type="none" w="med" len="med"/>
                      <a:tailEnd type="none" w="med" len="med"/>
                    </a:lnL>
                    <a:lnR w="9525" cap="flat" cmpd="sng" algn="ctr">
                      <a:solidFill>
                        <a:srgbClr val="E3DED7"/>
                      </a:solidFill>
                      <a:prstDash val="solid"/>
                      <a:round/>
                      <a:headEnd type="none" w="med" len="med"/>
                      <a:tailEnd type="none" w="med" len="med"/>
                    </a:lnR>
                    <a:lnT w="9525" cap="flat" cmpd="sng" algn="ctr">
                      <a:solidFill>
                        <a:srgbClr val="E3DED7"/>
                      </a:solidFill>
                      <a:prstDash val="solid"/>
                      <a:round/>
                      <a:headEnd type="none" w="med" len="med"/>
                      <a:tailEnd type="none" w="med" len="med"/>
                    </a:lnT>
                    <a:lnB w="9525" cap="flat" cmpd="sng" algn="ctr">
                      <a:solidFill>
                        <a:srgbClr val="E3DED7"/>
                      </a:solidFill>
                      <a:prstDash val="solid"/>
                      <a:round/>
                      <a:headEnd type="none" w="med" len="med"/>
                      <a:tailEnd type="none" w="med" len="med"/>
                    </a:lnB>
                  </a:tcPr>
                </a:tc>
              </a:tr>
              <a:tr h="438912">
                <a:tc>
                  <a:txBody>
                    <a:bodyPr/>
                    <a:lstStyle/>
                    <a:p>
                      <a:pPr algn="l" indent="0" marL="0">
                        <a:buNone/>
                      </a:pPr>
                      <a:r>
                        <a:rPr lang="en-US" sz="1250" b="1" dirty="0">
                          <a:solidFill>
                            <a:srgbClr val="121826"/>
                          </a:solidFill>
                          <a:latin typeface="Calibri" pitchFamily="34" charset="0"/>
                          <a:ea typeface="Calibri" pitchFamily="34" charset="-122"/>
                          <a:cs typeface="Calibri" pitchFamily="34" charset="-120"/>
                        </a:rPr>
                        <a:t>GSR 2026</a:t>
                      </a:r>
                      <a:endParaRPr lang="en-US" sz="1250" dirty="0">
                        <a:latin typeface="Calibri" charset="0"/>
                        <a:ea typeface="Calibri" charset="0"/>
                        <a:cs typeface="Calibri" charset="0"/>
                      </a:endParaRPr>
                    </a:p>
                  </a:txBody>
                  <a:tcPr marL="109728" marR="109728" marT="54864" marB="54864">
                    <a:lnL w="9525" cap="flat" cmpd="sng" algn="ctr">
                      <a:solidFill>
                        <a:srgbClr val="E3DED7"/>
                      </a:solidFill>
                      <a:prstDash val="solid"/>
                      <a:round/>
                      <a:headEnd type="none" w="med" len="med"/>
                      <a:tailEnd type="none" w="med" len="med"/>
                    </a:lnL>
                    <a:lnR w="9525" cap="flat" cmpd="sng" algn="ctr">
                      <a:solidFill>
                        <a:srgbClr val="E3DED7"/>
                      </a:solidFill>
                      <a:prstDash val="solid"/>
                      <a:round/>
                      <a:headEnd type="none" w="med" len="med"/>
                      <a:tailEnd type="none" w="med" len="med"/>
                    </a:lnR>
                    <a:lnT w="9525" cap="flat" cmpd="sng" algn="ctr">
                      <a:solidFill>
                        <a:srgbClr val="E3DED7"/>
                      </a:solidFill>
                      <a:prstDash val="solid"/>
                      <a:round/>
                      <a:headEnd type="none" w="med" len="med"/>
                      <a:tailEnd type="none" w="med" len="med"/>
                    </a:lnT>
                    <a:lnB w="9525" cap="flat" cmpd="sng" algn="ctr">
                      <a:solidFill>
                        <a:srgbClr val="E3DED7"/>
                      </a:solidFill>
                      <a:prstDash val="solid"/>
                      <a:round/>
                      <a:headEnd type="none" w="med" len="med"/>
                      <a:tailEnd type="none" w="med" len="med"/>
                    </a:lnB>
                  </a:tcPr>
                </a:tc>
                <a:tc>
                  <a:txBody>
                    <a:bodyPr/>
                    <a:lstStyle/>
                    <a:p>
                      <a:pPr algn="r" indent="0" marL="0">
                        <a:buNone/>
                      </a:pPr>
                      <a:r>
                        <a:rPr lang="en-US" sz="1250" dirty="0">
                          <a:solidFill>
                            <a:srgbClr val="121826"/>
                          </a:solidFill>
                          <a:latin typeface="Calibri" pitchFamily="34" charset="0"/>
                          <a:ea typeface="Calibri" pitchFamily="34" charset="-122"/>
                          <a:cs typeface="Calibri" pitchFamily="34" charset="-120"/>
                        </a:rPr>
                        <a:t>6.15%</a:t>
                      </a:r>
                      <a:endParaRPr lang="en-US" sz="1250" dirty="0">
                        <a:latin typeface="Calibri" charset="0"/>
                        <a:ea typeface="Calibri" charset="0"/>
                        <a:cs typeface="Calibri" charset="0"/>
                      </a:endParaRPr>
                    </a:p>
                  </a:txBody>
                  <a:tcPr marL="109728" marR="109728" marT="54864" marB="54864">
                    <a:lnL w="9525" cap="flat" cmpd="sng" algn="ctr">
                      <a:solidFill>
                        <a:srgbClr val="E3DED7"/>
                      </a:solidFill>
                      <a:prstDash val="solid"/>
                      <a:round/>
                      <a:headEnd type="none" w="med" len="med"/>
                      <a:tailEnd type="none" w="med" len="med"/>
                    </a:lnL>
                    <a:lnR w="9525" cap="flat" cmpd="sng" algn="ctr">
                      <a:solidFill>
                        <a:srgbClr val="E3DED7"/>
                      </a:solidFill>
                      <a:prstDash val="solid"/>
                      <a:round/>
                      <a:headEnd type="none" w="med" len="med"/>
                      <a:tailEnd type="none" w="med" len="med"/>
                    </a:lnR>
                    <a:lnT w="9525" cap="flat" cmpd="sng" algn="ctr">
                      <a:solidFill>
                        <a:srgbClr val="E3DED7"/>
                      </a:solidFill>
                      <a:prstDash val="solid"/>
                      <a:round/>
                      <a:headEnd type="none" w="med" len="med"/>
                      <a:tailEnd type="none" w="med" len="med"/>
                    </a:lnT>
                    <a:lnB w="9525" cap="flat" cmpd="sng" algn="ctr">
                      <a:solidFill>
                        <a:srgbClr val="E3DED7"/>
                      </a:solidFill>
                      <a:prstDash val="solid"/>
                      <a:round/>
                      <a:headEnd type="none" w="med" len="med"/>
                      <a:tailEnd type="none" w="med" len="med"/>
                    </a:lnB>
                  </a:tcPr>
                </a:tc>
                <a:tc>
                  <a:txBody>
                    <a:bodyPr/>
                    <a:lstStyle/>
                    <a:p>
                      <a:pPr algn="r" indent="0" marL="0">
                        <a:buNone/>
                      </a:pPr>
                      <a:r>
                        <a:rPr lang="en-US" sz="1250" dirty="0">
                          <a:solidFill>
                            <a:srgbClr val="121826"/>
                          </a:solidFill>
                          <a:latin typeface="Calibri" pitchFamily="34" charset="0"/>
                          <a:ea typeface="Calibri" pitchFamily="34" charset="-122"/>
                          <a:cs typeface="Calibri" pitchFamily="34" charset="-120"/>
                        </a:rPr>
                        <a:t>8% · leader 9%</a:t>
                      </a:r>
                      <a:endParaRPr lang="en-US" sz="1250" dirty="0">
                        <a:latin typeface="Calibri" charset="0"/>
                        <a:ea typeface="Calibri" charset="0"/>
                        <a:cs typeface="Calibri" charset="0"/>
                      </a:endParaRPr>
                    </a:p>
                  </a:txBody>
                  <a:tcPr marL="109728" marR="109728" marT="54864" marB="54864">
                    <a:lnL w="9525" cap="flat" cmpd="sng" algn="ctr">
                      <a:solidFill>
                        <a:srgbClr val="E3DED7"/>
                      </a:solidFill>
                      <a:prstDash val="solid"/>
                      <a:round/>
                      <a:headEnd type="none" w="med" len="med"/>
                      <a:tailEnd type="none" w="med" len="med"/>
                    </a:lnL>
                    <a:lnR w="9525" cap="flat" cmpd="sng" algn="ctr">
                      <a:solidFill>
                        <a:srgbClr val="E3DED7"/>
                      </a:solidFill>
                      <a:prstDash val="solid"/>
                      <a:round/>
                      <a:headEnd type="none" w="med" len="med"/>
                      <a:tailEnd type="none" w="med" len="med"/>
                    </a:lnR>
                    <a:lnT w="9525" cap="flat" cmpd="sng" algn="ctr">
                      <a:solidFill>
                        <a:srgbClr val="E3DED7"/>
                      </a:solidFill>
                      <a:prstDash val="solid"/>
                      <a:round/>
                      <a:headEnd type="none" w="med" len="med"/>
                      <a:tailEnd type="none" w="med" len="med"/>
                    </a:lnT>
                    <a:lnB w="9525" cap="flat" cmpd="sng" algn="ctr">
                      <a:solidFill>
                        <a:srgbClr val="E3DED7"/>
                      </a:solidFill>
                      <a:prstDash val="solid"/>
                      <a:round/>
                      <a:headEnd type="none" w="med" len="med"/>
                      <a:tailEnd type="none" w="med" len="med"/>
                    </a:lnB>
                  </a:tcPr>
                </a:tc>
                <a:tc>
                  <a:txBody>
                    <a:bodyPr/>
                    <a:lstStyle/>
                    <a:p>
                      <a:pPr algn="r" indent="0" marL="0">
                        <a:buNone/>
                      </a:pPr>
                      <a:r>
                        <a:rPr lang="en-US" sz="1250" b="1" dirty="0">
                          <a:solidFill>
                            <a:srgbClr val="1E7F5C"/>
                          </a:solidFill>
                          <a:latin typeface="Calibri" pitchFamily="34" charset="0"/>
                          <a:ea typeface="Calibri" pitchFamily="34" charset="-122"/>
                          <a:cs typeface="Calibri" pitchFamily="34" charset="-120"/>
                        </a:rPr>
                        <a:t>#4, high</a:t>
                      </a:r>
                      <a:endParaRPr lang="en-US" sz="1250" dirty="0">
                        <a:latin typeface="Calibri" charset="0"/>
                        <a:ea typeface="Calibri" charset="0"/>
                        <a:cs typeface="Calibri" charset="0"/>
                      </a:endParaRPr>
                    </a:p>
                  </a:txBody>
                  <a:tcPr marL="109728" marR="109728" marT="54864" marB="54864">
                    <a:lnL w="9525" cap="flat" cmpd="sng" algn="ctr">
                      <a:solidFill>
                        <a:srgbClr val="E3DED7"/>
                      </a:solidFill>
                      <a:prstDash val="solid"/>
                      <a:round/>
                      <a:headEnd type="none" w="med" len="med"/>
                      <a:tailEnd type="none" w="med" len="med"/>
                    </a:lnL>
                    <a:lnR w="9525" cap="flat" cmpd="sng" algn="ctr">
                      <a:solidFill>
                        <a:srgbClr val="E3DED7"/>
                      </a:solidFill>
                      <a:prstDash val="solid"/>
                      <a:round/>
                      <a:headEnd type="none" w="med" len="med"/>
                      <a:tailEnd type="none" w="med" len="med"/>
                    </a:lnR>
                    <a:lnT w="9525" cap="flat" cmpd="sng" algn="ctr">
                      <a:solidFill>
                        <a:srgbClr val="E3DED7"/>
                      </a:solidFill>
                      <a:prstDash val="solid"/>
                      <a:round/>
                      <a:headEnd type="none" w="med" len="med"/>
                      <a:tailEnd type="none" w="med" len="med"/>
                    </a:lnT>
                    <a:lnB w="9525" cap="flat" cmpd="sng" algn="ctr">
                      <a:solidFill>
                        <a:srgbClr val="E3DED7"/>
                      </a:solidFill>
                      <a:prstDash val="solid"/>
                      <a:round/>
                      <a:headEnd type="none" w="med" len="med"/>
                      <a:tailEnd type="none" w="med" len="med"/>
                    </a:lnB>
                  </a:tcPr>
                </a:tc>
                <a:tc>
                  <a:txBody>
                    <a:bodyPr/>
                    <a:lstStyle/>
                    <a:p>
                      <a:pPr algn="r" indent="0" marL="0">
                        <a:buNone/>
                      </a:pPr>
                      <a:r>
                        <a:rPr lang="en-US" sz="1250" dirty="0">
                          <a:solidFill>
                            <a:srgbClr val="121826"/>
                          </a:solidFill>
                          <a:latin typeface="Calibri" pitchFamily="34" charset="0"/>
                          <a:ea typeface="Calibri" pitchFamily="34" charset="-122"/>
                          <a:cs typeface="Calibri" pitchFamily="34" charset="-120"/>
                        </a:rPr>
                        <a:t>4 of 18</a:t>
                      </a:r>
                      <a:endParaRPr lang="en-US" sz="1250" dirty="0">
                        <a:latin typeface="Calibri" charset="0"/>
                        <a:ea typeface="Calibri" charset="0"/>
                        <a:cs typeface="Calibri" charset="0"/>
                      </a:endParaRPr>
                    </a:p>
                  </a:txBody>
                  <a:tcPr marL="109728" marR="109728" marT="54864" marB="54864">
                    <a:lnL w="9525" cap="flat" cmpd="sng" algn="ctr">
                      <a:solidFill>
                        <a:srgbClr val="E3DED7"/>
                      </a:solidFill>
                      <a:prstDash val="solid"/>
                      <a:round/>
                      <a:headEnd type="none" w="med" len="med"/>
                      <a:tailEnd type="none" w="med" len="med"/>
                    </a:lnL>
                    <a:lnR w="9525" cap="flat" cmpd="sng" algn="ctr">
                      <a:solidFill>
                        <a:srgbClr val="E3DED7"/>
                      </a:solidFill>
                      <a:prstDash val="solid"/>
                      <a:round/>
                      <a:headEnd type="none" w="med" len="med"/>
                      <a:tailEnd type="none" w="med" len="med"/>
                    </a:lnR>
                    <a:lnT w="9525" cap="flat" cmpd="sng" algn="ctr">
                      <a:solidFill>
                        <a:srgbClr val="E3DED7"/>
                      </a:solidFill>
                      <a:prstDash val="solid"/>
                      <a:round/>
                      <a:headEnd type="none" w="med" len="med"/>
                      <a:tailEnd type="none" w="med" len="med"/>
                    </a:lnT>
                    <a:lnB w="9525" cap="flat" cmpd="sng" algn="ctr">
                      <a:solidFill>
                        <a:srgbClr val="E3DED7"/>
                      </a:solidFill>
                      <a:prstDash val="solid"/>
                      <a:round/>
                      <a:headEnd type="none" w="med" len="med"/>
                      <a:tailEnd type="none" w="med" len="med"/>
                    </a:lnB>
                  </a:tcPr>
                </a:tc>
              </a:tr>
              <a:tr h="438912">
                <a:tc>
                  <a:txBody>
                    <a:bodyPr/>
                    <a:lstStyle/>
                    <a:p>
                      <a:pPr algn="l" indent="0" marL="0">
                        <a:buNone/>
                      </a:pPr>
                      <a:r>
                        <a:rPr lang="en-US" sz="1250" b="1" dirty="0">
                          <a:solidFill>
                            <a:srgbClr val="121826"/>
                          </a:solidFill>
                          <a:latin typeface="Calibri" pitchFamily="34" charset="0"/>
                          <a:ea typeface="Calibri" pitchFamily="34" charset="-122"/>
                          <a:cs typeface="Calibri" pitchFamily="34" charset="-120"/>
                        </a:rPr>
                        <a:t>XM, 3+ lines</a:t>
                      </a:r>
                      <a:endParaRPr lang="en-US" sz="1250" dirty="0">
                        <a:latin typeface="Calibri" charset="0"/>
                        <a:ea typeface="Calibri" charset="0"/>
                        <a:cs typeface="Calibri" charset="0"/>
                      </a:endParaRPr>
                    </a:p>
                  </a:txBody>
                  <a:tcPr marL="109728" marR="109728" marT="54864" marB="54864">
                    <a:lnL w="9525" cap="flat" cmpd="sng" algn="ctr">
                      <a:solidFill>
                        <a:srgbClr val="E3DED7"/>
                      </a:solidFill>
                      <a:prstDash val="solid"/>
                      <a:round/>
                      <a:headEnd type="none" w="med" len="med"/>
                      <a:tailEnd type="none" w="med" len="med"/>
                    </a:lnL>
                    <a:lnR w="9525" cap="flat" cmpd="sng" algn="ctr">
                      <a:solidFill>
                        <a:srgbClr val="E3DED7"/>
                      </a:solidFill>
                      <a:prstDash val="solid"/>
                      <a:round/>
                      <a:headEnd type="none" w="med" len="med"/>
                      <a:tailEnd type="none" w="med" len="med"/>
                    </a:lnR>
                    <a:lnT w="9525" cap="flat" cmpd="sng" algn="ctr">
                      <a:solidFill>
                        <a:srgbClr val="E3DED7"/>
                      </a:solidFill>
                      <a:prstDash val="solid"/>
                      <a:round/>
                      <a:headEnd type="none" w="med" len="med"/>
                      <a:tailEnd type="none" w="med" len="med"/>
                    </a:lnT>
                    <a:lnB w="9525" cap="flat" cmpd="sng" algn="ctr">
                      <a:solidFill>
                        <a:srgbClr val="E3DED7"/>
                      </a:solidFill>
                      <a:prstDash val="solid"/>
                      <a:round/>
                      <a:headEnd type="none" w="med" len="med"/>
                      <a:tailEnd type="none" w="med" len="med"/>
                    </a:lnB>
                  </a:tcPr>
                </a:tc>
                <a:tc>
                  <a:txBody>
                    <a:bodyPr/>
                    <a:lstStyle/>
                    <a:p>
                      <a:pPr algn="r" indent="0" marL="0">
                        <a:buNone/>
                      </a:pPr>
                      <a:r>
                        <a:rPr lang="en-US" sz="1250" dirty="0">
                          <a:solidFill>
                            <a:srgbClr val="121826"/>
                          </a:solidFill>
                          <a:latin typeface="Calibri" pitchFamily="34" charset="0"/>
                          <a:ea typeface="Calibri" pitchFamily="34" charset="-122"/>
                          <a:cs typeface="Calibri" pitchFamily="34" charset="-120"/>
                        </a:rPr>
                        <a:t>50%</a:t>
                      </a:r>
                      <a:endParaRPr lang="en-US" sz="1250" dirty="0">
                        <a:latin typeface="Calibri" charset="0"/>
                        <a:ea typeface="Calibri" charset="0"/>
                        <a:cs typeface="Calibri" charset="0"/>
                      </a:endParaRPr>
                    </a:p>
                  </a:txBody>
                  <a:tcPr marL="109728" marR="109728" marT="54864" marB="54864">
                    <a:lnL w="9525" cap="flat" cmpd="sng" algn="ctr">
                      <a:solidFill>
                        <a:srgbClr val="E3DED7"/>
                      </a:solidFill>
                      <a:prstDash val="solid"/>
                      <a:round/>
                      <a:headEnd type="none" w="med" len="med"/>
                      <a:tailEnd type="none" w="med" len="med"/>
                    </a:lnL>
                    <a:lnR w="9525" cap="flat" cmpd="sng" algn="ctr">
                      <a:solidFill>
                        <a:srgbClr val="E3DED7"/>
                      </a:solidFill>
                      <a:prstDash val="solid"/>
                      <a:round/>
                      <a:headEnd type="none" w="med" len="med"/>
                      <a:tailEnd type="none" w="med" len="med"/>
                    </a:lnR>
                    <a:lnT w="9525" cap="flat" cmpd="sng" algn="ctr">
                      <a:solidFill>
                        <a:srgbClr val="E3DED7"/>
                      </a:solidFill>
                      <a:prstDash val="solid"/>
                      <a:round/>
                      <a:headEnd type="none" w="med" len="med"/>
                      <a:tailEnd type="none" w="med" len="med"/>
                    </a:lnT>
                    <a:lnB w="9525" cap="flat" cmpd="sng" algn="ctr">
                      <a:solidFill>
                        <a:srgbClr val="E3DED7"/>
                      </a:solidFill>
                      <a:prstDash val="solid"/>
                      <a:round/>
                      <a:headEnd type="none" w="med" len="med"/>
                      <a:tailEnd type="none" w="med" len="med"/>
                    </a:lnB>
                  </a:tcPr>
                </a:tc>
                <a:tc>
                  <a:txBody>
                    <a:bodyPr/>
                    <a:lstStyle/>
                    <a:p>
                      <a:pPr algn="r" indent="0" marL="0">
                        <a:buNone/>
                      </a:pPr>
                      <a:r>
                        <a:rPr lang="en-US" sz="1250" dirty="0">
                          <a:solidFill>
                            <a:srgbClr val="121826"/>
                          </a:solidFill>
                          <a:latin typeface="Calibri" pitchFamily="34" charset="0"/>
                          <a:ea typeface="Calibri" pitchFamily="34" charset="-122"/>
                          <a:cs typeface="Calibri" pitchFamily="34" charset="-120"/>
                        </a:rPr>
                        <a:t>100%</a:t>
                      </a:r>
                      <a:endParaRPr lang="en-US" sz="1250" dirty="0">
                        <a:latin typeface="Calibri" charset="0"/>
                        <a:ea typeface="Calibri" charset="0"/>
                        <a:cs typeface="Calibri" charset="0"/>
                      </a:endParaRPr>
                    </a:p>
                  </a:txBody>
                  <a:tcPr marL="109728" marR="109728" marT="54864" marB="54864">
                    <a:lnL w="9525" cap="flat" cmpd="sng" algn="ctr">
                      <a:solidFill>
                        <a:srgbClr val="E3DED7"/>
                      </a:solidFill>
                      <a:prstDash val="solid"/>
                      <a:round/>
                      <a:headEnd type="none" w="med" len="med"/>
                      <a:tailEnd type="none" w="med" len="med"/>
                    </a:lnL>
                    <a:lnR w="9525" cap="flat" cmpd="sng" algn="ctr">
                      <a:solidFill>
                        <a:srgbClr val="E3DED7"/>
                      </a:solidFill>
                      <a:prstDash val="solid"/>
                      <a:round/>
                      <a:headEnd type="none" w="med" len="med"/>
                      <a:tailEnd type="none" w="med" len="med"/>
                    </a:lnR>
                    <a:lnT w="9525" cap="flat" cmpd="sng" algn="ctr">
                      <a:solidFill>
                        <a:srgbClr val="E3DED7"/>
                      </a:solidFill>
                      <a:prstDash val="solid"/>
                      <a:round/>
                      <a:headEnd type="none" w="med" len="med"/>
                      <a:tailEnd type="none" w="med" len="med"/>
                    </a:lnT>
                    <a:lnB w="9525" cap="flat" cmpd="sng" algn="ctr">
                      <a:solidFill>
                        <a:srgbClr val="E3DED7"/>
                      </a:solidFill>
                      <a:prstDash val="solid"/>
                      <a:round/>
                      <a:headEnd type="none" w="med" len="med"/>
                      <a:tailEnd type="none" w="med" len="med"/>
                    </a:lnB>
                  </a:tcPr>
                </a:tc>
                <a:tc>
                  <a:txBody>
                    <a:bodyPr/>
                    <a:lstStyle/>
                    <a:p>
                      <a:pPr algn="r" indent="0" marL="0">
                        <a:buNone/>
                      </a:pPr>
                      <a:r>
                        <a:rPr lang="en-US" sz="1250" b="1" dirty="0">
                          <a:solidFill>
                            <a:srgbClr val="1E7F5C"/>
                          </a:solidFill>
                          <a:latin typeface="Calibri" pitchFamily="34" charset="0"/>
                          <a:ea typeface="Calibri" pitchFamily="34" charset="-122"/>
                          <a:cs typeface="Calibri" pitchFamily="34" charset="-120"/>
                        </a:rPr>
                        <a:t>#5, high</a:t>
                      </a:r>
                      <a:endParaRPr lang="en-US" sz="1250" dirty="0">
                        <a:latin typeface="Calibri" charset="0"/>
                        <a:ea typeface="Calibri" charset="0"/>
                        <a:cs typeface="Calibri" charset="0"/>
                      </a:endParaRPr>
                    </a:p>
                  </a:txBody>
                  <a:tcPr marL="109728" marR="109728" marT="54864" marB="54864">
                    <a:lnL w="9525" cap="flat" cmpd="sng" algn="ctr">
                      <a:solidFill>
                        <a:srgbClr val="E3DED7"/>
                      </a:solidFill>
                      <a:prstDash val="solid"/>
                      <a:round/>
                      <a:headEnd type="none" w="med" len="med"/>
                      <a:tailEnd type="none" w="med" len="med"/>
                    </a:lnL>
                    <a:lnR w="9525" cap="flat" cmpd="sng" algn="ctr">
                      <a:solidFill>
                        <a:srgbClr val="E3DED7"/>
                      </a:solidFill>
                      <a:prstDash val="solid"/>
                      <a:round/>
                      <a:headEnd type="none" w="med" len="med"/>
                      <a:tailEnd type="none" w="med" len="med"/>
                    </a:lnR>
                    <a:lnT w="9525" cap="flat" cmpd="sng" algn="ctr">
                      <a:solidFill>
                        <a:srgbClr val="E3DED7"/>
                      </a:solidFill>
                      <a:prstDash val="solid"/>
                      <a:round/>
                      <a:headEnd type="none" w="med" len="med"/>
                      <a:tailEnd type="none" w="med" len="med"/>
                    </a:lnT>
                    <a:lnB w="9525" cap="flat" cmpd="sng" algn="ctr">
                      <a:solidFill>
                        <a:srgbClr val="E3DED7"/>
                      </a:solidFill>
                      <a:prstDash val="solid"/>
                      <a:round/>
                      <a:headEnd type="none" w="med" len="med"/>
                      <a:tailEnd type="none" w="med" len="med"/>
                    </a:lnB>
                  </a:tcPr>
                </a:tc>
                <a:tc>
                  <a:txBody>
                    <a:bodyPr/>
                    <a:lstStyle/>
                    <a:p>
                      <a:pPr algn="r" indent="0" marL="0">
                        <a:buNone/>
                      </a:pPr>
                      <a:r>
                        <a:rPr lang="en-US" sz="1250" dirty="0">
                          <a:solidFill>
                            <a:srgbClr val="121826"/>
                          </a:solidFill>
                          <a:latin typeface="Calibri" pitchFamily="34" charset="0"/>
                          <a:ea typeface="Calibri" pitchFamily="34" charset="-122"/>
                          <a:cs typeface="Calibri" pitchFamily="34" charset="-120"/>
                        </a:rPr>
                        <a:t>7 of 18 hit 4</a:t>
                      </a:r>
                      <a:endParaRPr lang="en-US" sz="1250" dirty="0">
                        <a:latin typeface="Calibri" charset="0"/>
                        <a:ea typeface="Calibri" charset="0"/>
                        <a:cs typeface="Calibri" charset="0"/>
                      </a:endParaRPr>
                    </a:p>
                  </a:txBody>
                  <a:tcPr marL="109728" marR="109728" marT="54864" marB="54864">
                    <a:lnL w="9525" cap="flat" cmpd="sng" algn="ctr">
                      <a:solidFill>
                        <a:srgbClr val="E3DED7"/>
                      </a:solidFill>
                      <a:prstDash val="solid"/>
                      <a:round/>
                      <a:headEnd type="none" w="med" len="med"/>
                      <a:tailEnd type="none" w="med" len="med"/>
                    </a:lnL>
                    <a:lnR w="9525" cap="flat" cmpd="sng" algn="ctr">
                      <a:solidFill>
                        <a:srgbClr val="E3DED7"/>
                      </a:solidFill>
                      <a:prstDash val="solid"/>
                      <a:round/>
                      <a:headEnd type="none" w="med" len="med"/>
                      <a:tailEnd type="none" w="med" len="med"/>
                    </a:lnR>
                    <a:lnT w="9525" cap="flat" cmpd="sng" algn="ctr">
                      <a:solidFill>
                        <a:srgbClr val="E3DED7"/>
                      </a:solidFill>
                      <a:prstDash val="solid"/>
                      <a:round/>
                      <a:headEnd type="none" w="med" len="med"/>
                      <a:tailEnd type="none" w="med" len="med"/>
                    </a:lnT>
                    <a:lnB w="9525" cap="flat" cmpd="sng" algn="ctr">
                      <a:solidFill>
                        <a:srgbClr val="E3DED7"/>
                      </a:solidFill>
                      <a:prstDash val="solid"/>
                      <a:round/>
                      <a:headEnd type="none" w="med" len="med"/>
                      <a:tailEnd type="none" w="med" len="med"/>
                    </a:lnB>
                  </a:tcPr>
                </a:tc>
              </a:tr>
            </a:tbl>
          </a:graphicData>
        </a:graphic>
      </p:graphicFrame>
      <p:sp>
        <p:nvSpPr>
          <p:cNvPr id="5" name="Paragraph"/>
          <p:cNvSpPr txBox="1"/>
          <p:nvPr/>
        </p:nvSpPr>
        <p:spPr>
          <a:xfrm>
            <a:off x="548640" y="4315968"/>
            <a:ext cx="6400800" cy="411480"/>
          </a:xfrm>
          <a:prstGeom prst="rect">
            <a:avLst/>
          </a:prstGeom>
          <a:noFill/>
          <a:ln/>
        </p:spPr>
        <p:txBody>
          <a:bodyPr wrap="square" lIns="0" tIns="0" rIns="0" bIns="0" rtlCol="0" anchor="t"/>
          <a:lstStyle/>
          <a:p>
            <a:pPr indent="0" marL="0">
              <a:spcAft>
                <a:spcPts val="400"/>
              </a:spcAft>
              <a:buNone/>
            </a:pPr>
            <a:r>
              <a:rPr lang="en-US" sz="1100" dirty="0">
                <a:solidFill>
                  <a:srgbClr val="6B7280"/>
                </a:solidFill>
              </a:rPr>
              <a:t>October month to date, September 22 to October 14, TSX dashboard. Team tNPS is survey-weighted on 221 surveys. Leader score rank 10 of 15.</a:t>
            </a:r>
            <a:endParaRPr lang="en-US" sz="1100" dirty="0"/>
          </a:p>
        </p:txBody>
      </p:sp>
      <p:sp>
        <p:nvSpPr>
          <p:cNvPr id="6" name="Context card"/>
          <p:cNvSpPr/>
          <p:nvPr/>
        </p:nvSpPr>
        <p:spPr>
          <a:xfrm>
            <a:off x="548640" y="4846320"/>
            <a:ext cx="6400800" cy="1280160"/>
          </a:xfrm>
          <a:prstGeom prst="roundRect">
            <a:avLst>
              <a:gd name="adj" fmla="val 14286"/>
            </a:avLst>
          </a:prstGeom>
          <a:solidFill>
            <a:srgbClr val="121826"/>
          </a:solidFill>
          <a:ln/>
        </p:spPr>
      </p:sp>
      <p:sp>
        <p:nvSpPr>
          <p:cNvPr id="7" name="Icon circle"/>
          <p:cNvSpPr/>
          <p:nvPr/>
        </p:nvSpPr>
        <p:spPr>
          <a:xfrm>
            <a:off x="768096" y="5202936"/>
            <a:ext cx="566928" cy="566928"/>
          </a:xfrm>
          <a:prstGeom prst="ellipse">
            <a:avLst/>
          </a:prstGeom>
          <a:solidFill>
            <a:srgbClr val="F26522"/>
          </a:solidFill>
          <a:ln/>
        </p:spPr>
      </p:sp>
      <p:pic>
        <p:nvPicPr>
          <p:cNvPr id="8" name="Icon" descr="preencoded.png">    </p:cNvPr>
          <p:cNvPicPr>
            <a:picLocks noChangeAspect="1"/>
          </p:cNvPicPr>
          <p:nvPr/>
        </p:nvPicPr>
        <p:blipFill>
          <a:blip r:embed="rId1"/>
          <a:stretch>
            <a:fillRect/>
          </a:stretch>
        </p:blipFill>
        <p:spPr>
          <a:xfrm>
            <a:off x="904159" y="5338999"/>
            <a:ext cx="294803" cy="294803"/>
          </a:xfrm>
          <a:prstGeom prst="rect">
            <a:avLst/>
          </a:prstGeom>
        </p:spPr>
      </p:pic>
      <p:sp>
        <p:nvSpPr>
          <p:cNvPr id="9" name="Context text"/>
          <p:cNvSpPr txBox="1"/>
          <p:nvPr/>
        </p:nvSpPr>
        <p:spPr>
          <a:xfrm>
            <a:off x="1554480" y="4956048"/>
            <a:ext cx="5166360" cy="1060704"/>
          </a:xfrm>
          <a:prstGeom prst="rect">
            <a:avLst/>
          </a:prstGeom>
          <a:noFill/>
          <a:ln/>
        </p:spPr>
        <p:txBody>
          <a:bodyPr wrap="square" lIns="0" tIns="0" rIns="0" bIns="0" rtlCol="0" anchor="ctr"/>
          <a:lstStyle/>
          <a:p>
            <a:pPr indent="0" marL="0">
              <a:buNone/>
            </a:pPr>
            <a:r>
              <a:rPr lang="en-US" sz="1250" b="1" dirty="0">
                <a:solidFill>
                  <a:srgbClr val="FFFFFF"/>
                </a:solidFill>
              </a:rPr>
              <a:t>Context, not excuse. </a:t>
            </a:r>
            <a:pPr indent="0" marL="0">
              <a:buNone/>
            </a:pPr>
            <a:r>
              <a:rPr lang="en-US" sz="1250" dirty="0">
                <a:solidFill>
                  <a:srgbClr val="D9DDE6"/>
                </a:solidFill>
              </a:rPr>
              <a:t>Every cohort under 30 days sits between −15 and +12 on tNPS, so this is a tenure-stage problem and the plan attacks it. Surveys per agent run 7 to 18, so one survey moves an agent by 6 to 14 points.</a:t>
            </a:r>
            <a:endParaRPr lang="en-US" sz="1250" dirty="0"/>
          </a:p>
        </p:txBody>
      </p:sp>
      <p:sp>
        <p:nvSpPr>
          <p:cNvPr id="10" name="Chart card"/>
          <p:cNvSpPr/>
          <p:nvPr/>
        </p:nvSpPr>
        <p:spPr>
          <a:xfrm>
            <a:off x="7223760" y="2011680"/>
            <a:ext cx="4419295" cy="4114800"/>
          </a:xfrm>
          <a:prstGeom prst="roundRect">
            <a:avLst>
              <a:gd name="adj" fmla="val 4444"/>
            </a:avLst>
          </a:prstGeom>
          <a:solidFill>
            <a:srgbClr val="FFFFFF"/>
          </a:solidFill>
          <a:ln w="9525">
            <a:solidFill>
              <a:srgbClr val="E3DED7"/>
            </a:solidFill>
            <a:prstDash val="solid"/>
          </a:ln>
          <a:effectLst>
            <a:outerShdw sx="100000" sy="100000" kx="0" ky="0" algn="bl" rotWithShape="0" blurRad="76200" dist="25400" dir="5400000">
              <a:srgbClr val="000000">
                <a:alpha val="8000"/>
              </a:srgbClr>
            </a:outerShdw>
          </a:effectLst>
        </p:spPr>
      </p:sp>
      <p:sp>
        <p:nvSpPr>
          <p:cNvPr id="11" name="Chart heading"/>
          <p:cNvSpPr txBox="1"/>
          <p:nvPr/>
        </p:nvSpPr>
        <p:spPr>
          <a:xfrm>
            <a:off x="7452360" y="2176272"/>
            <a:ext cx="3962095" cy="292608"/>
          </a:xfrm>
          <a:prstGeom prst="rect">
            <a:avLst/>
          </a:prstGeom>
          <a:noFill/>
          <a:ln/>
        </p:spPr>
        <p:txBody>
          <a:bodyPr wrap="square" lIns="0" tIns="0" rIns="0" bIns="0" rtlCol="0" anchor="ctr"/>
          <a:lstStyle/>
          <a:p>
            <a:pPr indent="0" marL="0">
              <a:buNone/>
            </a:pPr>
            <a:r>
              <a:rPr lang="en-US" sz="1400" b="1" dirty="0">
                <a:solidFill>
                  <a:srgbClr val="121826"/>
                </a:solidFill>
              </a:rPr>
              <a:t>tNPS by cohort and the whole LOB, October MTD</a:t>
            </a:r>
            <a:endParaRPr lang="en-US" sz="1400" dirty="0"/>
          </a:p>
        </p:txBody>
      </p:sp>
      <p:sp>
        <p:nvSpPr>
          <p:cNvPr id="12" name="Chart caption"/>
          <p:cNvSpPr txBox="1"/>
          <p:nvPr/>
        </p:nvSpPr>
        <p:spPr>
          <a:xfrm>
            <a:off x="7452360" y="2468880"/>
            <a:ext cx="3962095" cy="256032"/>
          </a:xfrm>
          <a:prstGeom prst="rect">
            <a:avLst/>
          </a:prstGeom>
          <a:noFill/>
          <a:ln/>
        </p:spPr>
        <p:txBody>
          <a:bodyPr wrap="square" lIns="0" tIns="0" rIns="0" bIns="0" rtlCol="0" anchor="ctr"/>
          <a:lstStyle/>
          <a:p>
            <a:pPr indent="0" marL="0">
              <a:buNone/>
            </a:pPr>
            <a:r>
              <a:rPr lang="en-US" sz="1100" dirty="0">
                <a:solidFill>
                  <a:srgbClr val="6B7280"/>
                </a:solidFill>
              </a:rPr>
              <a:t>My team is 10.4; the dashed line is the agent target of 33</a:t>
            </a:r>
            <a:endParaRPr lang="en-US" sz="1100" dirty="0"/>
          </a:p>
        </p:txBody>
      </p:sp>
      <p:graphicFrame>
        <p:nvGraphicFramePr>
          <p:cNvPr id="13" name="tNPS by cohort chart" descr=""/>
          <p:cNvGraphicFramePr/>
          <p:nvPr/>
        </p:nvGraphicFramePr>
        <p:xfrm>
          <a:off x="7296912" y="2788920"/>
          <a:ext cx="4272991" cy="3200400"/>
        </p:xfrm>
        <a:graphic xmlns:a="http://schemas.openxmlformats.org/drawingml/2006/main">
          <a:graphicData uri="http://schemas.openxmlformats.org/drawingml/2006/chart">
            <c:chart xmlns:c="http://schemas.openxmlformats.org/drawingml/2006/chart" r:id="rId2"/>
          </a:graphicData>
        </a:graphic>
      </p:graphicFrame>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7280"/>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Eyebrow"/>
          <p:cNvSpPr txBox="1"/>
          <p:nvPr/>
        </p:nvSpPr>
        <p:spPr>
          <a:xfrm>
            <a:off x="548640" y="457200"/>
            <a:ext cx="8229600" cy="274320"/>
          </a:xfrm>
          <a:prstGeom prst="rect">
            <a:avLst/>
          </a:prstGeom>
          <a:noFill/>
          <a:ln/>
        </p:spPr>
        <p:txBody>
          <a:bodyPr wrap="square" lIns="0" tIns="0" rIns="0" bIns="0" rtlCol="0" anchor="ctr"/>
          <a:lstStyle/>
          <a:p>
            <a:pPr indent="0" marL="0">
              <a:buNone/>
            </a:pPr>
            <a:r>
              <a:rPr lang="en-US" sz="1200" b="1" spc="300" kern="0" dirty="0">
                <a:solidFill>
                  <a:srgbClr val="C94A10"/>
                </a:solidFill>
              </a:rPr>
              <a:t>HOW I PREPARE, AND HOW I FIND THE CAUSE</a:t>
            </a:r>
            <a:endParaRPr lang="en-US" sz="1200" dirty="0"/>
          </a:p>
        </p:txBody>
      </p:sp>
      <p:sp>
        <p:nvSpPr>
          <p:cNvPr id="3" name="Text 0"/>
          <p:cNvSpPr/>
          <p:nvPr>
            <p:ph idx="100" type="title" hasCustomPrompt="1"/>
          </p:nvPr>
        </p:nvSpPr>
        <p:spPr>
          <a:xfrm>
            <a:off x="548640" y="804672"/>
            <a:ext cx="11094415" cy="1097280"/>
          </a:xfrm>
          <a:prstGeom prst="rect">
            <a:avLst/>
          </a:prstGeom>
          <a:noFill/>
          <a:ln/>
        </p:spPr>
        <p:txBody>
          <a:bodyPr wrap="square" lIns="0" tIns="0" rIns="0" bIns="0" rtlCol="0" anchor="t"/>
          <a:lstStyle/>
          <a:p>
            <a:pPr algn="l" indent="0" marL="0">
              <a:buNone/>
            </a:pPr>
            <a:r>
              <a:rPr lang="en-US" sz="3200" b="1" dirty="0">
                <a:solidFill>
                  <a:schemeClr val="tx1"/>
                </a:solidFill>
              </a:rPr>
              <a:t>Data, then calls, then ask before I tell,</a:t>
            </a:r>
            <a:endParaRPr lang="en-US" sz="3200" dirty="0"/>
          </a:p>
          <a:p>
            <a:pPr algn="l" indent="0" marL="0">
              <a:buNone/>
            </a:pPr>
            <a:r>
              <a:rPr lang="en-US" sz="3200" b="1" dirty="0">
                <a:solidFill>
                  <a:schemeClr val="tx1"/>
                </a:solidFill>
              </a:rPr>
              <a:t>then the cause, not the symptom</a:t>
            </a:r>
            <a:endParaRPr lang="en-US" sz="3200" dirty="0"/>
          </a:p>
        </p:txBody>
      </p:sp>
      <p:sp>
        <p:nvSpPr>
          <p:cNvPr id="4" name="Step 1 card"/>
          <p:cNvSpPr/>
          <p:nvPr/>
        </p:nvSpPr>
        <p:spPr>
          <a:xfrm>
            <a:off x="548640" y="2011680"/>
            <a:ext cx="2567864" cy="2697480"/>
          </a:xfrm>
          <a:prstGeom prst="roundRect">
            <a:avLst>
              <a:gd name="adj" fmla="val 7122"/>
            </a:avLst>
          </a:prstGeom>
          <a:solidFill>
            <a:srgbClr val="F6F3EE"/>
          </a:solidFill>
          <a:ln w="9525">
            <a:solidFill>
              <a:srgbClr val="E3DED7"/>
            </a:solidFill>
            <a:prstDash val="solid"/>
          </a:ln>
          <a:effectLst>
            <a:outerShdw sx="100000" sy="100000" kx="0" ky="0" algn="bl" rotWithShape="0" blurRad="76200" dist="25400" dir="5400000">
              <a:srgbClr val="000000">
                <a:alpha val="8000"/>
              </a:srgbClr>
            </a:outerShdw>
          </a:effectLst>
        </p:spPr>
      </p:sp>
      <p:sp>
        <p:nvSpPr>
          <p:cNvPr id="5" name="Icon circle"/>
          <p:cNvSpPr/>
          <p:nvPr/>
        </p:nvSpPr>
        <p:spPr>
          <a:xfrm>
            <a:off x="777240" y="2240280"/>
            <a:ext cx="566928" cy="566928"/>
          </a:xfrm>
          <a:prstGeom prst="ellipse">
            <a:avLst/>
          </a:prstGeom>
          <a:solidFill>
            <a:srgbClr val="FDE9DF"/>
          </a:solidFill>
          <a:ln/>
        </p:spPr>
      </p:sp>
      <p:pic>
        <p:nvPicPr>
          <p:cNvPr id="6" name="Icon" descr="preencoded.png">    </p:cNvPr>
          <p:cNvPicPr>
            <a:picLocks noChangeAspect="1"/>
          </p:cNvPicPr>
          <p:nvPr/>
        </p:nvPicPr>
        <p:blipFill>
          <a:blip r:embed="rId1"/>
          <a:stretch>
            <a:fillRect/>
          </a:stretch>
        </p:blipFill>
        <p:spPr>
          <a:xfrm>
            <a:off x="913303" y="2376343"/>
            <a:ext cx="294803" cy="294803"/>
          </a:xfrm>
          <a:prstGeom prst="rect">
            <a:avLst/>
          </a:prstGeom>
        </p:spPr>
      </p:pic>
      <p:sp>
        <p:nvSpPr>
          <p:cNvPr id="7" name="Step title"/>
          <p:cNvSpPr txBox="1"/>
          <p:nvPr/>
        </p:nvSpPr>
        <p:spPr>
          <a:xfrm>
            <a:off x="777240" y="2971800"/>
            <a:ext cx="2110664" cy="384048"/>
          </a:xfrm>
          <a:prstGeom prst="rect">
            <a:avLst/>
          </a:prstGeom>
          <a:noFill/>
          <a:ln/>
        </p:spPr>
        <p:txBody>
          <a:bodyPr wrap="square" lIns="0" tIns="0" rIns="0" bIns="0" rtlCol="0" anchor="ctr"/>
          <a:lstStyle/>
          <a:p>
            <a:pPr indent="0" marL="0">
              <a:buNone/>
            </a:pPr>
            <a:r>
              <a:rPr lang="en-US" sz="1600" b="1" dirty="0">
                <a:solidFill>
                  <a:srgbClr val="C94A10"/>
                </a:solidFill>
              </a:rPr>
              <a:t>1</a:t>
            </a:r>
            <a:pPr indent="0" marL="0">
              <a:buNone/>
            </a:pPr>
            <a:r>
              <a:rPr lang="en-US" sz="1600" b="1" dirty="0">
                <a:solidFill>
                  <a:srgbClr val="121826"/>
                </a:solidFill>
              </a:rPr>
              <a:t>  Data</a:t>
            </a:r>
            <a:endParaRPr lang="en-US" sz="1600" dirty="0"/>
          </a:p>
        </p:txBody>
      </p:sp>
      <p:sp>
        <p:nvSpPr>
          <p:cNvPr id="8" name="Paragraph"/>
          <p:cNvSpPr txBox="1"/>
          <p:nvPr/>
        </p:nvSpPr>
        <p:spPr>
          <a:xfrm>
            <a:off x="777240" y="3383280"/>
            <a:ext cx="2110664" cy="1188720"/>
          </a:xfrm>
          <a:prstGeom prst="rect">
            <a:avLst/>
          </a:prstGeom>
          <a:noFill/>
          <a:ln/>
        </p:spPr>
        <p:txBody>
          <a:bodyPr wrap="square" lIns="0" tIns="0" rIns="0" bIns="0" rtlCol="0" anchor="t"/>
          <a:lstStyle/>
          <a:p>
            <a:pPr indent="0" marL="0">
              <a:spcAft>
                <a:spcPts val="400"/>
              </a:spcAft>
              <a:buNone/>
            </a:pPr>
            <a:r>
              <a:rPr lang="en-US" sz="1250" dirty="0">
                <a:solidFill>
                  <a:srgbClr val="3D4453"/>
                </a:solidFill>
              </a:rPr>
              <a:t>Tableau and Power BI before every session: which KPI is below target, on how many surveys, and the ITG split between right guide picked and completed.</a:t>
            </a:r>
            <a:endParaRPr lang="en-US" sz="1250" dirty="0"/>
          </a:p>
        </p:txBody>
      </p:sp>
      <p:sp>
        <p:nvSpPr>
          <p:cNvPr id="9" name="Step 2 card"/>
          <p:cNvSpPr/>
          <p:nvPr/>
        </p:nvSpPr>
        <p:spPr>
          <a:xfrm>
            <a:off x="3390824" y="2011680"/>
            <a:ext cx="2567864" cy="2697480"/>
          </a:xfrm>
          <a:prstGeom prst="roundRect">
            <a:avLst>
              <a:gd name="adj" fmla="val 7122"/>
            </a:avLst>
          </a:prstGeom>
          <a:solidFill>
            <a:srgbClr val="F6F3EE"/>
          </a:solidFill>
          <a:ln w="9525">
            <a:solidFill>
              <a:srgbClr val="E3DED7"/>
            </a:solidFill>
            <a:prstDash val="solid"/>
          </a:ln>
          <a:effectLst>
            <a:outerShdw sx="100000" sy="100000" kx="0" ky="0" algn="bl" rotWithShape="0" blurRad="76200" dist="25400" dir="5400000">
              <a:srgbClr val="000000">
                <a:alpha val="8000"/>
              </a:srgbClr>
            </a:outerShdw>
          </a:effectLst>
        </p:spPr>
      </p:sp>
      <p:sp>
        <p:nvSpPr>
          <p:cNvPr id="10" name="Icon circle"/>
          <p:cNvSpPr/>
          <p:nvPr/>
        </p:nvSpPr>
        <p:spPr>
          <a:xfrm>
            <a:off x="3619424" y="2240280"/>
            <a:ext cx="566928" cy="566928"/>
          </a:xfrm>
          <a:prstGeom prst="ellipse">
            <a:avLst/>
          </a:prstGeom>
          <a:solidFill>
            <a:srgbClr val="FDE9DF"/>
          </a:solidFill>
          <a:ln/>
        </p:spPr>
      </p:sp>
      <p:pic>
        <p:nvPicPr>
          <p:cNvPr id="11" name="Icon" descr="preencoded.png">    </p:cNvPr>
          <p:cNvPicPr>
            <a:picLocks noChangeAspect="1"/>
          </p:cNvPicPr>
          <p:nvPr/>
        </p:nvPicPr>
        <p:blipFill>
          <a:blip r:embed="rId2"/>
          <a:stretch>
            <a:fillRect/>
          </a:stretch>
        </p:blipFill>
        <p:spPr>
          <a:xfrm>
            <a:off x="3755487" y="2376343"/>
            <a:ext cx="294803" cy="294803"/>
          </a:xfrm>
          <a:prstGeom prst="rect">
            <a:avLst/>
          </a:prstGeom>
        </p:spPr>
      </p:pic>
      <p:sp>
        <p:nvSpPr>
          <p:cNvPr id="12" name="Step title"/>
          <p:cNvSpPr txBox="1"/>
          <p:nvPr/>
        </p:nvSpPr>
        <p:spPr>
          <a:xfrm>
            <a:off x="3619424" y="2971800"/>
            <a:ext cx="2110664" cy="384048"/>
          </a:xfrm>
          <a:prstGeom prst="rect">
            <a:avLst/>
          </a:prstGeom>
          <a:noFill/>
          <a:ln/>
        </p:spPr>
        <p:txBody>
          <a:bodyPr wrap="square" lIns="0" tIns="0" rIns="0" bIns="0" rtlCol="0" anchor="ctr"/>
          <a:lstStyle/>
          <a:p>
            <a:pPr indent="0" marL="0">
              <a:buNone/>
            </a:pPr>
            <a:r>
              <a:rPr lang="en-US" sz="1600" b="1" dirty="0">
                <a:solidFill>
                  <a:srgbClr val="C94A10"/>
                </a:solidFill>
              </a:rPr>
              <a:t>2</a:t>
            </a:r>
            <a:pPr indent="0" marL="0">
              <a:buNone/>
            </a:pPr>
            <a:r>
              <a:rPr lang="en-US" sz="1600" b="1" dirty="0">
                <a:solidFill>
                  <a:srgbClr val="121826"/>
                </a:solidFill>
              </a:rPr>
              <a:t>  Calls</a:t>
            </a:r>
            <a:endParaRPr lang="en-US" sz="1600" dirty="0"/>
          </a:p>
        </p:txBody>
      </p:sp>
      <p:sp>
        <p:nvSpPr>
          <p:cNvPr id="13" name="Paragraph"/>
          <p:cNvSpPr txBox="1"/>
          <p:nvPr/>
        </p:nvSpPr>
        <p:spPr>
          <a:xfrm>
            <a:off x="3619424" y="3383280"/>
            <a:ext cx="2110664" cy="1188720"/>
          </a:xfrm>
          <a:prstGeom prst="rect">
            <a:avLst/>
          </a:prstGeom>
          <a:noFill/>
          <a:ln/>
        </p:spPr>
        <p:txBody>
          <a:bodyPr wrap="square" lIns="0" tIns="0" rIns="0" bIns="0" rtlCol="0" anchor="t"/>
          <a:lstStyle/>
          <a:p>
            <a:pPr indent="0" marL="0">
              <a:spcAft>
                <a:spcPts val="400"/>
              </a:spcAft>
              <a:buNone/>
            </a:pPr>
            <a:r>
              <a:rPr lang="en-US" sz="1250" dirty="0">
                <a:solidFill>
                  <a:srgbClr val="3D4453"/>
                </a:solidFill>
              </a:rPr>
              <a:t>Two to four calls per agent on i3, time-stamped. The session is built from what I heard, never from the score alone.</a:t>
            </a:r>
            <a:endParaRPr lang="en-US" sz="1250" dirty="0"/>
          </a:p>
        </p:txBody>
      </p:sp>
      <p:sp>
        <p:nvSpPr>
          <p:cNvPr id="14" name="Step 3 card"/>
          <p:cNvSpPr/>
          <p:nvPr/>
        </p:nvSpPr>
        <p:spPr>
          <a:xfrm>
            <a:off x="6233008" y="2011680"/>
            <a:ext cx="2567864" cy="2697480"/>
          </a:xfrm>
          <a:prstGeom prst="roundRect">
            <a:avLst>
              <a:gd name="adj" fmla="val 7122"/>
            </a:avLst>
          </a:prstGeom>
          <a:solidFill>
            <a:srgbClr val="F6F3EE"/>
          </a:solidFill>
          <a:ln w="9525">
            <a:solidFill>
              <a:srgbClr val="E3DED7"/>
            </a:solidFill>
            <a:prstDash val="solid"/>
          </a:ln>
          <a:effectLst>
            <a:outerShdw sx="100000" sy="100000" kx="0" ky="0" algn="bl" rotWithShape="0" blurRad="76200" dist="25400" dir="5400000">
              <a:srgbClr val="000000">
                <a:alpha val="8000"/>
              </a:srgbClr>
            </a:outerShdw>
          </a:effectLst>
        </p:spPr>
      </p:sp>
      <p:sp>
        <p:nvSpPr>
          <p:cNvPr id="15" name="Icon circle"/>
          <p:cNvSpPr/>
          <p:nvPr/>
        </p:nvSpPr>
        <p:spPr>
          <a:xfrm>
            <a:off x="6461608" y="2240280"/>
            <a:ext cx="566928" cy="566928"/>
          </a:xfrm>
          <a:prstGeom prst="ellipse">
            <a:avLst/>
          </a:prstGeom>
          <a:solidFill>
            <a:srgbClr val="FDE9DF"/>
          </a:solidFill>
          <a:ln/>
        </p:spPr>
      </p:sp>
      <p:pic>
        <p:nvPicPr>
          <p:cNvPr id="16" name="Icon" descr="preencoded.png">    </p:cNvPr>
          <p:cNvPicPr>
            <a:picLocks noChangeAspect="1"/>
          </p:cNvPicPr>
          <p:nvPr/>
        </p:nvPicPr>
        <p:blipFill>
          <a:blip r:embed="rId3"/>
          <a:stretch>
            <a:fillRect/>
          </a:stretch>
        </p:blipFill>
        <p:spPr>
          <a:xfrm>
            <a:off x="6597670" y="2376343"/>
            <a:ext cx="294803" cy="294803"/>
          </a:xfrm>
          <a:prstGeom prst="rect">
            <a:avLst/>
          </a:prstGeom>
        </p:spPr>
      </p:pic>
      <p:sp>
        <p:nvSpPr>
          <p:cNvPr id="17" name="Step title"/>
          <p:cNvSpPr txBox="1"/>
          <p:nvPr/>
        </p:nvSpPr>
        <p:spPr>
          <a:xfrm>
            <a:off x="6461608" y="2971800"/>
            <a:ext cx="2110664" cy="384048"/>
          </a:xfrm>
          <a:prstGeom prst="rect">
            <a:avLst/>
          </a:prstGeom>
          <a:noFill/>
          <a:ln/>
        </p:spPr>
        <p:txBody>
          <a:bodyPr wrap="square" lIns="0" tIns="0" rIns="0" bIns="0" rtlCol="0" anchor="ctr"/>
          <a:lstStyle/>
          <a:p>
            <a:pPr indent="0" marL="0">
              <a:buNone/>
            </a:pPr>
            <a:r>
              <a:rPr lang="en-US" sz="1600" b="1" dirty="0">
                <a:solidFill>
                  <a:srgbClr val="C94A10"/>
                </a:solidFill>
              </a:rPr>
              <a:t>3</a:t>
            </a:r>
            <a:pPr indent="0" marL="0">
              <a:buNone/>
            </a:pPr>
            <a:r>
              <a:rPr lang="en-US" sz="1600" b="1" dirty="0">
                <a:solidFill>
                  <a:srgbClr val="121826"/>
                </a:solidFill>
              </a:rPr>
              <a:t>  Ask before I tell</a:t>
            </a:r>
            <a:endParaRPr lang="en-US" sz="1600" dirty="0"/>
          </a:p>
        </p:txBody>
      </p:sp>
      <p:sp>
        <p:nvSpPr>
          <p:cNvPr id="18" name="Paragraph"/>
          <p:cNvSpPr txBox="1"/>
          <p:nvPr/>
        </p:nvSpPr>
        <p:spPr>
          <a:xfrm>
            <a:off x="6461608" y="3383280"/>
            <a:ext cx="2110664" cy="1188720"/>
          </a:xfrm>
          <a:prstGeom prst="rect">
            <a:avLst/>
          </a:prstGeom>
          <a:noFill/>
          <a:ln/>
        </p:spPr>
        <p:txBody>
          <a:bodyPr wrap="square" lIns="0" tIns="0" rIns="0" bIns="0" rtlCol="0" anchor="t"/>
          <a:lstStyle/>
          <a:p>
            <a:pPr indent="0" marL="0">
              <a:spcAft>
                <a:spcPts val="400"/>
              </a:spcAft>
              <a:buNone/>
            </a:pPr>
            <a:r>
              <a:rPr lang="en-US" sz="1250" dirty="0">
                <a:solidFill>
                  <a:srgbClr val="3D4453"/>
                </a:solidFill>
              </a:rPr>
              <a:t>Rapport first, then the agent listens to the call and self-assesses. “How do you feel that went?” “What was in your head at that moment?”</a:t>
            </a:r>
            <a:endParaRPr lang="en-US" sz="1250" dirty="0"/>
          </a:p>
        </p:txBody>
      </p:sp>
      <p:sp>
        <p:nvSpPr>
          <p:cNvPr id="19" name="Step 4 card"/>
          <p:cNvSpPr/>
          <p:nvPr/>
        </p:nvSpPr>
        <p:spPr>
          <a:xfrm>
            <a:off x="9075191" y="2011680"/>
            <a:ext cx="2567864" cy="2697480"/>
          </a:xfrm>
          <a:prstGeom prst="roundRect">
            <a:avLst>
              <a:gd name="adj" fmla="val 7122"/>
            </a:avLst>
          </a:prstGeom>
          <a:solidFill>
            <a:srgbClr val="121826"/>
          </a:solidFill>
          <a:ln w="9525">
            <a:solidFill>
              <a:srgbClr val="121826"/>
            </a:solidFill>
            <a:prstDash val="solid"/>
          </a:ln>
          <a:effectLst>
            <a:outerShdw sx="100000" sy="100000" kx="0" ky="0" algn="bl" rotWithShape="0" blurRad="76200" dist="25400" dir="5400000">
              <a:srgbClr val="000000">
                <a:alpha val="8000"/>
              </a:srgbClr>
            </a:outerShdw>
          </a:effectLst>
        </p:spPr>
      </p:sp>
      <p:sp>
        <p:nvSpPr>
          <p:cNvPr id="20" name="Icon circle"/>
          <p:cNvSpPr/>
          <p:nvPr/>
        </p:nvSpPr>
        <p:spPr>
          <a:xfrm>
            <a:off x="9303791" y="2240280"/>
            <a:ext cx="566928" cy="566928"/>
          </a:xfrm>
          <a:prstGeom prst="ellipse">
            <a:avLst/>
          </a:prstGeom>
          <a:solidFill>
            <a:srgbClr val="F26522"/>
          </a:solidFill>
          <a:ln/>
        </p:spPr>
      </p:sp>
      <p:pic>
        <p:nvPicPr>
          <p:cNvPr id="21" name="Icon" descr="preencoded.png">    </p:cNvPr>
          <p:cNvPicPr>
            <a:picLocks noChangeAspect="1"/>
          </p:cNvPicPr>
          <p:nvPr/>
        </p:nvPicPr>
        <p:blipFill>
          <a:blip r:embed="rId4"/>
          <a:stretch>
            <a:fillRect/>
          </a:stretch>
        </p:blipFill>
        <p:spPr>
          <a:xfrm>
            <a:off x="9439854" y="2376343"/>
            <a:ext cx="294803" cy="294803"/>
          </a:xfrm>
          <a:prstGeom prst="rect">
            <a:avLst/>
          </a:prstGeom>
        </p:spPr>
      </p:pic>
      <p:sp>
        <p:nvSpPr>
          <p:cNvPr id="22" name="Step title"/>
          <p:cNvSpPr txBox="1"/>
          <p:nvPr/>
        </p:nvSpPr>
        <p:spPr>
          <a:xfrm>
            <a:off x="9303791" y="2971800"/>
            <a:ext cx="2110664" cy="384048"/>
          </a:xfrm>
          <a:prstGeom prst="rect">
            <a:avLst/>
          </a:prstGeom>
          <a:noFill/>
          <a:ln/>
        </p:spPr>
        <p:txBody>
          <a:bodyPr wrap="square" lIns="0" tIns="0" rIns="0" bIns="0" rtlCol="0" anchor="ctr"/>
          <a:lstStyle/>
          <a:p>
            <a:pPr indent="0" marL="0">
              <a:buNone/>
            </a:pPr>
            <a:r>
              <a:rPr lang="en-US" sz="1600" b="1" dirty="0">
                <a:solidFill>
                  <a:srgbClr val="F26522"/>
                </a:solidFill>
              </a:rPr>
              <a:t>4</a:t>
            </a:r>
            <a:pPr indent="0" marL="0">
              <a:buNone/>
            </a:pPr>
            <a:r>
              <a:rPr lang="en-US" sz="1600" b="1" dirty="0">
                <a:solidFill>
                  <a:srgbClr val="FFFFFF"/>
                </a:solidFill>
              </a:rPr>
              <a:t>  Cause, not symptom</a:t>
            </a:r>
            <a:endParaRPr lang="en-US" sz="1600" dirty="0"/>
          </a:p>
        </p:txBody>
      </p:sp>
      <p:sp>
        <p:nvSpPr>
          <p:cNvPr id="23" name="Paragraph"/>
          <p:cNvSpPr txBox="1"/>
          <p:nvPr/>
        </p:nvSpPr>
        <p:spPr>
          <a:xfrm>
            <a:off x="9303791" y="3383280"/>
            <a:ext cx="2110664" cy="1188720"/>
          </a:xfrm>
          <a:prstGeom prst="rect">
            <a:avLst/>
          </a:prstGeom>
          <a:noFill/>
          <a:ln/>
        </p:spPr>
        <p:txBody>
          <a:bodyPr wrap="square" lIns="0" tIns="0" rIns="0" bIns="0" rtlCol="0" anchor="t"/>
          <a:lstStyle/>
          <a:p>
            <a:pPr indent="0" marL="0">
              <a:spcAft>
                <a:spcPts val="400"/>
              </a:spcAft>
              <a:buNone/>
            </a:pPr>
            <a:r>
              <a:rPr lang="en-US" sz="1250" dirty="0">
                <a:solidFill>
                  <a:srgbClr val="D9DDE6"/>
                </a:solidFill>
              </a:rPr>
              <a:t>One agent’s long mutes looked like avoidance. He was searching, so I coached hold technique. Tentative wording looked like low confidence. It was ITG knowledge.</a:t>
            </a:r>
            <a:endParaRPr lang="en-US" sz="1250" dirty="0"/>
          </a:p>
        </p:txBody>
      </p:sp>
      <p:sp>
        <p:nvSpPr>
          <p:cNvPr id="24" name="New-hire band"/>
          <p:cNvSpPr/>
          <p:nvPr/>
        </p:nvSpPr>
        <p:spPr>
          <a:xfrm>
            <a:off x="548640" y="4983480"/>
            <a:ext cx="11094415" cy="1143000"/>
          </a:xfrm>
          <a:prstGeom prst="roundRect">
            <a:avLst>
              <a:gd name="adj" fmla="val 12000"/>
            </a:avLst>
          </a:prstGeom>
          <a:solidFill>
            <a:srgbClr val="FDE9DF"/>
          </a:solidFill>
          <a:ln/>
        </p:spPr>
      </p:sp>
      <p:sp>
        <p:nvSpPr>
          <p:cNvPr id="25" name="Icon circle"/>
          <p:cNvSpPr/>
          <p:nvPr/>
        </p:nvSpPr>
        <p:spPr>
          <a:xfrm>
            <a:off x="768096" y="5271516"/>
            <a:ext cx="566928" cy="566928"/>
          </a:xfrm>
          <a:prstGeom prst="ellipse">
            <a:avLst/>
          </a:prstGeom>
          <a:solidFill>
            <a:srgbClr val="F26522"/>
          </a:solidFill>
          <a:ln/>
        </p:spPr>
      </p:sp>
      <p:pic>
        <p:nvPicPr>
          <p:cNvPr id="26" name="Icon" descr="preencoded.png">    </p:cNvPr>
          <p:cNvPicPr>
            <a:picLocks noChangeAspect="1"/>
          </p:cNvPicPr>
          <p:nvPr/>
        </p:nvPicPr>
        <p:blipFill>
          <a:blip r:embed="rId5"/>
          <a:stretch>
            <a:fillRect/>
          </a:stretch>
        </p:blipFill>
        <p:spPr>
          <a:xfrm>
            <a:off x="904159" y="5407579"/>
            <a:ext cx="294803" cy="294803"/>
          </a:xfrm>
          <a:prstGeom prst="rect">
            <a:avLst/>
          </a:prstGeom>
        </p:spPr>
      </p:pic>
      <p:sp>
        <p:nvSpPr>
          <p:cNvPr id="27" name="Band lead"/>
          <p:cNvSpPr txBox="1"/>
          <p:nvPr/>
        </p:nvSpPr>
        <p:spPr>
          <a:xfrm>
            <a:off x="1554480" y="5093208"/>
            <a:ext cx="4206240" cy="923544"/>
          </a:xfrm>
          <a:prstGeom prst="rect">
            <a:avLst/>
          </a:prstGeom>
          <a:noFill/>
          <a:ln/>
        </p:spPr>
        <p:txBody>
          <a:bodyPr wrap="square" lIns="0" tIns="0" rIns="0" bIns="0" rtlCol="0" anchor="ctr"/>
          <a:lstStyle/>
          <a:p>
            <a:pPr indent="0" marL="0">
              <a:buNone/>
            </a:pPr>
            <a:r>
              <a:rPr lang="en-US" sz="1250" b="1" dirty="0">
                <a:solidFill>
                  <a:srgbClr val="121826"/>
                </a:solidFill>
              </a:rPr>
              <a:t>New hires cannot self-assess yet, </a:t>
            </a:r>
            <a:pPr indent="0" marL="0">
              <a:buNone/>
            </a:pPr>
            <a:r>
              <a:rPr lang="en-US" sz="1250" dirty="0">
                <a:solidFill>
                  <a:srgbClr val="121826"/>
                </a:solidFill>
              </a:rPr>
              <a:t>so I direct more and loop faster. Most blame the customer at first, so I let them try, then I direct, and I check the next calls fast.</a:t>
            </a:r>
            <a:endParaRPr lang="en-US" sz="1250" dirty="0"/>
          </a:p>
        </p:txBody>
      </p:sp>
      <p:sp>
        <p:nvSpPr>
          <p:cNvPr id="28" name="Stat number"/>
          <p:cNvSpPr txBox="1"/>
          <p:nvPr/>
        </p:nvSpPr>
        <p:spPr>
          <a:xfrm>
            <a:off x="6126480" y="5166360"/>
            <a:ext cx="1671218" cy="440690"/>
          </a:xfrm>
          <a:prstGeom prst="rect">
            <a:avLst/>
          </a:prstGeom>
          <a:noFill/>
          <a:ln/>
        </p:spPr>
        <p:txBody>
          <a:bodyPr wrap="square" lIns="0" tIns="0" rIns="0" bIns="0" rtlCol="0" anchor="b"/>
          <a:lstStyle/>
          <a:p>
            <a:pPr indent="0" marL="0">
              <a:buNone/>
            </a:pPr>
            <a:r>
              <a:rPr lang="en-US" sz="2200" b="1" dirty="0">
                <a:solidFill>
                  <a:srgbClr val="C94A10"/>
                </a:solidFill>
              </a:rPr>
              <a:t>15 to 30</a:t>
            </a:r>
            <a:endParaRPr lang="en-US" sz="2200" dirty="0"/>
          </a:p>
        </p:txBody>
      </p:sp>
      <p:sp>
        <p:nvSpPr>
          <p:cNvPr id="29" name="Stat caption"/>
          <p:cNvSpPr txBox="1"/>
          <p:nvPr/>
        </p:nvSpPr>
        <p:spPr>
          <a:xfrm>
            <a:off x="6126480" y="5625338"/>
            <a:ext cx="1671218" cy="384048"/>
          </a:xfrm>
          <a:prstGeom prst="rect">
            <a:avLst/>
          </a:prstGeom>
          <a:noFill/>
          <a:ln/>
        </p:spPr>
        <p:txBody>
          <a:bodyPr wrap="square" lIns="0" tIns="0" rIns="0" bIns="0" rtlCol="0" anchor="t"/>
          <a:lstStyle/>
          <a:p>
            <a:pPr indent="0" marL="0">
              <a:buNone/>
            </a:pPr>
            <a:r>
              <a:rPr lang="en-US" sz="1100" dirty="0">
                <a:solidFill>
                  <a:srgbClr val="3D4453"/>
                </a:solidFill>
              </a:rPr>
              <a:t>minutes per session, one focus</a:t>
            </a:r>
            <a:endParaRPr lang="en-US" sz="1100" dirty="0"/>
          </a:p>
        </p:txBody>
      </p:sp>
      <p:sp>
        <p:nvSpPr>
          <p:cNvPr id="30" name="Stat number"/>
          <p:cNvSpPr txBox="1"/>
          <p:nvPr/>
        </p:nvSpPr>
        <p:spPr>
          <a:xfrm>
            <a:off x="7934858" y="5166360"/>
            <a:ext cx="1671218" cy="440690"/>
          </a:xfrm>
          <a:prstGeom prst="rect">
            <a:avLst/>
          </a:prstGeom>
          <a:noFill/>
          <a:ln/>
        </p:spPr>
        <p:txBody>
          <a:bodyPr wrap="square" lIns="0" tIns="0" rIns="0" bIns="0" rtlCol="0" anchor="b"/>
          <a:lstStyle/>
          <a:p>
            <a:pPr indent="0" marL="0">
              <a:buNone/>
            </a:pPr>
            <a:r>
              <a:rPr lang="en-US" sz="2200" b="1" dirty="0">
                <a:solidFill>
                  <a:srgbClr val="C94A10"/>
                </a:solidFill>
              </a:rPr>
              <a:t>Same day</a:t>
            </a:r>
            <a:endParaRPr lang="en-US" sz="2200" dirty="0"/>
          </a:p>
        </p:txBody>
      </p:sp>
      <p:sp>
        <p:nvSpPr>
          <p:cNvPr id="31" name="Stat caption"/>
          <p:cNvSpPr txBox="1"/>
          <p:nvPr/>
        </p:nvSpPr>
        <p:spPr>
          <a:xfrm>
            <a:off x="7934858" y="5625338"/>
            <a:ext cx="1671218" cy="384048"/>
          </a:xfrm>
          <a:prstGeom prst="rect">
            <a:avLst/>
          </a:prstGeom>
          <a:noFill/>
          <a:ln/>
        </p:spPr>
        <p:txBody>
          <a:bodyPr wrap="square" lIns="0" tIns="0" rIns="0" bIns="0" rtlCol="0" anchor="t"/>
          <a:lstStyle/>
          <a:p>
            <a:pPr indent="0" marL="0">
              <a:buNone/>
            </a:pPr>
            <a:r>
              <a:rPr lang="en-US" sz="1100" dirty="0">
                <a:solidFill>
                  <a:srgbClr val="3D4453"/>
                </a:solidFill>
              </a:rPr>
              <a:t>or next day, follow-up calls</a:t>
            </a:r>
            <a:endParaRPr lang="en-US" sz="1100" dirty="0"/>
          </a:p>
        </p:txBody>
      </p:sp>
      <p:sp>
        <p:nvSpPr>
          <p:cNvPr id="32" name="Stat number"/>
          <p:cNvSpPr txBox="1"/>
          <p:nvPr/>
        </p:nvSpPr>
        <p:spPr>
          <a:xfrm>
            <a:off x="9743237" y="5166360"/>
            <a:ext cx="1671218" cy="440690"/>
          </a:xfrm>
          <a:prstGeom prst="rect">
            <a:avLst/>
          </a:prstGeom>
          <a:noFill/>
          <a:ln/>
        </p:spPr>
        <p:txBody>
          <a:bodyPr wrap="square" lIns="0" tIns="0" rIns="0" bIns="0" rtlCol="0" anchor="b"/>
          <a:lstStyle/>
          <a:p>
            <a:pPr indent="0" marL="0">
              <a:buNone/>
            </a:pPr>
            <a:r>
              <a:rPr lang="en-US" sz="2200" b="1" dirty="0">
                <a:solidFill>
                  <a:srgbClr val="C94A10"/>
                </a:solidFill>
              </a:rPr>
              <a:t>2 to 3</a:t>
            </a:r>
            <a:endParaRPr lang="en-US" sz="2200" dirty="0"/>
          </a:p>
        </p:txBody>
      </p:sp>
      <p:sp>
        <p:nvSpPr>
          <p:cNvPr id="33" name="Stat caption"/>
          <p:cNvSpPr txBox="1"/>
          <p:nvPr/>
        </p:nvSpPr>
        <p:spPr>
          <a:xfrm>
            <a:off x="9743237" y="5625338"/>
            <a:ext cx="1671218" cy="384048"/>
          </a:xfrm>
          <a:prstGeom prst="rect">
            <a:avLst/>
          </a:prstGeom>
          <a:noFill/>
          <a:ln/>
        </p:spPr>
        <p:txBody>
          <a:bodyPr wrap="square" lIns="0" tIns="0" rIns="0" bIns="0" rtlCol="0" anchor="t"/>
          <a:lstStyle/>
          <a:p>
            <a:pPr indent="0" marL="0">
              <a:buNone/>
            </a:pPr>
            <a:r>
              <a:rPr lang="en-US" sz="1100" dirty="0">
                <a:solidFill>
                  <a:srgbClr val="3D4453"/>
                </a:solidFill>
              </a:rPr>
              <a:t>follow-ups for the bottom quartile</a:t>
            </a:r>
            <a:endParaRPr lang="en-US" sz="11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7280"/>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Eyebrow"/>
          <p:cNvSpPr txBox="1"/>
          <p:nvPr/>
        </p:nvSpPr>
        <p:spPr>
          <a:xfrm>
            <a:off x="548640" y="457200"/>
            <a:ext cx="8229600" cy="274320"/>
          </a:xfrm>
          <a:prstGeom prst="rect">
            <a:avLst/>
          </a:prstGeom>
          <a:noFill/>
          <a:ln/>
        </p:spPr>
        <p:txBody>
          <a:bodyPr wrap="square" lIns="0" tIns="0" rIns="0" bIns="0" rtlCol="0" anchor="ctr"/>
          <a:lstStyle/>
          <a:p>
            <a:pPr indent="0" marL="0">
              <a:buNone/>
            </a:pPr>
            <a:r>
              <a:rPr lang="en-US" sz="1200" b="1" spc="300" kern="0" dirty="0">
                <a:solidFill>
                  <a:srgbClr val="F26522"/>
                </a:solidFill>
              </a:rPr>
              <a:t>ONE FOCUS PER SESSION, MEASURED ON CALLS BEFORE SURVEYS</a:t>
            </a:r>
            <a:endParaRPr lang="en-US" sz="1200" dirty="0"/>
          </a:p>
        </p:txBody>
      </p:sp>
      <p:sp>
        <p:nvSpPr>
          <p:cNvPr id="3" name="Text 0"/>
          <p:cNvSpPr/>
          <p:nvPr>
            <p:ph idx="100" type="title" hasCustomPrompt="1"/>
          </p:nvPr>
        </p:nvSpPr>
        <p:spPr>
          <a:xfrm>
            <a:off x="548640" y="804672"/>
            <a:ext cx="11094415" cy="1097280"/>
          </a:xfrm>
          <a:prstGeom prst="rect">
            <a:avLst/>
          </a:prstGeom>
          <a:noFill/>
          <a:ln/>
        </p:spPr>
        <p:txBody>
          <a:bodyPr wrap="square" lIns="0" tIns="0" rIns="0" bIns="0" rtlCol="0" anchor="t"/>
          <a:lstStyle/>
          <a:p>
            <a:pPr algn="l" indent="0" marL="0">
              <a:buNone/>
            </a:pPr>
            <a:r>
              <a:rPr lang="en-US" sz="3200" b="1" dirty="0">
                <a:solidFill>
                  <a:schemeClr val="bg1"/>
                </a:solidFill>
              </a:rPr>
              <a:t>Kareem Gharib, 25 days: one behavior, one cause,</a:t>
            </a:r>
            <a:endParaRPr lang="en-US" sz="3200" dirty="0"/>
          </a:p>
          <a:p>
            <a:pPr algn="l" indent="0" marL="0">
              <a:buNone/>
            </a:pPr>
            <a:r>
              <a:rPr lang="en-US" sz="3200" b="1" dirty="0">
                <a:solidFill>
                  <a:schemeClr val="bg1"/>
                </a:solidFill>
              </a:rPr>
              <a:t>both sides commit, dates on everything</a:t>
            </a:r>
            <a:endParaRPr lang="en-US" sz="3200" dirty="0"/>
          </a:p>
        </p:txBody>
      </p:sp>
      <p:sp>
        <p:nvSpPr>
          <p:cNvPr id="4" name="Session card"/>
          <p:cNvSpPr/>
          <p:nvPr/>
        </p:nvSpPr>
        <p:spPr>
          <a:xfrm>
            <a:off x="548640" y="2011680"/>
            <a:ext cx="5760720" cy="4114800"/>
          </a:xfrm>
          <a:prstGeom prst="roundRect">
            <a:avLst>
              <a:gd name="adj" fmla="val 4444"/>
            </a:avLst>
          </a:prstGeom>
          <a:solidFill>
            <a:srgbClr val="1C2437"/>
          </a:solidFill>
          <a:ln/>
        </p:spPr>
      </p:sp>
      <p:sp>
        <p:nvSpPr>
          <p:cNvPr id="5" name="Commitments card"/>
          <p:cNvSpPr/>
          <p:nvPr/>
        </p:nvSpPr>
        <p:spPr>
          <a:xfrm>
            <a:off x="6629400" y="2011680"/>
            <a:ext cx="5013655" cy="4114800"/>
          </a:xfrm>
          <a:prstGeom prst="roundRect">
            <a:avLst>
              <a:gd name="adj" fmla="val 4444"/>
            </a:avLst>
          </a:prstGeom>
          <a:solidFill>
            <a:srgbClr val="F6F3EE"/>
          </a:solidFill>
          <a:ln/>
        </p:spPr>
      </p:sp>
      <p:sp>
        <p:nvSpPr>
          <p:cNvPr id="6" name="Label"/>
          <p:cNvSpPr txBox="1"/>
          <p:nvPr/>
        </p:nvSpPr>
        <p:spPr>
          <a:xfrm>
            <a:off x="822960" y="2221992"/>
            <a:ext cx="5212080" cy="237744"/>
          </a:xfrm>
          <a:prstGeom prst="rect">
            <a:avLst/>
          </a:prstGeom>
          <a:noFill/>
          <a:ln/>
        </p:spPr>
        <p:txBody>
          <a:bodyPr wrap="square" lIns="0" tIns="0" rIns="0" bIns="0" rtlCol="0" anchor="ctr"/>
          <a:lstStyle/>
          <a:p>
            <a:pPr indent="0" marL="0">
              <a:buNone/>
            </a:pPr>
            <a:r>
              <a:rPr lang="en-US" sz="1050" b="1" spc="200" kern="0" dirty="0">
                <a:solidFill>
                  <a:srgbClr val="F26522"/>
                </a:solidFill>
              </a:rPr>
              <a:t>DATA REVIEWED, OCTOBER MTD · BELOW TARGET ON ALL FOUR</a:t>
            </a:r>
            <a:endParaRPr lang="en-US" sz="1050" dirty="0"/>
          </a:p>
        </p:txBody>
      </p:sp>
      <p:sp>
        <p:nvSpPr>
          <p:cNvPr id="7" name="KPI tile"/>
          <p:cNvSpPr/>
          <p:nvPr/>
        </p:nvSpPr>
        <p:spPr>
          <a:xfrm>
            <a:off x="822960" y="2496312"/>
            <a:ext cx="1234440" cy="694944"/>
          </a:xfrm>
          <a:prstGeom prst="roundRect">
            <a:avLst>
              <a:gd name="adj" fmla="val 13158"/>
            </a:avLst>
          </a:prstGeom>
          <a:solidFill>
            <a:srgbClr val="FDE9DF"/>
          </a:solidFill>
          <a:ln/>
        </p:spPr>
      </p:sp>
      <p:sp>
        <p:nvSpPr>
          <p:cNvPr id="8" name="Tile number"/>
          <p:cNvSpPr txBox="1"/>
          <p:nvPr/>
        </p:nvSpPr>
        <p:spPr>
          <a:xfrm>
            <a:off x="859536" y="2542032"/>
            <a:ext cx="1161288" cy="365760"/>
          </a:xfrm>
          <a:prstGeom prst="rect">
            <a:avLst/>
          </a:prstGeom>
          <a:noFill/>
          <a:ln/>
        </p:spPr>
        <p:txBody>
          <a:bodyPr wrap="square" lIns="0" tIns="0" rIns="0" bIns="0" rtlCol="0" anchor="ctr"/>
          <a:lstStyle/>
          <a:p>
            <a:pPr algn="ctr" indent="0" marL="0">
              <a:buNone/>
            </a:pPr>
            <a:r>
              <a:rPr lang="en-US" sz="2000" b="1" dirty="0">
                <a:solidFill>
                  <a:srgbClr val="B42318"/>
                </a:solidFill>
              </a:rPr>
              <a:t>−20</a:t>
            </a:r>
            <a:endParaRPr lang="en-US" sz="2000" dirty="0"/>
          </a:p>
        </p:txBody>
      </p:sp>
      <p:sp>
        <p:nvSpPr>
          <p:cNvPr id="9" name="Tile caption"/>
          <p:cNvSpPr txBox="1"/>
          <p:nvPr/>
        </p:nvSpPr>
        <p:spPr>
          <a:xfrm>
            <a:off x="859536" y="2907792"/>
            <a:ext cx="1161288" cy="237744"/>
          </a:xfrm>
          <a:prstGeom prst="rect">
            <a:avLst/>
          </a:prstGeom>
          <a:noFill/>
          <a:ln/>
        </p:spPr>
        <p:txBody>
          <a:bodyPr wrap="square" lIns="0" tIns="0" rIns="0" bIns="0" rtlCol="0" anchor="ctr"/>
          <a:lstStyle/>
          <a:p>
            <a:pPr algn="ctr" indent="0" marL="0">
              <a:buNone/>
            </a:pPr>
            <a:r>
              <a:rPr lang="en-US" sz="1100" dirty="0">
                <a:solidFill>
                  <a:srgbClr val="3D4453"/>
                </a:solidFill>
              </a:rPr>
              <a:t>tNPS · 15 surveys</a:t>
            </a:r>
            <a:endParaRPr lang="en-US" sz="1100" dirty="0"/>
          </a:p>
        </p:txBody>
      </p:sp>
      <p:sp>
        <p:nvSpPr>
          <p:cNvPr id="10" name="KPI tile"/>
          <p:cNvSpPr/>
          <p:nvPr/>
        </p:nvSpPr>
        <p:spPr>
          <a:xfrm>
            <a:off x="2148840" y="2496312"/>
            <a:ext cx="1234440" cy="694944"/>
          </a:xfrm>
          <a:prstGeom prst="roundRect">
            <a:avLst>
              <a:gd name="adj" fmla="val 13158"/>
            </a:avLst>
          </a:prstGeom>
          <a:solidFill>
            <a:srgbClr val="FDE9DF"/>
          </a:solidFill>
          <a:ln/>
        </p:spPr>
      </p:sp>
      <p:sp>
        <p:nvSpPr>
          <p:cNvPr id="11" name="Tile number"/>
          <p:cNvSpPr txBox="1"/>
          <p:nvPr/>
        </p:nvSpPr>
        <p:spPr>
          <a:xfrm>
            <a:off x="2185416" y="2542032"/>
            <a:ext cx="1161288" cy="365760"/>
          </a:xfrm>
          <a:prstGeom prst="rect">
            <a:avLst/>
          </a:prstGeom>
          <a:noFill/>
          <a:ln/>
        </p:spPr>
        <p:txBody>
          <a:bodyPr wrap="square" lIns="0" tIns="0" rIns="0" bIns="0" rtlCol="0" anchor="ctr"/>
          <a:lstStyle/>
          <a:p>
            <a:pPr algn="ctr" indent="0" marL="0">
              <a:buNone/>
            </a:pPr>
            <a:r>
              <a:rPr lang="en-US" sz="2000" b="1" dirty="0">
                <a:solidFill>
                  <a:srgbClr val="B42318"/>
                </a:solidFill>
              </a:rPr>
              <a:t>53.4%</a:t>
            </a:r>
            <a:endParaRPr lang="en-US" sz="2000" dirty="0"/>
          </a:p>
        </p:txBody>
      </p:sp>
      <p:sp>
        <p:nvSpPr>
          <p:cNvPr id="12" name="Tile caption"/>
          <p:cNvSpPr txBox="1"/>
          <p:nvPr/>
        </p:nvSpPr>
        <p:spPr>
          <a:xfrm>
            <a:off x="2185416" y="2907792"/>
            <a:ext cx="1161288" cy="237744"/>
          </a:xfrm>
          <a:prstGeom prst="rect">
            <a:avLst/>
          </a:prstGeom>
          <a:noFill/>
          <a:ln/>
        </p:spPr>
        <p:txBody>
          <a:bodyPr wrap="square" lIns="0" tIns="0" rIns="0" bIns="0" rtlCol="0" anchor="ctr"/>
          <a:lstStyle/>
          <a:p>
            <a:pPr algn="ctr" indent="0" marL="0">
              <a:buNone/>
            </a:pPr>
            <a:r>
              <a:rPr lang="en-US" sz="1100" dirty="0">
                <a:solidFill>
                  <a:srgbClr val="3D4453"/>
                </a:solidFill>
              </a:rPr>
              <a:t>aiCR · target 62%</a:t>
            </a:r>
            <a:endParaRPr lang="en-US" sz="1100" dirty="0"/>
          </a:p>
        </p:txBody>
      </p:sp>
      <p:sp>
        <p:nvSpPr>
          <p:cNvPr id="13" name="KPI tile"/>
          <p:cNvSpPr/>
          <p:nvPr/>
        </p:nvSpPr>
        <p:spPr>
          <a:xfrm>
            <a:off x="3474720" y="2496312"/>
            <a:ext cx="1234440" cy="694944"/>
          </a:xfrm>
          <a:prstGeom prst="roundRect">
            <a:avLst>
              <a:gd name="adj" fmla="val 13158"/>
            </a:avLst>
          </a:prstGeom>
          <a:solidFill>
            <a:srgbClr val="FDE9DF"/>
          </a:solidFill>
          <a:ln/>
        </p:spPr>
      </p:sp>
      <p:sp>
        <p:nvSpPr>
          <p:cNvPr id="14" name="Tile number"/>
          <p:cNvSpPr txBox="1"/>
          <p:nvPr/>
        </p:nvSpPr>
        <p:spPr>
          <a:xfrm>
            <a:off x="3511296" y="2542032"/>
            <a:ext cx="1161288" cy="365760"/>
          </a:xfrm>
          <a:prstGeom prst="rect">
            <a:avLst/>
          </a:prstGeom>
          <a:noFill/>
          <a:ln/>
        </p:spPr>
        <p:txBody>
          <a:bodyPr wrap="square" lIns="0" tIns="0" rIns="0" bIns="0" rtlCol="0" anchor="ctr"/>
          <a:lstStyle/>
          <a:p>
            <a:pPr algn="ctr" indent="0" marL="0">
              <a:buNone/>
            </a:pPr>
            <a:r>
              <a:rPr lang="en-US" sz="2000" b="1" dirty="0">
                <a:solidFill>
                  <a:srgbClr val="B42318"/>
                </a:solidFill>
              </a:rPr>
              <a:t>0</a:t>
            </a:r>
            <a:endParaRPr lang="en-US" sz="2000" dirty="0"/>
          </a:p>
        </p:txBody>
      </p:sp>
      <p:sp>
        <p:nvSpPr>
          <p:cNvPr id="15" name="Tile caption"/>
          <p:cNvSpPr txBox="1"/>
          <p:nvPr/>
        </p:nvSpPr>
        <p:spPr>
          <a:xfrm>
            <a:off x="3511296" y="2907792"/>
            <a:ext cx="1161288" cy="237744"/>
          </a:xfrm>
          <a:prstGeom prst="rect">
            <a:avLst/>
          </a:prstGeom>
          <a:noFill/>
          <a:ln/>
        </p:spPr>
        <p:txBody>
          <a:bodyPr wrap="square" lIns="0" tIns="0" rIns="0" bIns="0" rtlCol="0" anchor="ctr"/>
          <a:lstStyle/>
          <a:p>
            <a:pPr algn="ctr" indent="0" marL="0">
              <a:buNone/>
            </a:pPr>
            <a:r>
              <a:rPr lang="en-US" sz="1100" dirty="0">
                <a:solidFill>
                  <a:srgbClr val="3D4453"/>
                </a:solidFill>
              </a:rPr>
              <a:t>XM lines · target 4</a:t>
            </a:r>
            <a:endParaRPr lang="en-US" sz="1100" dirty="0"/>
          </a:p>
        </p:txBody>
      </p:sp>
      <p:sp>
        <p:nvSpPr>
          <p:cNvPr id="16" name="KPI tile"/>
          <p:cNvSpPr/>
          <p:nvPr/>
        </p:nvSpPr>
        <p:spPr>
          <a:xfrm>
            <a:off x="4800600" y="2496312"/>
            <a:ext cx="1234440" cy="694944"/>
          </a:xfrm>
          <a:prstGeom prst="roundRect">
            <a:avLst>
              <a:gd name="adj" fmla="val 13158"/>
            </a:avLst>
          </a:prstGeom>
          <a:solidFill>
            <a:srgbClr val="FDE9DF"/>
          </a:solidFill>
          <a:ln/>
        </p:spPr>
      </p:sp>
      <p:sp>
        <p:nvSpPr>
          <p:cNvPr id="17" name="Tile number"/>
          <p:cNvSpPr txBox="1"/>
          <p:nvPr/>
        </p:nvSpPr>
        <p:spPr>
          <a:xfrm>
            <a:off x="4837176" y="2542032"/>
            <a:ext cx="1161288" cy="365760"/>
          </a:xfrm>
          <a:prstGeom prst="rect">
            <a:avLst/>
          </a:prstGeom>
          <a:noFill/>
          <a:ln/>
        </p:spPr>
        <p:txBody>
          <a:bodyPr wrap="square" lIns="0" tIns="0" rIns="0" bIns="0" rtlCol="0" anchor="ctr"/>
          <a:lstStyle/>
          <a:p>
            <a:pPr algn="ctr" indent="0" marL="0">
              <a:buNone/>
            </a:pPr>
            <a:r>
              <a:rPr lang="en-US" sz="2000" b="1" dirty="0">
                <a:solidFill>
                  <a:srgbClr val="B42318"/>
                </a:solidFill>
              </a:rPr>
              <a:t>1.4%</a:t>
            </a:r>
            <a:endParaRPr lang="en-US" sz="2000" dirty="0"/>
          </a:p>
        </p:txBody>
      </p:sp>
      <p:sp>
        <p:nvSpPr>
          <p:cNvPr id="18" name="Tile caption"/>
          <p:cNvSpPr txBox="1"/>
          <p:nvPr/>
        </p:nvSpPr>
        <p:spPr>
          <a:xfrm>
            <a:off x="4837176" y="2907792"/>
            <a:ext cx="1161288" cy="237744"/>
          </a:xfrm>
          <a:prstGeom prst="rect">
            <a:avLst/>
          </a:prstGeom>
          <a:noFill/>
          <a:ln/>
        </p:spPr>
        <p:txBody>
          <a:bodyPr wrap="square" lIns="0" tIns="0" rIns="0" bIns="0" rtlCol="0" anchor="ctr"/>
          <a:lstStyle/>
          <a:p>
            <a:pPr algn="ctr" indent="0" marL="0">
              <a:buNone/>
            </a:pPr>
            <a:r>
              <a:rPr lang="en-US" sz="1100" dirty="0">
                <a:solidFill>
                  <a:srgbClr val="3D4453"/>
                </a:solidFill>
              </a:rPr>
              <a:t>GSR · target 8%</a:t>
            </a:r>
            <a:endParaRPr lang="en-US" sz="1100" dirty="0"/>
          </a:p>
        </p:txBody>
      </p:sp>
      <p:sp>
        <p:nvSpPr>
          <p:cNvPr id="19" name="Paragraph"/>
          <p:cNvSpPr txBox="1"/>
          <p:nvPr/>
        </p:nvSpPr>
        <p:spPr>
          <a:xfrm>
            <a:off x="822960" y="3264408"/>
            <a:ext cx="5212080" cy="237744"/>
          </a:xfrm>
          <a:prstGeom prst="rect">
            <a:avLst/>
          </a:prstGeom>
          <a:noFill/>
          <a:ln/>
        </p:spPr>
        <p:txBody>
          <a:bodyPr wrap="square" lIns="0" tIns="0" rIns="0" bIns="0" rtlCol="0" anchor="t"/>
          <a:lstStyle/>
          <a:p>
            <a:pPr indent="0" marL="0">
              <a:spcAft>
                <a:spcPts val="400"/>
              </a:spcAft>
              <a:buNone/>
            </a:pPr>
            <a:r>
              <a:rPr lang="en-US" sz="1100" dirty="0">
                <a:solidFill>
                  <a:srgbClr val="8C96AC"/>
                </a:solidFill>
              </a:rPr>
              <a:t>Rank 205 of 220 · 143 calls · three calls reviewed from October 13 and 14</a:t>
            </a:r>
            <a:endParaRPr lang="en-US" sz="1100" dirty="0"/>
          </a:p>
        </p:txBody>
      </p:sp>
      <p:sp>
        <p:nvSpPr>
          <p:cNvPr id="20" name="Label"/>
          <p:cNvSpPr txBox="1"/>
          <p:nvPr/>
        </p:nvSpPr>
        <p:spPr>
          <a:xfrm>
            <a:off x="822960" y="3648456"/>
            <a:ext cx="5212080" cy="237744"/>
          </a:xfrm>
          <a:prstGeom prst="rect">
            <a:avLst/>
          </a:prstGeom>
          <a:noFill/>
          <a:ln/>
        </p:spPr>
        <p:txBody>
          <a:bodyPr wrap="square" lIns="0" tIns="0" rIns="0" bIns="0" rtlCol="0" anchor="ctr"/>
          <a:lstStyle/>
          <a:p>
            <a:pPr indent="0" marL="0">
              <a:buNone/>
            </a:pPr>
            <a:r>
              <a:rPr lang="en-US" sz="1050" b="1" spc="200" kern="0" dirty="0">
                <a:solidFill>
                  <a:srgbClr val="F26522"/>
                </a:solidFill>
              </a:rPr>
              <a:t>IN THE AGENT’S WORDS</a:t>
            </a:r>
            <a:endParaRPr lang="en-US" sz="1050" dirty="0"/>
          </a:p>
        </p:txBody>
      </p:sp>
      <p:sp>
        <p:nvSpPr>
          <p:cNvPr id="21" name="Paragraph"/>
          <p:cNvSpPr txBox="1"/>
          <p:nvPr/>
        </p:nvSpPr>
        <p:spPr>
          <a:xfrm>
            <a:off x="822960" y="3904488"/>
            <a:ext cx="5212080" cy="245364"/>
          </a:xfrm>
          <a:prstGeom prst="rect">
            <a:avLst/>
          </a:prstGeom>
          <a:noFill/>
          <a:ln/>
        </p:spPr>
        <p:txBody>
          <a:bodyPr wrap="square" lIns="0" tIns="0" rIns="0" bIns="0" rtlCol="0" anchor="t"/>
          <a:lstStyle/>
          <a:p>
            <a:pPr indent="0" marL="0">
              <a:spcAft>
                <a:spcPts val="400"/>
              </a:spcAft>
              <a:buNone/>
            </a:pPr>
            <a:r>
              <a:rPr lang="en-US" sz="1250" dirty="0">
                <a:solidFill>
                  <a:srgbClr val="D9DDE6"/>
                </a:solidFill>
              </a:rPr>
              <a:t>“Customers are difficult. I did everything but they were still angry.”</a:t>
            </a:r>
            <a:endParaRPr lang="en-US" sz="1250" dirty="0"/>
          </a:p>
        </p:txBody>
      </p:sp>
      <p:sp>
        <p:nvSpPr>
          <p:cNvPr id="22" name="Label"/>
          <p:cNvSpPr txBox="1"/>
          <p:nvPr/>
        </p:nvSpPr>
        <p:spPr>
          <a:xfrm>
            <a:off x="822960" y="4277868"/>
            <a:ext cx="5212080" cy="237744"/>
          </a:xfrm>
          <a:prstGeom prst="rect">
            <a:avLst/>
          </a:prstGeom>
          <a:noFill/>
          <a:ln/>
        </p:spPr>
        <p:txBody>
          <a:bodyPr wrap="square" lIns="0" tIns="0" rIns="0" bIns="0" rtlCol="0" anchor="ctr"/>
          <a:lstStyle/>
          <a:p>
            <a:pPr indent="0" marL="0">
              <a:buNone/>
            </a:pPr>
            <a:r>
              <a:rPr lang="en-US" sz="1050" b="1" spc="200" kern="0" dirty="0">
                <a:solidFill>
                  <a:srgbClr val="F26522"/>
                </a:solidFill>
              </a:rPr>
              <a:t>OBSERVED GAP, ONE FOCUS</a:t>
            </a:r>
            <a:endParaRPr lang="en-US" sz="1050" dirty="0"/>
          </a:p>
        </p:txBody>
      </p:sp>
      <p:sp>
        <p:nvSpPr>
          <p:cNvPr id="23" name="Paragraph"/>
          <p:cNvSpPr txBox="1"/>
          <p:nvPr/>
        </p:nvSpPr>
        <p:spPr>
          <a:xfrm>
            <a:off x="822960" y="4533900"/>
            <a:ext cx="5212080" cy="626364"/>
          </a:xfrm>
          <a:prstGeom prst="rect">
            <a:avLst/>
          </a:prstGeom>
          <a:noFill/>
          <a:ln/>
        </p:spPr>
        <p:txBody>
          <a:bodyPr wrap="square" lIns="0" tIns="0" rIns="0" bIns="0" rtlCol="0" anchor="t"/>
          <a:lstStyle/>
          <a:p>
            <a:pPr indent="0" marL="0">
              <a:spcAft>
                <a:spcPts val="400"/>
              </a:spcAft>
              <a:buNone/>
            </a:pPr>
            <a:r>
              <a:rPr lang="en-US" sz="1250" dirty="0">
                <a:solidFill>
                  <a:srgbClr val="D9DDE6"/>
                </a:solidFill>
              </a:rPr>
              <a:t>Goes straight to troubleshooting with no acknowledgment, no restatement, no commitment. Focus: acknowledge, restate, assure before any troubleshooting step.</a:t>
            </a:r>
            <a:endParaRPr lang="en-US" sz="1250" dirty="0"/>
          </a:p>
        </p:txBody>
      </p:sp>
      <p:sp>
        <p:nvSpPr>
          <p:cNvPr id="24" name="Label"/>
          <p:cNvSpPr txBox="1"/>
          <p:nvPr/>
        </p:nvSpPr>
        <p:spPr>
          <a:xfrm>
            <a:off x="822960" y="5288280"/>
            <a:ext cx="5212080" cy="237744"/>
          </a:xfrm>
          <a:prstGeom prst="rect">
            <a:avLst/>
          </a:prstGeom>
          <a:noFill/>
          <a:ln/>
        </p:spPr>
        <p:txBody>
          <a:bodyPr wrap="square" lIns="0" tIns="0" rIns="0" bIns="0" rtlCol="0" anchor="ctr"/>
          <a:lstStyle/>
          <a:p>
            <a:pPr indent="0" marL="0">
              <a:buNone/>
            </a:pPr>
            <a:r>
              <a:rPr lang="en-US" sz="1050" b="1" spc="200" kern="0" dirty="0">
                <a:solidFill>
                  <a:srgbClr val="F26522"/>
                </a:solidFill>
              </a:rPr>
              <a:t>ROOT CAUSE, AND HOW I FOUND IT</a:t>
            </a:r>
            <a:endParaRPr lang="en-US" sz="1050" dirty="0"/>
          </a:p>
        </p:txBody>
      </p:sp>
      <p:sp>
        <p:nvSpPr>
          <p:cNvPr id="25" name="Paragraph"/>
          <p:cNvSpPr txBox="1"/>
          <p:nvPr/>
        </p:nvSpPr>
        <p:spPr>
          <a:xfrm>
            <a:off x="822960" y="5544312"/>
            <a:ext cx="5212080" cy="435864"/>
          </a:xfrm>
          <a:prstGeom prst="rect">
            <a:avLst/>
          </a:prstGeom>
          <a:noFill/>
          <a:ln/>
        </p:spPr>
        <p:txBody>
          <a:bodyPr wrap="square" lIns="0" tIns="0" rIns="0" bIns="0" rtlCol="0" anchor="t"/>
          <a:lstStyle/>
          <a:p>
            <a:pPr indent="0" marL="0">
              <a:spcAft>
                <a:spcPts val="400"/>
              </a:spcAft>
              <a:buNone/>
            </a:pPr>
            <a:r>
              <a:rPr lang="en-US" sz="1250" dirty="0">
                <a:solidFill>
                  <a:srgbClr val="D9DDE6"/>
                </a:solidFill>
              </a:rPr>
              <a:t>Asked what was in his head. Still searching for the right ITG, so no attention left for the customer. Knowledge and confidence, not attitude.</a:t>
            </a:r>
            <a:endParaRPr lang="en-US" sz="1250" dirty="0"/>
          </a:p>
        </p:txBody>
      </p:sp>
      <p:sp>
        <p:nvSpPr>
          <p:cNvPr id="26" name="Label"/>
          <p:cNvSpPr txBox="1"/>
          <p:nvPr/>
        </p:nvSpPr>
        <p:spPr>
          <a:xfrm>
            <a:off x="6903720" y="2221992"/>
            <a:ext cx="4465015" cy="237744"/>
          </a:xfrm>
          <a:prstGeom prst="rect">
            <a:avLst/>
          </a:prstGeom>
          <a:noFill/>
          <a:ln/>
        </p:spPr>
        <p:txBody>
          <a:bodyPr wrap="square" lIns="0" tIns="0" rIns="0" bIns="0" rtlCol="0" anchor="ctr"/>
          <a:lstStyle/>
          <a:p>
            <a:pPr indent="0" marL="0">
              <a:buNone/>
            </a:pPr>
            <a:r>
              <a:rPr lang="en-US" sz="1050" b="1" spc="200" kern="0" dirty="0">
                <a:solidFill>
                  <a:srgbClr val="C94A10"/>
                </a:solidFill>
              </a:rPr>
              <a:t>KAREEM COMMITS TO</a:t>
            </a:r>
            <a:endParaRPr lang="en-US" sz="1050" dirty="0"/>
          </a:p>
        </p:txBody>
      </p:sp>
      <p:sp>
        <p:nvSpPr>
          <p:cNvPr id="27" name="Paragraph"/>
          <p:cNvSpPr txBox="1"/>
          <p:nvPr/>
        </p:nvSpPr>
        <p:spPr>
          <a:xfrm>
            <a:off x="6903720" y="2478024"/>
            <a:ext cx="4465015" cy="435864"/>
          </a:xfrm>
          <a:prstGeom prst="rect">
            <a:avLst/>
          </a:prstGeom>
          <a:noFill/>
          <a:ln/>
        </p:spPr>
        <p:txBody>
          <a:bodyPr wrap="square" lIns="0" tIns="0" rIns="0" bIns="0" rtlCol="0" anchor="t"/>
          <a:lstStyle/>
          <a:p>
            <a:pPr indent="0" marL="0">
              <a:spcAft>
                <a:spcPts val="400"/>
              </a:spcAft>
              <a:buNone/>
            </a:pPr>
            <a:r>
              <a:rPr lang="en-US" sz="1250" dirty="0">
                <a:solidFill>
                  <a:srgbClr val="3D4453"/>
                </a:solidFill>
              </a:rPr>
              <a:t>The three-step opening on every call, phrase card on the desk, one-line self-check log for three days.</a:t>
            </a:r>
            <a:endParaRPr lang="en-US" sz="1250" dirty="0"/>
          </a:p>
        </p:txBody>
      </p:sp>
      <p:sp>
        <p:nvSpPr>
          <p:cNvPr id="28" name="Label"/>
          <p:cNvSpPr txBox="1"/>
          <p:nvPr/>
        </p:nvSpPr>
        <p:spPr>
          <a:xfrm>
            <a:off x="6903720" y="3096768"/>
            <a:ext cx="4465015" cy="237744"/>
          </a:xfrm>
          <a:prstGeom prst="rect">
            <a:avLst/>
          </a:prstGeom>
          <a:noFill/>
          <a:ln/>
        </p:spPr>
        <p:txBody>
          <a:bodyPr wrap="square" lIns="0" tIns="0" rIns="0" bIns="0" rtlCol="0" anchor="ctr"/>
          <a:lstStyle/>
          <a:p>
            <a:pPr indent="0" marL="0">
              <a:buNone/>
            </a:pPr>
            <a:r>
              <a:rPr lang="en-US" sz="1050" b="1" spc="200" kern="0" dirty="0">
                <a:solidFill>
                  <a:srgbClr val="C94A10"/>
                </a:solidFill>
              </a:rPr>
              <a:t>I COMMIT TO</a:t>
            </a:r>
            <a:endParaRPr lang="en-US" sz="1050" dirty="0"/>
          </a:p>
        </p:txBody>
      </p:sp>
      <p:sp>
        <p:nvSpPr>
          <p:cNvPr id="29" name="Paragraph"/>
          <p:cNvSpPr txBox="1"/>
          <p:nvPr/>
        </p:nvSpPr>
        <p:spPr>
          <a:xfrm>
            <a:off x="6903720" y="3352800"/>
            <a:ext cx="4465015" cy="435864"/>
          </a:xfrm>
          <a:prstGeom prst="rect">
            <a:avLst/>
          </a:prstGeom>
          <a:noFill/>
          <a:ln/>
        </p:spPr>
        <p:txBody>
          <a:bodyPr wrap="square" lIns="0" tIns="0" rIns="0" bIns="0" rtlCol="0" anchor="t"/>
          <a:lstStyle/>
          <a:p>
            <a:pPr indent="0" marL="0">
              <a:spcAft>
                <a:spcPts val="400"/>
              </a:spcAft>
              <a:buNone/>
            </a:pPr>
            <a:r>
              <a:rPr lang="en-US" sz="1250" dirty="0">
                <a:solidFill>
                  <a:srgbClr val="3D4453"/>
                </a:solidFill>
              </a:rPr>
              <a:t>15-minute ITG walkthrough on the three top call types, ten minutes side by side, two model calls from a top performer.</a:t>
            </a:r>
            <a:endParaRPr lang="en-US" sz="1250" dirty="0"/>
          </a:p>
        </p:txBody>
      </p:sp>
      <p:sp>
        <p:nvSpPr>
          <p:cNvPr id="30" name="Label"/>
          <p:cNvSpPr txBox="1"/>
          <p:nvPr/>
        </p:nvSpPr>
        <p:spPr>
          <a:xfrm>
            <a:off x="6903720" y="3971544"/>
            <a:ext cx="4465015" cy="237744"/>
          </a:xfrm>
          <a:prstGeom prst="rect">
            <a:avLst/>
          </a:prstGeom>
          <a:noFill/>
          <a:ln/>
        </p:spPr>
        <p:txBody>
          <a:bodyPr wrap="square" lIns="0" tIns="0" rIns="0" bIns="0" rtlCol="0" anchor="ctr"/>
          <a:lstStyle/>
          <a:p>
            <a:pPr indent="0" marL="0">
              <a:buNone/>
            </a:pPr>
            <a:r>
              <a:rPr lang="en-US" sz="1050" b="1" spc="200" kern="0" dirty="0">
                <a:solidFill>
                  <a:srgbClr val="C94A10"/>
                </a:solidFill>
              </a:rPr>
              <a:t>HOW WE MEASURE</a:t>
            </a:r>
            <a:endParaRPr lang="en-US" sz="1050" dirty="0"/>
          </a:p>
        </p:txBody>
      </p:sp>
      <p:sp>
        <p:nvSpPr>
          <p:cNvPr id="31" name="Paragraph"/>
          <p:cNvSpPr txBox="1"/>
          <p:nvPr/>
        </p:nvSpPr>
        <p:spPr>
          <a:xfrm>
            <a:off x="6903720" y="4227576"/>
            <a:ext cx="4465015" cy="626364"/>
          </a:xfrm>
          <a:prstGeom prst="rect">
            <a:avLst/>
          </a:prstGeom>
          <a:noFill/>
          <a:ln/>
        </p:spPr>
        <p:txBody>
          <a:bodyPr wrap="square" lIns="0" tIns="0" rIns="0" bIns="0" rtlCol="0" anchor="t"/>
          <a:lstStyle/>
          <a:p>
            <a:pPr indent="0" marL="0">
              <a:spcAft>
                <a:spcPts val="400"/>
              </a:spcAft>
              <a:buNone/>
            </a:pPr>
            <a:r>
              <a:rPr lang="en-US" sz="1250" dirty="0">
                <a:solidFill>
                  <a:srgbClr val="3D4453"/>
                </a:solidFill>
              </a:rPr>
              <a:t>October 17: 3 of 3 calls show it. October 22: 5 of 5, right ITG on all five, aiCR at or above 62%. tNPS: direction above 0, the 33 target set once ten new surveys are in.</a:t>
            </a:r>
            <a:endParaRPr lang="en-US" sz="1250" dirty="0"/>
          </a:p>
        </p:txBody>
      </p:sp>
      <p:sp>
        <p:nvSpPr>
          <p:cNvPr id="32" name="Label"/>
          <p:cNvSpPr txBox="1"/>
          <p:nvPr/>
        </p:nvSpPr>
        <p:spPr>
          <a:xfrm>
            <a:off x="6903720" y="5036820"/>
            <a:ext cx="4465015" cy="237744"/>
          </a:xfrm>
          <a:prstGeom prst="rect">
            <a:avLst/>
          </a:prstGeom>
          <a:noFill/>
          <a:ln/>
        </p:spPr>
        <p:txBody>
          <a:bodyPr wrap="square" lIns="0" tIns="0" rIns="0" bIns="0" rtlCol="0" anchor="ctr"/>
          <a:lstStyle/>
          <a:p>
            <a:pPr indent="0" marL="0">
              <a:buNone/>
            </a:pPr>
            <a:r>
              <a:rPr lang="en-US" sz="1050" b="1" spc="200" kern="0" dirty="0">
                <a:solidFill>
                  <a:srgbClr val="C94A10"/>
                </a:solidFill>
              </a:rPr>
              <a:t>FOLLOW-UP AND ESCALATION</a:t>
            </a:r>
            <a:endParaRPr lang="en-US" sz="1050" dirty="0"/>
          </a:p>
        </p:txBody>
      </p:sp>
      <p:sp>
        <p:nvSpPr>
          <p:cNvPr id="33" name="Paragraph"/>
          <p:cNvSpPr txBox="1"/>
          <p:nvPr/>
        </p:nvSpPr>
        <p:spPr>
          <a:xfrm>
            <a:off x="6903720" y="5292852"/>
            <a:ext cx="4465015" cy="626364"/>
          </a:xfrm>
          <a:prstGeom prst="rect">
            <a:avLst/>
          </a:prstGeom>
          <a:noFill/>
          <a:ln/>
        </p:spPr>
        <p:txBody>
          <a:bodyPr wrap="square" lIns="0" tIns="0" rIns="0" bIns="0" rtlCol="0" anchor="t"/>
          <a:lstStyle/>
          <a:p>
            <a:pPr indent="0" marL="0">
              <a:spcAft>
                <a:spcPts val="400"/>
              </a:spcAft>
              <a:buNone/>
            </a:pPr>
            <a:r>
              <a:rPr lang="en-US" sz="1250" dirty="0">
                <a:solidFill>
                  <a:srgbClr val="3D4453"/>
                </a:solidFill>
              </a:rPr>
              <a:t>Ten-minute check October 17, full session October 22. Fewer than 3 of 5: daily five-minute role plays for a week. Parked: rapport. Sales starts once the fix holds.</a:t>
            </a:r>
            <a:endParaRPr lang="en-US" sz="12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C96AC"/>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Eyebrow"/>
          <p:cNvSpPr txBox="1"/>
          <p:nvPr/>
        </p:nvSpPr>
        <p:spPr>
          <a:xfrm>
            <a:off x="548640" y="457200"/>
            <a:ext cx="8229600" cy="274320"/>
          </a:xfrm>
          <a:prstGeom prst="rect">
            <a:avLst/>
          </a:prstGeom>
          <a:noFill/>
          <a:ln/>
        </p:spPr>
        <p:txBody>
          <a:bodyPr wrap="square" lIns="0" tIns="0" rIns="0" bIns="0" rtlCol="0" anchor="ctr"/>
          <a:lstStyle/>
          <a:p>
            <a:pPr indent="0" marL="0">
              <a:buNone/>
            </a:pPr>
            <a:r>
              <a:rPr lang="en-US" sz="1200" b="1" spc="300" kern="0" dirty="0">
                <a:solidFill>
                  <a:srgbClr val="C94A10"/>
                </a:solidFill>
              </a:rPr>
              <a:t>THE NEXT 30 DAYS</a:t>
            </a:r>
            <a:endParaRPr lang="en-US" sz="1200" dirty="0"/>
          </a:p>
        </p:txBody>
      </p:sp>
      <p:sp>
        <p:nvSpPr>
          <p:cNvPr id="3" name="Text 0"/>
          <p:cNvSpPr/>
          <p:nvPr>
            <p:ph idx="100" type="title" hasCustomPrompt="1"/>
          </p:nvPr>
        </p:nvSpPr>
        <p:spPr>
          <a:xfrm>
            <a:off x="548640" y="804672"/>
            <a:ext cx="11094415" cy="1097280"/>
          </a:xfrm>
          <a:prstGeom prst="rect">
            <a:avLst/>
          </a:prstGeom>
          <a:noFill/>
          <a:ln/>
        </p:spPr>
        <p:txBody>
          <a:bodyPr wrap="square" lIns="0" tIns="0" rIns="0" bIns="0" rtlCol="0" anchor="t"/>
          <a:lstStyle/>
          <a:p>
            <a:pPr algn="l" indent="0" marL="0">
              <a:buNone/>
            </a:pPr>
            <a:r>
              <a:rPr lang="en-US" sz="3200" b="1" dirty="0">
                <a:solidFill>
                  <a:schemeClr val="tx1"/>
                </a:solidFill>
              </a:rPr>
              <a:t>Six agents carry the tNPS gap.</a:t>
            </a:r>
            <a:endParaRPr lang="en-US" sz="3200" dirty="0"/>
          </a:p>
          <a:p>
            <a:pPr algn="l" indent="0" marL="0">
              <a:buNone/>
            </a:pPr>
            <a:r>
              <a:rPr lang="en-US" sz="3200" b="1" dirty="0">
                <a:solidFill>
                  <a:schemeClr val="tx1"/>
                </a:solidFill>
              </a:rPr>
              <a:t>Move them to zero and the team is at 20</a:t>
            </a:r>
            <a:endParaRPr lang="en-US" sz="3200" dirty="0"/>
          </a:p>
        </p:txBody>
      </p:sp>
      <p:sp>
        <p:nvSpPr>
          <p:cNvPr id="4" name="Stat card"/>
          <p:cNvSpPr/>
          <p:nvPr/>
        </p:nvSpPr>
        <p:spPr>
          <a:xfrm>
            <a:off x="548640" y="2011680"/>
            <a:ext cx="3246120" cy="1371600"/>
          </a:xfrm>
          <a:prstGeom prst="roundRect">
            <a:avLst>
              <a:gd name="adj" fmla="val 13333"/>
            </a:avLst>
          </a:prstGeom>
          <a:solidFill>
            <a:srgbClr val="FFFFFF"/>
          </a:solidFill>
          <a:ln w="9525">
            <a:solidFill>
              <a:srgbClr val="E3DED7"/>
            </a:solidFill>
            <a:prstDash val="solid"/>
          </a:ln>
          <a:effectLst>
            <a:outerShdw sx="100000" sy="100000" kx="0" ky="0" algn="bl" rotWithShape="0" blurRad="76200" dist="25400" dir="5400000">
              <a:srgbClr val="000000">
                <a:alpha val="8000"/>
              </a:srgbClr>
            </a:outerShdw>
          </a:effectLst>
        </p:spPr>
      </p:sp>
      <p:sp>
        <p:nvSpPr>
          <p:cNvPr id="5" name="Stat number"/>
          <p:cNvSpPr txBox="1"/>
          <p:nvPr/>
        </p:nvSpPr>
        <p:spPr>
          <a:xfrm>
            <a:off x="777240" y="2103120"/>
            <a:ext cx="2788920" cy="658368"/>
          </a:xfrm>
          <a:prstGeom prst="rect">
            <a:avLst/>
          </a:prstGeom>
          <a:noFill/>
          <a:ln/>
        </p:spPr>
        <p:txBody>
          <a:bodyPr wrap="square" lIns="0" tIns="0" rIns="0" bIns="0" rtlCol="0" anchor="ctr"/>
          <a:lstStyle/>
          <a:p>
            <a:pPr indent="0" marL="0">
              <a:buNone/>
            </a:pPr>
            <a:r>
              <a:rPr lang="en-US" sz="4000" b="1" dirty="0">
                <a:solidFill>
                  <a:srgbClr val="B42318"/>
                </a:solidFill>
              </a:rPr>
              <a:t>6 of 18</a:t>
            </a:r>
            <a:endParaRPr lang="en-US" sz="4000" dirty="0"/>
          </a:p>
        </p:txBody>
      </p:sp>
      <p:sp>
        <p:nvSpPr>
          <p:cNvPr id="6" name="Paragraph"/>
          <p:cNvSpPr txBox="1"/>
          <p:nvPr/>
        </p:nvSpPr>
        <p:spPr>
          <a:xfrm>
            <a:off x="777240" y="2788920"/>
            <a:ext cx="2788920" cy="502920"/>
          </a:xfrm>
          <a:prstGeom prst="rect">
            <a:avLst/>
          </a:prstGeom>
          <a:noFill/>
          <a:ln/>
        </p:spPr>
        <p:txBody>
          <a:bodyPr wrap="square" lIns="0" tIns="0" rIns="0" bIns="0" rtlCol="0" anchor="t"/>
          <a:lstStyle/>
          <a:p>
            <a:pPr indent="0" marL="0">
              <a:spcAft>
                <a:spcPts val="400"/>
              </a:spcAft>
              <a:buNone/>
            </a:pPr>
            <a:r>
              <a:rPr lang="en-US" sz="1200" dirty="0">
                <a:solidFill>
                  <a:srgbClr val="3D4453"/>
                </a:solidFill>
              </a:rPr>
              <a:t>agents negative on tNPS, on 78 of the team’s 221 surveys</a:t>
            </a:r>
            <a:endParaRPr lang="en-US" sz="1200" dirty="0"/>
          </a:p>
        </p:txBody>
      </p:sp>
      <p:sp>
        <p:nvSpPr>
          <p:cNvPr id="7" name="Stat card"/>
          <p:cNvSpPr/>
          <p:nvPr/>
        </p:nvSpPr>
        <p:spPr>
          <a:xfrm>
            <a:off x="4069080" y="2011680"/>
            <a:ext cx="3246120" cy="1371600"/>
          </a:xfrm>
          <a:prstGeom prst="roundRect">
            <a:avLst>
              <a:gd name="adj" fmla="val 13333"/>
            </a:avLst>
          </a:prstGeom>
          <a:solidFill>
            <a:srgbClr val="FFFFFF"/>
          </a:solidFill>
          <a:ln w="9525">
            <a:solidFill>
              <a:srgbClr val="E3DED7"/>
            </a:solidFill>
            <a:prstDash val="solid"/>
          </a:ln>
          <a:effectLst>
            <a:outerShdw sx="100000" sy="100000" kx="0" ky="0" algn="bl" rotWithShape="0" blurRad="76200" dist="25400" dir="5400000">
              <a:srgbClr val="000000">
                <a:alpha val="8000"/>
              </a:srgbClr>
            </a:outerShdw>
          </a:effectLst>
        </p:spPr>
      </p:sp>
      <p:sp>
        <p:nvSpPr>
          <p:cNvPr id="8" name="Stat number"/>
          <p:cNvSpPr txBox="1"/>
          <p:nvPr/>
        </p:nvSpPr>
        <p:spPr>
          <a:xfrm>
            <a:off x="4297680" y="2103120"/>
            <a:ext cx="2788920" cy="658368"/>
          </a:xfrm>
          <a:prstGeom prst="rect">
            <a:avLst/>
          </a:prstGeom>
          <a:noFill/>
          <a:ln/>
        </p:spPr>
        <p:txBody>
          <a:bodyPr wrap="square" lIns="0" tIns="0" rIns="0" bIns="0" rtlCol="0" anchor="ctr"/>
          <a:lstStyle/>
          <a:p>
            <a:pPr indent="0" marL="0">
              <a:buNone/>
            </a:pPr>
            <a:r>
              <a:rPr lang="en-US" sz="4000" b="1" dirty="0">
                <a:solidFill>
                  <a:srgbClr val="1E7F5C"/>
                </a:solidFill>
              </a:rPr>
              <a:t>10.4 to 20</a:t>
            </a:r>
            <a:endParaRPr lang="en-US" sz="4000" dirty="0"/>
          </a:p>
        </p:txBody>
      </p:sp>
      <p:sp>
        <p:nvSpPr>
          <p:cNvPr id="9" name="Paragraph"/>
          <p:cNvSpPr txBox="1"/>
          <p:nvPr/>
        </p:nvSpPr>
        <p:spPr>
          <a:xfrm>
            <a:off x="4297680" y="2788920"/>
            <a:ext cx="2788920" cy="502920"/>
          </a:xfrm>
          <a:prstGeom prst="rect">
            <a:avLst/>
          </a:prstGeom>
          <a:noFill/>
          <a:ln/>
        </p:spPr>
        <p:txBody>
          <a:bodyPr wrap="square" lIns="0" tIns="0" rIns="0" bIns="0" rtlCol="0" anchor="t"/>
          <a:lstStyle/>
          <a:p>
            <a:pPr indent="0" marL="0">
              <a:spcAft>
                <a:spcPts val="400"/>
              </a:spcAft>
              <a:buNone/>
            </a:pPr>
            <a:r>
              <a:rPr lang="en-US" sz="1200" dirty="0">
                <a:solidFill>
                  <a:srgbClr val="3D4453"/>
                </a:solidFill>
              </a:rPr>
              <a:t>team tNPS if those six reach zero, before any promoter is added</a:t>
            </a:r>
            <a:endParaRPr lang="en-US" sz="1200" dirty="0"/>
          </a:p>
        </p:txBody>
      </p:sp>
      <p:sp>
        <p:nvSpPr>
          <p:cNvPr id="10" name="Two conversations card"/>
          <p:cNvSpPr/>
          <p:nvPr/>
        </p:nvSpPr>
        <p:spPr>
          <a:xfrm>
            <a:off x="548640" y="3657600"/>
            <a:ext cx="6766560" cy="2468880"/>
          </a:xfrm>
          <a:prstGeom prst="roundRect">
            <a:avLst>
              <a:gd name="adj" fmla="val 7407"/>
            </a:avLst>
          </a:prstGeom>
          <a:solidFill>
            <a:srgbClr val="121826"/>
          </a:solidFill>
          <a:ln/>
        </p:spPr>
      </p:sp>
      <p:sp>
        <p:nvSpPr>
          <p:cNvPr id="11" name="Icon circle"/>
          <p:cNvSpPr/>
          <p:nvPr/>
        </p:nvSpPr>
        <p:spPr>
          <a:xfrm>
            <a:off x="777240" y="3822192"/>
            <a:ext cx="457200" cy="457200"/>
          </a:xfrm>
          <a:prstGeom prst="ellipse">
            <a:avLst/>
          </a:prstGeom>
          <a:solidFill>
            <a:srgbClr val="F26522"/>
          </a:solidFill>
          <a:ln/>
        </p:spPr>
      </p:sp>
      <p:pic>
        <p:nvPicPr>
          <p:cNvPr id="12" name="Icon" descr="preencoded.png">    </p:cNvPr>
          <p:cNvPicPr>
            <a:picLocks noChangeAspect="1"/>
          </p:cNvPicPr>
          <p:nvPr/>
        </p:nvPicPr>
        <p:blipFill>
          <a:blip r:embed="rId1"/>
          <a:stretch>
            <a:fillRect/>
          </a:stretch>
        </p:blipFill>
        <p:spPr>
          <a:xfrm>
            <a:off x="886968" y="3931920"/>
            <a:ext cx="237744" cy="237744"/>
          </a:xfrm>
          <a:prstGeom prst="rect">
            <a:avLst/>
          </a:prstGeom>
        </p:spPr>
      </p:pic>
      <p:sp>
        <p:nvSpPr>
          <p:cNvPr id="13" name="Label"/>
          <p:cNvSpPr txBox="1"/>
          <p:nvPr/>
        </p:nvSpPr>
        <p:spPr>
          <a:xfrm>
            <a:off x="1417320" y="3931920"/>
            <a:ext cx="5669280" cy="237744"/>
          </a:xfrm>
          <a:prstGeom prst="rect">
            <a:avLst/>
          </a:prstGeom>
          <a:noFill/>
          <a:ln/>
        </p:spPr>
        <p:txBody>
          <a:bodyPr wrap="square" lIns="0" tIns="0" rIns="0" bIns="0" rtlCol="0" anchor="ctr"/>
          <a:lstStyle/>
          <a:p>
            <a:pPr indent="0" marL="0">
              <a:buNone/>
            </a:pPr>
            <a:r>
              <a:rPr lang="en-US" sz="1050" b="1" spc="200" kern="0" dirty="0">
                <a:solidFill>
                  <a:srgbClr val="F26522"/>
                </a:solidFill>
              </a:rPr>
              <a:t>SAME KPI, TWO DIFFERENT CONVERSATIONS</a:t>
            </a:r>
            <a:endParaRPr lang="en-US" sz="1050" dirty="0"/>
          </a:p>
        </p:txBody>
      </p:sp>
      <p:sp>
        <p:nvSpPr>
          <p:cNvPr id="14" name="Icon circle"/>
          <p:cNvSpPr/>
          <p:nvPr/>
        </p:nvSpPr>
        <p:spPr>
          <a:xfrm>
            <a:off x="777240" y="4389120"/>
            <a:ext cx="384048" cy="384048"/>
          </a:xfrm>
          <a:prstGeom prst="ellipse">
            <a:avLst/>
          </a:prstGeom>
          <a:solidFill>
            <a:srgbClr val="B42318"/>
          </a:solidFill>
          <a:ln/>
        </p:spPr>
      </p:sp>
      <p:pic>
        <p:nvPicPr>
          <p:cNvPr id="15" name="Icon" descr="preencoded.png">    </p:cNvPr>
          <p:cNvPicPr>
            <a:picLocks noChangeAspect="1"/>
          </p:cNvPicPr>
          <p:nvPr/>
        </p:nvPicPr>
        <p:blipFill>
          <a:blip r:embed="rId2"/>
          <a:stretch>
            <a:fillRect/>
          </a:stretch>
        </p:blipFill>
        <p:spPr>
          <a:xfrm>
            <a:off x="869412" y="4481292"/>
            <a:ext cx="199705" cy="199705"/>
          </a:xfrm>
          <a:prstGeom prst="rect">
            <a:avLst/>
          </a:prstGeom>
        </p:spPr>
      </p:pic>
      <p:sp>
        <p:nvSpPr>
          <p:cNvPr id="16" name="Agent name"/>
          <p:cNvSpPr txBox="1"/>
          <p:nvPr/>
        </p:nvSpPr>
        <p:spPr>
          <a:xfrm>
            <a:off x="1280160" y="4398264"/>
            <a:ext cx="2514600" cy="365760"/>
          </a:xfrm>
          <a:prstGeom prst="rect">
            <a:avLst/>
          </a:prstGeom>
          <a:noFill/>
          <a:ln/>
        </p:spPr>
        <p:txBody>
          <a:bodyPr wrap="square" lIns="0" tIns="0" rIns="0" bIns="0" rtlCol="0" anchor="ctr"/>
          <a:lstStyle/>
          <a:p>
            <a:pPr indent="0" marL="0">
              <a:buNone/>
            </a:pPr>
            <a:r>
              <a:rPr lang="en-US" sz="1400" b="1" dirty="0">
                <a:solidFill>
                  <a:srgbClr val="FFFFFF"/>
                </a:solidFill>
              </a:rPr>
              <a:t>Kareem Gharib</a:t>
            </a:r>
            <a:pPr indent="0" marL="0">
              <a:buNone/>
            </a:pPr>
            <a:r>
              <a:rPr lang="en-US" sz="1100" dirty="0">
                <a:solidFill>
                  <a:srgbClr val="8C96AC"/>
                </a:solidFill>
              </a:rPr>
              <a:t>  Rank 205 of 220</a:t>
            </a:r>
            <a:endParaRPr lang="en-US" sz="1400" dirty="0"/>
          </a:p>
        </p:txBody>
      </p:sp>
      <p:sp>
        <p:nvSpPr>
          <p:cNvPr id="17" name="Paragraph"/>
          <p:cNvSpPr txBox="1"/>
          <p:nvPr/>
        </p:nvSpPr>
        <p:spPr>
          <a:xfrm>
            <a:off x="777240" y="4837176"/>
            <a:ext cx="3017520" cy="365760"/>
          </a:xfrm>
          <a:prstGeom prst="rect">
            <a:avLst/>
          </a:prstGeom>
          <a:noFill/>
          <a:ln/>
        </p:spPr>
        <p:txBody>
          <a:bodyPr wrap="square" lIns="0" tIns="0" rIns="0" bIns="0" rtlCol="0" anchor="t"/>
          <a:lstStyle/>
          <a:p>
            <a:pPr indent="0" marL="0">
              <a:spcAft>
                <a:spcPts val="400"/>
              </a:spcAft>
              <a:buNone/>
            </a:pPr>
            <a:r>
              <a:rPr lang="en-US" sz="1100" dirty="0">
                <a:solidFill>
                  <a:srgbClr val="8C96AC"/>
                </a:solidFill>
              </a:rPr>
              <a:t>tNPS −20 on 15 surveys</a:t>
            </a:r>
            <a:endParaRPr lang="en-US" sz="1100" dirty="0"/>
          </a:p>
          <a:p>
            <a:pPr indent="0" marL="0">
              <a:spcAft>
                <a:spcPts val="400"/>
              </a:spcAft>
              <a:buNone/>
            </a:pPr>
            <a:r>
              <a:rPr lang="en-US" sz="1100" dirty="0">
                <a:solidFill>
                  <a:srgbClr val="8C96AC"/>
                </a:solidFill>
              </a:rPr>
              <a:t>aiCR 53.4% · XM 0 · GSR 1.4%</a:t>
            </a:r>
            <a:endParaRPr lang="en-US" sz="1100" dirty="0"/>
          </a:p>
        </p:txBody>
      </p:sp>
      <p:sp>
        <p:nvSpPr>
          <p:cNvPr id="18" name="Paragraph"/>
          <p:cNvSpPr txBox="1"/>
          <p:nvPr/>
        </p:nvSpPr>
        <p:spPr>
          <a:xfrm>
            <a:off x="777240" y="5303520"/>
            <a:ext cx="3017520" cy="658368"/>
          </a:xfrm>
          <a:prstGeom prst="rect">
            <a:avLst/>
          </a:prstGeom>
          <a:noFill/>
          <a:ln/>
        </p:spPr>
        <p:txBody>
          <a:bodyPr wrap="square" lIns="0" tIns="0" rIns="0" bIns="0" rtlCol="0" anchor="t"/>
          <a:lstStyle/>
          <a:p>
            <a:pPr indent="0" marL="0">
              <a:spcAft>
                <a:spcPts val="400"/>
              </a:spcAft>
              <a:buNone/>
            </a:pPr>
            <a:r>
              <a:rPr lang="en-US" sz="1250" dirty="0">
                <a:solidFill>
                  <a:srgbClr val="D9DDE6"/>
                </a:solidFill>
              </a:rPr>
              <a:t>Below target on all four KPIs: a knowledge gap, coached with ITG walkthroughs and the three-step opening.</a:t>
            </a:r>
            <a:endParaRPr lang="en-US" sz="1250" dirty="0"/>
          </a:p>
        </p:txBody>
      </p:sp>
      <p:sp>
        <p:nvSpPr>
          <p:cNvPr id="19" name="Icon circle"/>
          <p:cNvSpPr/>
          <p:nvPr/>
        </p:nvSpPr>
        <p:spPr>
          <a:xfrm>
            <a:off x="4069080" y="4389120"/>
            <a:ext cx="384048" cy="384048"/>
          </a:xfrm>
          <a:prstGeom prst="ellipse">
            <a:avLst/>
          </a:prstGeom>
          <a:solidFill>
            <a:srgbClr val="1E7F5C"/>
          </a:solidFill>
          <a:ln/>
        </p:spPr>
      </p:sp>
      <p:pic>
        <p:nvPicPr>
          <p:cNvPr id="20" name="Icon" descr="preencoded.png">    </p:cNvPr>
          <p:cNvPicPr>
            <a:picLocks noChangeAspect="1"/>
          </p:cNvPicPr>
          <p:nvPr/>
        </p:nvPicPr>
        <p:blipFill>
          <a:blip r:embed="rId3"/>
          <a:stretch>
            <a:fillRect/>
          </a:stretch>
        </p:blipFill>
        <p:spPr>
          <a:xfrm>
            <a:off x="4161252" y="4481292"/>
            <a:ext cx="199705" cy="199705"/>
          </a:xfrm>
          <a:prstGeom prst="rect">
            <a:avLst/>
          </a:prstGeom>
        </p:spPr>
      </p:pic>
      <p:sp>
        <p:nvSpPr>
          <p:cNvPr id="21" name="Agent name"/>
          <p:cNvSpPr txBox="1"/>
          <p:nvPr/>
        </p:nvSpPr>
        <p:spPr>
          <a:xfrm>
            <a:off x="4572000" y="4398264"/>
            <a:ext cx="2514600" cy="365760"/>
          </a:xfrm>
          <a:prstGeom prst="rect">
            <a:avLst/>
          </a:prstGeom>
          <a:noFill/>
          <a:ln/>
        </p:spPr>
        <p:txBody>
          <a:bodyPr wrap="square" lIns="0" tIns="0" rIns="0" bIns="0" rtlCol="0" anchor="ctr"/>
          <a:lstStyle/>
          <a:p>
            <a:pPr indent="0" marL="0">
              <a:buNone/>
            </a:pPr>
            <a:r>
              <a:rPr lang="en-US" sz="1400" b="1" dirty="0">
                <a:solidFill>
                  <a:srgbClr val="FFFFFF"/>
                </a:solidFill>
              </a:rPr>
              <a:t>Mohammed Ammar</a:t>
            </a:r>
            <a:pPr indent="0" marL="0">
              <a:buNone/>
            </a:pPr>
            <a:r>
              <a:rPr lang="en-US" sz="1100" dirty="0">
                <a:solidFill>
                  <a:srgbClr val="8C96AC"/>
                </a:solidFill>
              </a:rPr>
              <a:t>  Rank 54 of 220</a:t>
            </a:r>
            <a:endParaRPr lang="en-US" sz="1400" dirty="0"/>
          </a:p>
        </p:txBody>
      </p:sp>
      <p:sp>
        <p:nvSpPr>
          <p:cNvPr id="22" name="Paragraph"/>
          <p:cNvSpPr txBox="1"/>
          <p:nvPr/>
        </p:nvSpPr>
        <p:spPr>
          <a:xfrm>
            <a:off x="4069080" y="4837176"/>
            <a:ext cx="3017520" cy="365760"/>
          </a:xfrm>
          <a:prstGeom prst="rect">
            <a:avLst/>
          </a:prstGeom>
          <a:noFill/>
          <a:ln/>
        </p:spPr>
        <p:txBody>
          <a:bodyPr wrap="square" lIns="0" tIns="0" rIns="0" bIns="0" rtlCol="0" anchor="t"/>
          <a:lstStyle/>
          <a:p>
            <a:pPr indent="0" marL="0">
              <a:spcAft>
                <a:spcPts val="400"/>
              </a:spcAft>
              <a:buNone/>
            </a:pPr>
            <a:r>
              <a:rPr lang="en-US" sz="1100" dirty="0">
                <a:solidFill>
                  <a:srgbClr val="8C96AC"/>
                </a:solidFill>
              </a:rPr>
              <a:t>tNPS −37.5 on 16 surveys</a:t>
            </a:r>
            <a:endParaRPr lang="en-US" sz="1100" dirty="0"/>
          </a:p>
          <a:p>
            <a:pPr indent="0" marL="0">
              <a:spcAft>
                <a:spcPts val="400"/>
              </a:spcAft>
              <a:buNone/>
            </a:pPr>
            <a:r>
              <a:rPr lang="en-US" sz="1100" dirty="0">
                <a:solidFill>
                  <a:srgbClr val="8C96AC"/>
                </a:solidFill>
              </a:rPr>
              <a:t>aiCR 61.3% · XM 5 · GSR 7.7%</a:t>
            </a:r>
            <a:endParaRPr lang="en-US" sz="1100" dirty="0"/>
          </a:p>
        </p:txBody>
      </p:sp>
      <p:sp>
        <p:nvSpPr>
          <p:cNvPr id="23" name="Paragraph"/>
          <p:cNvSpPr txBox="1"/>
          <p:nvPr/>
        </p:nvSpPr>
        <p:spPr>
          <a:xfrm>
            <a:off x="4069080" y="5303520"/>
            <a:ext cx="3017520" cy="658368"/>
          </a:xfrm>
          <a:prstGeom prst="rect">
            <a:avLst/>
          </a:prstGeom>
          <a:noFill/>
          <a:ln/>
        </p:spPr>
        <p:txBody>
          <a:bodyPr wrap="square" lIns="0" tIns="0" rIns="0" bIns="0" rtlCol="0" anchor="t"/>
          <a:lstStyle/>
          <a:p>
            <a:pPr indent="0" marL="0">
              <a:spcAft>
                <a:spcPts val="400"/>
              </a:spcAft>
              <a:buNone/>
            </a:pPr>
            <a:r>
              <a:rPr lang="en-US" sz="1250" dirty="0">
                <a:solidFill>
                  <a:srgbClr val="D9DDE6"/>
                </a:solidFill>
              </a:rPr>
              <a:t>Resolves and sells well, yet −37.5 on tNPS: a behavior gap, coached on expectation setting and the close, not knowledge.</a:t>
            </a:r>
            <a:endParaRPr lang="en-US" sz="1250" dirty="0"/>
          </a:p>
        </p:txBody>
      </p:sp>
      <p:sp>
        <p:nvSpPr>
          <p:cNvPr id="24" name="Cadence card"/>
          <p:cNvSpPr/>
          <p:nvPr/>
        </p:nvSpPr>
        <p:spPr>
          <a:xfrm>
            <a:off x="7589520" y="2011680"/>
            <a:ext cx="4053535" cy="4114800"/>
          </a:xfrm>
          <a:prstGeom prst="roundRect">
            <a:avLst>
              <a:gd name="adj" fmla="val 4512"/>
            </a:avLst>
          </a:prstGeom>
          <a:solidFill>
            <a:srgbClr val="FFFFFF"/>
          </a:solidFill>
          <a:ln w="9525">
            <a:solidFill>
              <a:srgbClr val="E3DED7"/>
            </a:solidFill>
            <a:prstDash val="solid"/>
          </a:ln>
          <a:effectLst>
            <a:outerShdw sx="100000" sy="100000" kx="0" ky="0" algn="bl" rotWithShape="0" blurRad="76200" dist="25400" dir="5400000">
              <a:srgbClr val="000000">
                <a:alpha val="8000"/>
              </a:srgbClr>
            </a:outerShdw>
          </a:effectLst>
        </p:spPr>
      </p:sp>
      <p:sp>
        <p:nvSpPr>
          <p:cNvPr id="25" name="Icon circle"/>
          <p:cNvSpPr/>
          <p:nvPr/>
        </p:nvSpPr>
        <p:spPr>
          <a:xfrm>
            <a:off x="7818120" y="2194560"/>
            <a:ext cx="457200" cy="457200"/>
          </a:xfrm>
          <a:prstGeom prst="ellipse">
            <a:avLst/>
          </a:prstGeom>
          <a:solidFill>
            <a:srgbClr val="FDE9DF"/>
          </a:solidFill>
          <a:ln/>
        </p:spPr>
      </p:sp>
      <p:pic>
        <p:nvPicPr>
          <p:cNvPr id="26" name="Icon" descr="preencoded.png">    </p:cNvPr>
          <p:cNvPicPr>
            <a:picLocks noChangeAspect="1"/>
          </p:cNvPicPr>
          <p:nvPr/>
        </p:nvPicPr>
        <p:blipFill>
          <a:blip r:embed="rId4"/>
          <a:stretch>
            <a:fillRect/>
          </a:stretch>
        </p:blipFill>
        <p:spPr>
          <a:xfrm>
            <a:off x="7927848" y="2304288"/>
            <a:ext cx="237744" cy="237744"/>
          </a:xfrm>
          <a:prstGeom prst="rect">
            <a:avLst/>
          </a:prstGeom>
        </p:spPr>
      </p:pic>
      <p:sp>
        <p:nvSpPr>
          <p:cNvPr id="27" name="Cadence heading"/>
          <p:cNvSpPr txBox="1"/>
          <p:nvPr/>
        </p:nvSpPr>
        <p:spPr>
          <a:xfrm>
            <a:off x="8412480" y="2240280"/>
            <a:ext cx="3001975" cy="365760"/>
          </a:xfrm>
          <a:prstGeom prst="rect">
            <a:avLst/>
          </a:prstGeom>
          <a:noFill/>
          <a:ln/>
        </p:spPr>
        <p:txBody>
          <a:bodyPr wrap="square" lIns="0" tIns="0" rIns="0" bIns="0" rtlCol="0" anchor="ctr"/>
          <a:lstStyle/>
          <a:p>
            <a:pPr indent="0" marL="0">
              <a:buNone/>
            </a:pPr>
            <a:r>
              <a:rPr lang="en-US" sz="1600" b="1" dirty="0">
                <a:solidFill>
                  <a:srgbClr val="121826"/>
                </a:solidFill>
              </a:rPr>
              <a:t>Cadence</a:t>
            </a:r>
            <a:endParaRPr lang="en-US" sz="1600" dirty="0"/>
          </a:p>
        </p:txBody>
      </p:sp>
      <p:sp>
        <p:nvSpPr>
          <p:cNvPr id="28" name="Cadence list"/>
          <p:cNvSpPr txBox="1"/>
          <p:nvPr/>
        </p:nvSpPr>
        <p:spPr>
          <a:xfrm>
            <a:off x="7818120" y="2743200"/>
            <a:ext cx="3596335" cy="1691640"/>
          </a:xfrm>
          <a:prstGeom prst="rect">
            <a:avLst/>
          </a:prstGeom>
          <a:noFill/>
          <a:ln/>
        </p:spPr>
        <p:txBody>
          <a:bodyPr wrap="square" lIns="0" tIns="0" rIns="0" bIns="0" rtlCol="0" anchor="t"/>
          <a:lstStyle/>
          <a:p>
            <a:pPr marL="342900" indent="-342900">
              <a:spcAft>
                <a:spcPts val="300"/>
              </a:spcAft>
              <a:buSzPct val="100000"/>
              <a:buChar char="•"/>
            </a:pPr>
            <a:r>
              <a:rPr lang="en-US" sz="1250" dirty="0">
                <a:solidFill>
                  <a:srgbClr val="3D4453"/>
                </a:solidFill>
              </a:rPr>
              <a:t>One session per agent per week, one focus behavior, two at most</a:t>
            </a:r>
            <a:endParaRPr lang="en-US" sz="1250" dirty="0"/>
          </a:p>
          <a:p>
            <a:pPr marL="342900" indent="-342900">
              <a:spcAft>
                <a:spcPts val="300"/>
              </a:spcAft>
              <a:buSzPct val="100000"/>
              <a:buChar char="•"/>
            </a:pPr>
            <a:r>
              <a:rPr lang="en-US" sz="1250" dirty="0">
                <a:solidFill>
                  <a:srgbClr val="3D4453"/>
                </a:solidFill>
              </a:rPr>
              <a:t>Bottom quartile: two to three follow-up call reviews in the same week</a:t>
            </a:r>
            <a:endParaRPr lang="en-US" sz="1250" dirty="0"/>
          </a:p>
          <a:p>
            <a:pPr marL="342900" indent="-342900">
              <a:spcAft>
                <a:spcPts val="300"/>
              </a:spcAft>
              <a:buSzPct val="100000"/>
              <a:buChar char="•"/>
            </a:pPr>
            <a:r>
              <a:rPr lang="en-US" sz="1250" dirty="0">
                <a:solidFill>
                  <a:srgbClr val="3D4453"/>
                </a:solidFill>
              </a:rPr>
              <a:t>ITG checked on every reviewed call: right guide picked and completed</a:t>
            </a:r>
            <a:endParaRPr lang="en-US" sz="1250" dirty="0"/>
          </a:p>
          <a:p>
            <a:pPr marL="342900" indent="-342900">
              <a:spcAft>
                <a:spcPts val="300"/>
              </a:spcAft>
              <a:buSzPct val="100000"/>
              <a:buChar char="•"/>
            </a:pPr>
            <a:r>
              <a:rPr lang="en-US" sz="1250" dirty="0">
                <a:solidFill>
                  <a:srgbClr val="3D4453"/>
                </a:solidFill>
              </a:rPr>
              <a:t>Surveys judged by the end of the plan, behavior judged on calls first</a:t>
            </a:r>
            <a:endParaRPr lang="en-US" sz="1250" dirty="0"/>
          </a:p>
        </p:txBody>
      </p:sp>
      <p:sp>
        <p:nvSpPr>
          <p:cNvPr id="29" name="Icon circle"/>
          <p:cNvSpPr/>
          <p:nvPr/>
        </p:nvSpPr>
        <p:spPr>
          <a:xfrm>
            <a:off x="7818120" y="4617720"/>
            <a:ext cx="457200" cy="457200"/>
          </a:xfrm>
          <a:prstGeom prst="ellipse">
            <a:avLst/>
          </a:prstGeom>
          <a:solidFill>
            <a:srgbClr val="FDE9DF"/>
          </a:solidFill>
          <a:ln/>
        </p:spPr>
      </p:sp>
      <p:pic>
        <p:nvPicPr>
          <p:cNvPr id="30" name="Icon" descr="preencoded.png">    </p:cNvPr>
          <p:cNvPicPr>
            <a:picLocks noChangeAspect="1"/>
          </p:cNvPicPr>
          <p:nvPr/>
        </p:nvPicPr>
        <p:blipFill>
          <a:blip r:embed="rId5"/>
          <a:stretch>
            <a:fillRect/>
          </a:stretch>
        </p:blipFill>
        <p:spPr>
          <a:xfrm>
            <a:off x="7927848" y="4727448"/>
            <a:ext cx="237744" cy="237744"/>
          </a:xfrm>
          <a:prstGeom prst="rect">
            <a:avLst/>
          </a:prstGeom>
        </p:spPr>
      </p:pic>
      <p:sp>
        <p:nvSpPr>
          <p:cNvPr id="31" name="Asks heading"/>
          <p:cNvSpPr txBox="1"/>
          <p:nvPr/>
        </p:nvSpPr>
        <p:spPr>
          <a:xfrm>
            <a:off x="8412480" y="4663440"/>
            <a:ext cx="3001975" cy="365760"/>
          </a:xfrm>
          <a:prstGeom prst="rect">
            <a:avLst/>
          </a:prstGeom>
          <a:noFill/>
          <a:ln/>
        </p:spPr>
        <p:txBody>
          <a:bodyPr wrap="square" lIns="0" tIns="0" rIns="0" bIns="0" rtlCol="0" anchor="ctr"/>
          <a:lstStyle/>
          <a:p>
            <a:pPr indent="0" marL="0">
              <a:buNone/>
            </a:pPr>
            <a:r>
              <a:rPr lang="en-US" sz="1600" b="1" dirty="0">
                <a:solidFill>
                  <a:srgbClr val="C94A10"/>
                </a:solidFill>
              </a:rPr>
              <a:t>What would help from the client</a:t>
            </a:r>
            <a:endParaRPr lang="en-US" sz="1600" dirty="0"/>
          </a:p>
        </p:txBody>
      </p:sp>
      <p:sp>
        <p:nvSpPr>
          <p:cNvPr id="32" name="Asks list"/>
          <p:cNvSpPr txBox="1"/>
          <p:nvPr/>
        </p:nvSpPr>
        <p:spPr>
          <a:xfrm>
            <a:off x="7818120" y="5166360"/>
            <a:ext cx="3596335" cy="868680"/>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rgbClr val="3D4453"/>
                </a:solidFill>
              </a:rPr>
              <a:t>Detractor survey comments shared weekly, to coach the exact moment</a:t>
            </a:r>
            <a:endParaRPr lang="en-US" sz="1250" dirty="0"/>
          </a:p>
          <a:p>
            <a:pPr marL="342900" indent="-342900">
              <a:spcAft>
                <a:spcPts val="500"/>
              </a:spcAft>
              <a:buSzPct val="100000"/>
              <a:buChar char="•"/>
            </a:pPr>
            <a:r>
              <a:rPr lang="en-US" sz="1250" dirty="0">
                <a:solidFill>
                  <a:srgbClr val="3D4453"/>
                </a:solidFill>
              </a:rPr>
              <a:t>One agreed definition of ITG compliance for the 100% target</a:t>
            </a:r>
            <a:endParaRPr lang="en-US" sz="12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7280"/>
                </a:solidFill>
              </a:defRPr>
            </a:lvl1pPr>
          </a:lstStyle>
          <a:p>
            <a:pPr algn="r"/>
            <a:fld id="{F7021451-1387-4CA6-816F-3879F97B5CBC}" type="slidenum">
              <a:rPr b="0" lang="en-US"/>
              <a:t>5</a:t>
            </a:fld>
            <a:endParaRPr lang="en-US"/>
          </a:p>
        </p:txBody>
      </p:sp>
    </p:spTree>
  </p:cSld>
  <p:clrMapOvr>
    <a:masterClrMapping/>
  </p:clrMapOvr>
</p:sld>
</file>

<file path=ppt/theme/theme1.xml><?xml version="1.0" encoding="utf-8"?>
<a:theme xmlns:a="http://schemas.openxmlformats.org/drawingml/2006/main" name="VXI Coaching">
  <a:themeElements>
    <a:clrScheme name="VXI Coaching">
      <a:dk1>
        <a:srgbClr val="121826"/>
      </a:dk1>
      <a:lt1>
        <a:srgbClr val="FFFFFF"/>
      </a:lt1>
      <a:dk2>
        <a:srgbClr val="3D4453"/>
      </a:dk2>
      <a:lt2>
        <a:srgbClr val="F6F3EE"/>
      </a:lt2>
      <a:accent1>
        <a:srgbClr val="F26522"/>
      </a:accent1>
      <a:accent2>
        <a:srgbClr val="C94A10"/>
      </a:accent2>
      <a:accent3>
        <a:srgbClr val="1E7F5C"/>
      </a:accent3>
      <a:accent4>
        <a:srgbClr val="B42318"/>
      </a:accent4>
      <a:accent5>
        <a:srgbClr val="FDE9DF"/>
      </a:accent5>
      <a:accent6>
        <a:srgbClr val="8C96AC"/>
      </a:accent6>
      <a:hlink>
        <a:srgbClr val="C94A10"/>
      </a:hlink>
      <a:folHlink>
        <a:srgbClr val="C94A10"/>
      </a:folHlink>
    </a:clrScheme>
    <a:fontScheme name="VXI Coaching">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Coaching Calibration: TSX Cairo</dc:title>
  <dc:subject>PptxGenJS Presentation</dc:subject>
  <dc:creator>Omar Mansour</dc:creator>
  <cp:lastModifiedBy>Omar Mansour</cp:lastModifiedBy>
  <cp:revision>1</cp:revision>
  <dcterms:created xsi:type="dcterms:W3CDTF">2026-10-17T06:44:25Z</dcterms:created>
  <dcterms:modified xsi:type="dcterms:W3CDTF">2026-10-17T06:44:25Z</dcterms:modified>
</cp:coreProperties>
</file>