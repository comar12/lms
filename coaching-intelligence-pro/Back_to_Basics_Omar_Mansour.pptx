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147473760" r:id="rId4"/>
    <p:sldId id="258" r:id="rId5"/>
    <p:sldId id="259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1A0D5A10-B713-40AE-F30C-E6F3C60B00B7}">
          <p14:sldIdLst>
            <p14:sldId id="256"/>
          </p14:sldIdLst>
        </p14:section>
        <p14:section name="The five steps" id="{796F7EDB-887E-E88F-43BA-B254671B5A88}">
          <p14:sldIdLst>
            <p14:sldId id="257"/>
            <p14:sldId id="2147473760"/>
          </p14:sldIdLst>
        </p14:section>
        <p14:section name="My coaching technique" id="{86DC0846-61E4-F278-0574-882E3478F764}">
          <p14:sldIdLst>
            <p14:sldId id="258"/>
          </p14:sldIdLst>
        </p14:section>
        <p14:section name="Example" id="{00A2498B-45CB-B84A-D28E-1DBC8E06A7EB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870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back to basics. Every agent on my team gets coached the same way, in five steps. I will show you the five steps, my coaching technique, and one quick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five steps. One, I prepare with the data from Tableau, Power BI and i3, and I listen to 2 to 4 calls. Two, I find the root cause: is it knowledge, skill, or will. Three, I coach with questions: the agent names the gap, I model it, and we role play. Four, a clear plan: one or two behaviors, a target and a follow-up date. Five, I follow up every week with calls, a huddle and the calibration pack. The goal is simple: the agent leaves knowing one or two things to do differently on the next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my coaching technique. I ask first, with open questions. The agent names the gap in their own words, so they own it. Then I model the exact line that works, we role play until it sounds natural, and we close with a commitment and a follow-up date. And the question I always start with is: what was going through your mind at that moment?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quick example. Mohammed Ammar. When I listened to his calls, the gaps were assurance, empathy, acknowledgement, rapport, tone of voice, and silence on the call. So I told him three things: acknowledge, show empathy, and say you will take care of it. Keep a warm, confident tone and build rapport. And never go silent: say what you are doing, or use hold. The week before he had 1 promoter and 5 detractors. Last week he had 4 promoters and 2 detractors, 33.3. That is the five steps working on one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basics · TSX Cairo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3A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3209C2F9-CE6F-C6E8-84BA-8E4E44BD5D7D}"/>
              </a:ext>
            </a:extLst>
          </p:cNvPr>
          <p:cNvSpPr/>
          <p:nvPr userDrawn="1"/>
        </p:nvSpPr>
        <p:spPr>
          <a:xfrm flipH="1">
            <a:off x="9269846" y="2310736"/>
            <a:ext cx="2930427" cy="4563588"/>
          </a:xfrm>
          <a:custGeom>
            <a:avLst/>
            <a:gdLst>
              <a:gd name="connsiteX0" fmla="*/ 308 w 2930427"/>
              <a:gd name="connsiteY0" fmla="*/ 776010 h 4563588"/>
              <a:gd name="connsiteX1" fmla="*/ 140644 w 2930427"/>
              <a:gd name="connsiteY1" fmla="*/ 955433 h 4563588"/>
              <a:gd name="connsiteX2" fmla="*/ 237895 w 2930427"/>
              <a:gd name="connsiteY2" fmla="*/ 1109004 h 4563588"/>
              <a:gd name="connsiteX3" fmla="*/ 912186 w 2930427"/>
              <a:gd name="connsiteY3" fmla="*/ 2186465 h 4563588"/>
              <a:gd name="connsiteX4" fmla="*/ 892951 w 2930427"/>
              <a:gd name="connsiteY4" fmla="*/ 2202007 h 4563588"/>
              <a:gd name="connsiteX5" fmla="*/ 566269 w 2930427"/>
              <a:gd name="connsiteY5" fmla="*/ 2415899 h 4563588"/>
              <a:gd name="connsiteX6" fmla="*/ 308 w 2930427"/>
              <a:gd name="connsiteY6" fmla="*/ 1510475 h 4563588"/>
              <a:gd name="connsiteX7" fmla="*/ 308 w 2930427"/>
              <a:gd name="connsiteY7" fmla="*/ 2281563 h 4563588"/>
              <a:gd name="connsiteX8" fmla="*/ 109407 w 2930427"/>
              <a:gd name="connsiteY8" fmla="*/ 2210163 h 4563588"/>
              <a:gd name="connsiteX9" fmla="*/ 322220 w 2930427"/>
              <a:gd name="connsiteY9" fmla="*/ 2529154 h 4563588"/>
              <a:gd name="connsiteX10" fmla="*/ 333145 w 2930427"/>
              <a:gd name="connsiteY10" fmla="*/ 2551159 h 4563588"/>
              <a:gd name="connsiteX11" fmla="*/ 291906 w 2930427"/>
              <a:gd name="connsiteY11" fmla="*/ 2586859 h 4563588"/>
              <a:gd name="connsiteX12" fmla="*/ 154 w 2930427"/>
              <a:gd name="connsiteY12" fmla="*/ 2781054 h 4563588"/>
              <a:gd name="connsiteX13" fmla="*/ 154 w 2930427"/>
              <a:gd name="connsiteY13" fmla="*/ 3085273 h 4563588"/>
              <a:gd name="connsiteX14" fmla="*/ 1260719 w 2930427"/>
              <a:gd name="connsiteY14" fmla="*/ 2248786 h 4563588"/>
              <a:gd name="connsiteX15" fmla="*/ 1438755 w 2930427"/>
              <a:gd name="connsiteY15" fmla="*/ 2120759 h 4563588"/>
              <a:gd name="connsiteX16" fmla="*/ 1554317 w 2930427"/>
              <a:gd name="connsiteY16" fmla="*/ 1930718 h 4563588"/>
              <a:gd name="connsiteX17" fmla="*/ 1551547 w 2930427"/>
              <a:gd name="connsiteY17" fmla="*/ 1666662 h 4563588"/>
              <a:gd name="connsiteX18" fmla="*/ 1433215 w 2930427"/>
              <a:gd name="connsiteY18" fmla="*/ 1479237 h 4563588"/>
              <a:gd name="connsiteX19" fmla="*/ 1235944 w 2930427"/>
              <a:gd name="connsiteY19" fmla="*/ 1370445 h 4563588"/>
              <a:gd name="connsiteX20" fmla="*/ 970813 w 2930427"/>
              <a:gd name="connsiteY20" fmla="*/ 1384140 h 4563588"/>
              <a:gd name="connsiteX21" fmla="*/ 778159 w 2930427"/>
              <a:gd name="connsiteY21" fmla="*/ 1497395 h 4563588"/>
              <a:gd name="connsiteX22" fmla="*/ 551497 w 2930427"/>
              <a:gd name="connsiteY22" fmla="*/ 1151937 h 4563588"/>
              <a:gd name="connsiteX23" fmla="*/ 1020362 w 2930427"/>
              <a:gd name="connsiteY23" fmla="*/ 955433 h 4563588"/>
              <a:gd name="connsiteX24" fmla="*/ 1420290 w 2930427"/>
              <a:gd name="connsiteY24" fmla="*/ 1003905 h 4563588"/>
              <a:gd name="connsiteX25" fmla="*/ 1652337 w 2930427"/>
              <a:gd name="connsiteY25" fmla="*/ 1132702 h 4563588"/>
              <a:gd name="connsiteX26" fmla="*/ 1828527 w 2930427"/>
              <a:gd name="connsiteY26" fmla="*/ 1317203 h 4563588"/>
              <a:gd name="connsiteX27" fmla="*/ 1948705 w 2930427"/>
              <a:gd name="connsiteY27" fmla="*/ 1557562 h 4563588"/>
              <a:gd name="connsiteX28" fmla="*/ 1985328 w 2930427"/>
              <a:gd name="connsiteY28" fmla="*/ 1877476 h 4563588"/>
              <a:gd name="connsiteX29" fmla="*/ 1772515 w 2930427"/>
              <a:gd name="connsiteY29" fmla="*/ 2385585 h 4563588"/>
              <a:gd name="connsiteX30" fmla="*/ 1577091 w 2930427"/>
              <a:gd name="connsiteY30" fmla="*/ 2551005 h 4563588"/>
              <a:gd name="connsiteX31" fmla="*/ 1141310 w 2930427"/>
              <a:gd name="connsiteY31" fmla="*/ 2837066 h 4563588"/>
              <a:gd name="connsiteX32" fmla="*/ 704605 w 2930427"/>
              <a:gd name="connsiteY32" fmla="*/ 3122204 h 4563588"/>
              <a:gd name="connsiteX33" fmla="*/ 0 w 2930427"/>
              <a:gd name="connsiteY33" fmla="*/ 3585072 h 4563588"/>
              <a:gd name="connsiteX34" fmla="*/ 0 w 2930427"/>
              <a:gd name="connsiteY34" fmla="*/ 3908525 h 4563588"/>
              <a:gd name="connsiteX35" fmla="*/ 332991 w 2930427"/>
              <a:gd name="connsiteY35" fmla="*/ 3697096 h 4563588"/>
              <a:gd name="connsiteX36" fmla="*/ 717377 w 2930427"/>
              <a:gd name="connsiteY36" fmla="*/ 4269218 h 4563588"/>
              <a:gd name="connsiteX37" fmla="*/ 795393 w 2930427"/>
              <a:gd name="connsiteY37" fmla="*/ 4382473 h 4563588"/>
              <a:gd name="connsiteX38" fmla="*/ 1022978 w 2930427"/>
              <a:gd name="connsiteY38" fmla="*/ 4536968 h 4563588"/>
              <a:gd name="connsiteX39" fmla="*/ 1194551 w 2930427"/>
              <a:gd name="connsiteY39" fmla="*/ 4553433 h 4563588"/>
              <a:gd name="connsiteX40" fmla="*/ 1540468 w 2930427"/>
              <a:gd name="connsiteY40" fmla="*/ 4325845 h 4563588"/>
              <a:gd name="connsiteX41" fmla="*/ 1586323 w 2930427"/>
              <a:gd name="connsiteY41" fmla="*/ 4011471 h 4563588"/>
              <a:gd name="connsiteX42" fmla="*/ 1455066 w 2930427"/>
              <a:gd name="connsiteY42" fmla="*/ 3761109 h 4563588"/>
              <a:gd name="connsiteX43" fmla="*/ 1800059 w 2930427"/>
              <a:gd name="connsiteY43" fmla="*/ 3536292 h 4563588"/>
              <a:gd name="connsiteX44" fmla="*/ 1801906 w 2930427"/>
              <a:gd name="connsiteY44" fmla="*/ 3536292 h 4563588"/>
              <a:gd name="connsiteX45" fmla="*/ 1989021 w 2930427"/>
              <a:gd name="connsiteY45" fmla="*/ 3937455 h 4563588"/>
              <a:gd name="connsiteX46" fmla="*/ 1998254 w 2930427"/>
              <a:gd name="connsiteY46" fmla="*/ 4209821 h 4563588"/>
              <a:gd name="connsiteX47" fmla="*/ 1935933 w 2930427"/>
              <a:gd name="connsiteY47" fmla="*/ 4441101 h 4563588"/>
              <a:gd name="connsiteX48" fmla="*/ 1871459 w 2930427"/>
              <a:gd name="connsiteY48" fmla="*/ 4563435 h 4563588"/>
              <a:gd name="connsiteX49" fmla="*/ 2146899 w 2930427"/>
              <a:gd name="connsiteY49" fmla="*/ 4563435 h 4563588"/>
              <a:gd name="connsiteX50" fmla="*/ 2256153 w 2930427"/>
              <a:gd name="connsiteY50" fmla="*/ 3976848 h 4563588"/>
              <a:gd name="connsiteX51" fmla="*/ 2030568 w 2930427"/>
              <a:gd name="connsiteY51" fmla="*/ 3376412 h 4563588"/>
              <a:gd name="connsiteX52" fmla="*/ 2071807 w 2930427"/>
              <a:gd name="connsiteY52" fmla="*/ 3347175 h 4563588"/>
              <a:gd name="connsiteX53" fmla="*/ 2199372 w 2930427"/>
              <a:gd name="connsiteY53" fmla="*/ 3263157 h 4563588"/>
              <a:gd name="connsiteX54" fmla="*/ 2371868 w 2930427"/>
              <a:gd name="connsiteY54" fmla="*/ 3148979 h 4563588"/>
              <a:gd name="connsiteX55" fmla="*/ 2675469 w 2930427"/>
              <a:gd name="connsiteY55" fmla="*/ 3890983 h 4563588"/>
              <a:gd name="connsiteX56" fmla="*/ 2689164 w 2930427"/>
              <a:gd name="connsiteY56" fmla="*/ 4138728 h 4563588"/>
              <a:gd name="connsiteX57" fmla="*/ 2618996 w 2930427"/>
              <a:gd name="connsiteY57" fmla="*/ 4563589 h 4563588"/>
              <a:gd name="connsiteX58" fmla="*/ 2865507 w 2930427"/>
              <a:gd name="connsiteY58" fmla="*/ 4563589 h 4563588"/>
              <a:gd name="connsiteX59" fmla="*/ 2920288 w 2930427"/>
              <a:gd name="connsiteY59" fmla="*/ 4263832 h 4563588"/>
              <a:gd name="connsiteX60" fmla="*/ 2919365 w 2930427"/>
              <a:gd name="connsiteY60" fmla="*/ 3868209 h 4563588"/>
              <a:gd name="connsiteX61" fmla="*/ 2560676 w 2930427"/>
              <a:gd name="connsiteY61" fmla="*/ 2957091 h 4563588"/>
              <a:gd name="connsiteX62" fmla="*/ 2559753 w 2930427"/>
              <a:gd name="connsiteY62" fmla="*/ 2955245 h 4563588"/>
              <a:gd name="connsiteX63" fmla="*/ 2844118 w 2930427"/>
              <a:gd name="connsiteY63" fmla="*/ 2403281 h 4563588"/>
              <a:gd name="connsiteX64" fmla="*/ 2922134 w 2930427"/>
              <a:gd name="connsiteY64" fmla="*/ 1661276 h 4563588"/>
              <a:gd name="connsiteX65" fmla="*/ 2736866 w 2930427"/>
              <a:gd name="connsiteY65" fmla="*/ 1010676 h 4563588"/>
              <a:gd name="connsiteX66" fmla="*/ 2386487 w 2930427"/>
              <a:gd name="connsiteY66" fmla="*/ 523495 h 4563588"/>
              <a:gd name="connsiteX67" fmla="*/ 1592017 w 2930427"/>
              <a:gd name="connsiteY67" fmla="*/ 62011 h 4563588"/>
              <a:gd name="connsiteX68" fmla="*/ 1231482 w 2930427"/>
              <a:gd name="connsiteY68" fmla="*/ 2614 h 4563588"/>
              <a:gd name="connsiteX69" fmla="*/ 507642 w 2930427"/>
              <a:gd name="connsiteY69" fmla="*/ 111407 h 4563588"/>
              <a:gd name="connsiteX70" fmla="*/ 7694 w 2930427"/>
              <a:gd name="connsiteY70" fmla="*/ 396083 h 4563588"/>
              <a:gd name="connsiteX71" fmla="*/ 308 w 2930427"/>
              <a:gd name="connsiteY71" fmla="*/ 402700 h 4563588"/>
              <a:gd name="connsiteX72" fmla="*/ 308 w 2930427"/>
              <a:gd name="connsiteY72" fmla="*/ 776010 h 4563588"/>
              <a:gd name="connsiteX73" fmla="*/ 1093915 w 2930427"/>
              <a:gd name="connsiteY73" fmla="*/ 1579566 h 4563588"/>
              <a:gd name="connsiteX74" fmla="*/ 1260872 w 2930427"/>
              <a:gd name="connsiteY74" fmla="*/ 1636194 h 4563588"/>
              <a:gd name="connsiteX75" fmla="*/ 1334272 w 2930427"/>
              <a:gd name="connsiteY75" fmla="*/ 1786072 h 4563588"/>
              <a:gd name="connsiteX76" fmla="*/ 1277337 w 2930427"/>
              <a:gd name="connsiteY76" fmla="*/ 1950569 h 4563588"/>
              <a:gd name="connsiteX77" fmla="*/ 1147003 w 2930427"/>
              <a:gd name="connsiteY77" fmla="*/ 2043820 h 4563588"/>
              <a:gd name="connsiteX78" fmla="*/ 901107 w 2930427"/>
              <a:gd name="connsiteY78" fmla="*/ 1671894 h 4563588"/>
              <a:gd name="connsiteX79" fmla="*/ 1093761 w 2930427"/>
              <a:gd name="connsiteY79" fmla="*/ 1579566 h 4563588"/>
              <a:gd name="connsiteX80" fmla="*/ 1272721 w 2930427"/>
              <a:gd name="connsiteY80" fmla="*/ 4279990 h 4563588"/>
              <a:gd name="connsiteX81" fmla="*/ 1161622 w 2930427"/>
              <a:gd name="connsiteY81" fmla="*/ 4316613 h 4563588"/>
              <a:gd name="connsiteX82" fmla="*/ 1042366 w 2930427"/>
              <a:gd name="connsiteY82" fmla="*/ 4290145 h 4563588"/>
              <a:gd name="connsiteX83" fmla="*/ 907570 w 2930427"/>
              <a:gd name="connsiteY83" fmla="*/ 4131188 h 4563588"/>
              <a:gd name="connsiteX84" fmla="*/ 1280107 w 2930427"/>
              <a:gd name="connsiteY84" fmla="*/ 3886213 h 4563588"/>
              <a:gd name="connsiteX85" fmla="*/ 1373665 w 2930427"/>
              <a:gd name="connsiteY85" fmla="*/ 4087333 h 4563588"/>
              <a:gd name="connsiteX86" fmla="*/ 1272721 w 2930427"/>
              <a:gd name="connsiteY86" fmla="*/ 4280143 h 4563588"/>
              <a:gd name="connsiteX87" fmla="*/ 815859 w 2930427"/>
              <a:gd name="connsiteY87" fmla="*/ 297292 h 4563588"/>
              <a:gd name="connsiteX88" fmla="*/ 952656 w 2930427"/>
              <a:gd name="connsiteY88" fmla="*/ 277288 h 4563588"/>
              <a:gd name="connsiteX89" fmla="*/ 1100378 w 2930427"/>
              <a:gd name="connsiteY89" fmla="*/ 268979 h 4563588"/>
              <a:gd name="connsiteX90" fmla="*/ 1313191 w 2930427"/>
              <a:gd name="connsiteY90" fmla="*/ 280827 h 4563588"/>
              <a:gd name="connsiteX91" fmla="*/ 1500306 w 2930427"/>
              <a:gd name="connsiteY91" fmla="*/ 316527 h 4563588"/>
              <a:gd name="connsiteX92" fmla="*/ 1823295 w 2930427"/>
              <a:gd name="connsiteY92" fmla="*/ 438092 h 4563588"/>
              <a:gd name="connsiteX93" fmla="*/ 2317704 w 2930427"/>
              <a:gd name="connsiteY93" fmla="*/ 832945 h 4563588"/>
              <a:gd name="connsiteX94" fmla="*/ 2621458 w 2930427"/>
              <a:gd name="connsiteY94" fmla="*/ 1417840 h 4563588"/>
              <a:gd name="connsiteX95" fmla="*/ 2670083 w 2930427"/>
              <a:gd name="connsiteY95" fmla="*/ 1702977 h 4563588"/>
              <a:gd name="connsiteX96" fmla="*/ 2504049 w 2930427"/>
              <a:gd name="connsiteY96" fmla="*/ 2526384 h 4563588"/>
              <a:gd name="connsiteX97" fmla="*/ 2107661 w 2930427"/>
              <a:gd name="connsiteY97" fmla="*/ 3018951 h 4563588"/>
              <a:gd name="connsiteX98" fmla="*/ 1843453 w 2930427"/>
              <a:gd name="connsiteY98" fmla="*/ 3198989 h 4563588"/>
              <a:gd name="connsiteX99" fmla="*/ 744460 w 2930427"/>
              <a:gd name="connsiteY99" fmla="*/ 3878827 h 4563588"/>
              <a:gd name="connsiteX100" fmla="*/ 742613 w 2930427"/>
              <a:gd name="connsiteY100" fmla="*/ 3879750 h 4563588"/>
              <a:gd name="connsiteX101" fmla="*/ 514105 w 2930427"/>
              <a:gd name="connsiteY101" fmla="*/ 3534292 h 4563588"/>
              <a:gd name="connsiteX102" fmla="*/ 1537083 w 2930427"/>
              <a:gd name="connsiteY102" fmla="*/ 2900926 h 4563588"/>
              <a:gd name="connsiteX103" fmla="*/ 1788519 w 2930427"/>
              <a:gd name="connsiteY103" fmla="*/ 2738275 h 4563588"/>
              <a:gd name="connsiteX104" fmla="*/ 1994868 w 2930427"/>
              <a:gd name="connsiteY104" fmla="*/ 2530847 h 4563588"/>
              <a:gd name="connsiteX105" fmla="*/ 2226146 w 2930427"/>
              <a:gd name="connsiteY105" fmla="*/ 1935950 h 4563588"/>
              <a:gd name="connsiteX106" fmla="*/ 2077501 w 2930427"/>
              <a:gd name="connsiteY106" fmla="*/ 1267038 h 4563588"/>
              <a:gd name="connsiteX107" fmla="*/ 1664647 w 2930427"/>
              <a:gd name="connsiteY107" fmla="*/ 853104 h 4563588"/>
              <a:gd name="connsiteX108" fmla="*/ 1371049 w 2930427"/>
              <a:gd name="connsiteY108" fmla="*/ 732462 h 4563588"/>
              <a:gd name="connsiteX109" fmla="*/ 995895 w 2930427"/>
              <a:gd name="connsiteY109" fmla="*/ 700456 h 4563588"/>
              <a:gd name="connsiteX110" fmla="*/ 659211 w 2930427"/>
              <a:gd name="connsiteY110" fmla="*/ 778164 h 4563588"/>
              <a:gd name="connsiteX111" fmla="*/ 391311 w 2930427"/>
              <a:gd name="connsiteY111" fmla="*/ 923426 h 4563588"/>
              <a:gd name="connsiteX112" fmla="*/ 163726 w 2930427"/>
              <a:gd name="connsiteY112" fmla="*/ 583507 h 4563588"/>
              <a:gd name="connsiteX113" fmla="*/ 816013 w 2930427"/>
              <a:gd name="connsiteY113" fmla="*/ 297446 h 456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</a:cxnLst>
            <a:rect l="l" t="t" r="r" b="b"/>
            <a:pathLst>
              <a:path w="2930427" h="4563588">
                <a:moveTo>
                  <a:pt x="308" y="776010"/>
                </a:moveTo>
                <a:cubicBezTo>
                  <a:pt x="51241" y="832022"/>
                  <a:pt x="98020" y="891727"/>
                  <a:pt x="140644" y="955433"/>
                </a:cubicBezTo>
                <a:cubicBezTo>
                  <a:pt x="174343" y="1005598"/>
                  <a:pt x="205734" y="1057763"/>
                  <a:pt x="237895" y="1109004"/>
                </a:cubicBezTo>
                <a:cubicBezTo>
                  <a:pt x="462710" y="1467081"/>
                  <a:pt x="686755" y="1827466"/>
                  <a:pt x="912186" y="2186465"/>
                </a:cubicBezTo>
                <a:cubicBezTo>
                  <a:pt x="907724" y="2193544"/>
                  <a:pt x="899722" y="2197545"/>
                  <a:pt x="892951" y="2202007"/>
                </a:cubicBezTo>
                <a:cubicBezTo>
                  <a:pt x="786006" y="2273099"/>
                  <a:pt x="674907" y="2345576"/>
                  <a:pt x="566269" y="2415899"/>
                </a:cubicBezTo>
                <a:cubicBezTo>
                  <a:pt x="377923" y="2114604"/>
                  <a:pt x="189577" y="1812539"/>
                  <a:pt x="308" y="1510475"/>
                </a:cubicBezTo>
                <a:lnTo>
                  <a:pt x="308" y="2281563"/>
                </a:lnTo>
                <a:cubicBezTo>
                  <a:pt x="36931" y="2257558"/>
                  <a:pt x="73553" y="2234322"/>
                  <a:pt x="109407" y="2210163"/>
                </a:cubicBezTo>
                <a:cubicBezTo>
                  <a:pt x="179883" y="2315416"/>
                  <a:pt x="252821" y="2422208"/>
                  <a:pt x="322220" y="2529154"/>
                </a:cubicBezTo>
                <a:cubicBezTo>
                  <a:pt x="326528" y="2535771"/>
                  <a:pt x="332068" y="2543157"/>
                  <a:pt x="333145" y="2551159"/>
                </a:cubicBezTo>
                <a:cubicBezTo>
                  <a:pt x="323912" y="2567470"/>
                  <a:pt x="306678" y="2576857"/>
                  <a:pt x="291906" y="2586859"/>
                </a:cubicBezTo>
                <a:cubicBezTo>
                  <a:pt x="194809" y="2651642"/>
                  <a:pt x="97558" y="2716425"/>
                  <a:pt x="154" y="2781054"/>
                </a:cubicBezTo>
                <a:lnTo>
                  <a:pt x="154" y="3085273"/>
                </a:lnTo>
                <a:cubicBezTo>
                  <a:pt x="419932" y="2806136"/>
                  <a:pt x="841402" y="2527153"/>
                  <a:pt x="1260719" y="2248786"/>
                </a:cubicBezTo>
                <a:cubicBezTo>
                  <a:pt x="1320731" y="2208932"/>
                  <a:pt x="1389052" y="2170308"/>
                  <a:pt x="1438755" y="2120759"/>
                </a:cubicBezTo>
                <a:cubicBezTo>
                  <a:pt x="1488919" y="2070748"/>
                  <a:pt x="1530158" y="2009043"/>
                  <a:pt x="1554317" y="1930718"/>
                </a:cubicBezTo>
                <a:cubicBezTo>
                  <a:pt x="1579861" y="1848085"/>
                  <a:pt x="1577552" y="1747756"/>
                  <a:pt x="1551547" y="1666662"/>
                </a:cubicBezTo>
                <a:cubicBezTo>
                  <a:pt x="1527081" y="1590030"/>
                  <a:pt x="1485534" y="1531556"/>
                  <a:pt x="1433215" y="1479237"/>
                </a:cubicBezTo>
                <a:cubicBezTo>
                  <a:pt x="1382282" y="1428611"/>
                  <a:pt x="1314730" y="1390141"/>
                  <a:pt x="1235944" y="1370445"/>
                </a:cubicBezTo>
                <a:cubicBezTo>
                  <a:pt x="1146695" y="1348286"/>
                  <a:pt x="1046521" y="1356288"/>
                  <a:pt x="970813" y="1384140"/>
                </a:cubicBezTo>
                <a:cubicBezTo>
                  <a:pt x="895721" y="1411838"/>
                  <a:pt x="841710" y="1456463"/>
                  <a:pt x="778159" y="1497395"/>
                </a:cubicBezTo>
                <a:cubicBezTo>
                  <a:pt x="700758" y="1384140"/>
                  <a:pt x="626435" y="1267808"/>
                  <a:pt x="551497" y="1151937"/>
                </a:cubicBezTo>
                <a:cubicBezTo>
                  <a:pt x="684447" y="1059609"/>
                  <a:pt x="819090" y="979284"/>
                  <a:pt x="1020362" y="955433"/>
                </a:cubicBezTo>
                <a:cubicBezTo>
                  <a:pt x="1166546" y="938045"/>
                  <a:pt x="1313499" y="965897"/>
                  <a:pt x="1420290" y="1003905"/>
                </a:cubicBezTo>
                <a:cubicBezTo>
                  <a:pt x="1510770" y="1036220"/>
                  <a:pt x="1585092" y="1080537"/>
                  <a:pt x="1652337" y="1132702"/>
                </a:cubicBezTo>
                <a:cubicBezTo>
                  <a:pt x="1720659" y="1185790"/>
                  <a:pt x="1778209" y="1245957"/>
                  <a:pt x="1828527" y="1317203"/>
                </a:cubicBezTo>
                <a:cubicBezTo>
                  <a:pt x="1878383" y="1387833"/>
                  <a:pt x="1921469" y="1467850"/>
                  <a:pt x="1948705" y="1557562"/>
                </a:cubicBezTo>
                <a:cubicBezTo>
                  <a:pt x="1976249" y="1648196"/>
                  <a:pt x="1994099" y="1758989"/>
                  <a:pt x="1985328" y="1877476"/>
                </a:cubicBezTo>
                <a:cubicBezTo>
                  <a:pt x="1969325" y="2093522"/>
                  <a:pt x="1882538" y="2259866"/>
                  <a:pt x="1772515" y="2385585"/>
                </a:cubicBezTo>
                <a:cubicBezTo>
                  <a:pt x="1716196" y="2449906"/>
                  <a:pt x="1650337" y="2502379"/>
                  <a:pt x="1577091" y="2551005"/>
                </a:cubicBezTo>
                <a:cubicBezTo>
                  <a:pt x="1433061" y="2646718"/>
                  <a:pt x="1286416" y="2740276"/>
                  <a:pt x="1141310" y="2837066"/>
                </a:cubicBezTo>
                <a:cubicBezTo>
                  <a:pt x="996665" y="2933548"/>
                  <a:pt x="849866" y="3028030"/>
                  <a:pt x="704605" y="3122204"/>
                </a:cubicBezTo>
                <a:cubicBezTo>
                  <a:pt x="468095" y="3275467"/>
                  <a:pt x="233894" y="3431654"/>
                  <a:pt x="0" y="3585072"/>
                </a:cubicBezTo>
                <a:lnTo>
                  <a:pt x="0" y="3908525"/>
                </a:lnTo>
                <a:cubicBezTo>
                  <a:pt x="110792" y="3837741"/>
                  <a:pt x="222353" y="3767880"/>
                  <a:pt x="332991" y="3697096"/>
                </a:cubicBezTo>
                <a:cubicBezTo>
                  <a:pt x="461479" y="3885905"/>
                  <a:pt x="588735" y="4077792"/>
                  <a:pt x="717377" y="4269218"/>
                </a:cubicBezTo>
                <a:cubicBezTo>
                  <a:pt x="743075" y="4307534"/>
                  <a:pt x="767695" y="4346927"/>
                  <a:pt x="795393" y="4382473"/>
                </a:cubicBezTo>
                <a:cubicBezTo>
                  <a:pt x="850327" y="4453565"/>
                  <a:pt x="925266" y="4507731"/>
                  <a:pt x="1022978" y="4536968"/>
                </a:cubicBezTo>
                <a:cubicBezTo>
                  <a:pt x="1074988" y="4552509"/>
                  <a:pt x="1136078" y="4559895"/>
                  <a:pt x="1194551" y="4553433"/>
                </a:cubicBezTo>
                <a:cubicBezTo>
                  <a:pt x="1359200" y="4535429"/>
                  <a:pt x="1474608" y="4443717"/>
                  <a:pt x="1540468" y="4325845"/>
                </a:cubicBezTo>
                <a:cubicBezTo>
                  <a:pt x="1584169" y="4247675"/>
                  <a:pt x="1613868" y="4129958"/>
                  <a:pt x="1586323" y="4011471"/>
                </a:cubicBezTo>
                <a:cubicBezTo>
                  <a:pt x="1562319" y="3907756"/>
                  <a:pt x="1505999" y="3838972"/>
                  <a:pt x="1455066" y="3761109"/>
                </a:cubicBezTo>
                <a:cubicBezTo>
                  <a:pt x="1569859" y="3686017"/>
                  <a:pt x="1685113" y="3611231"/>
                  <a:pt x="1800059" y="3536292"/>
                </a:cubicBezTo>
                <a:lnTo>
                  <a:pt x="1801906" y="3536292"/>
                </a:lnTo>
                <a:cubicBezTo>
                  <a:pt x="1882999" y="3652317"/>
                  <a:pt x="1957014" y="3772958"/>
                  <a:pt x="1989021" y="3937455"/>
                </a:cubicBezTo>
                <a:cubicBezTo>
                  <a:pt x="2005486" y="4021781"/>
                  <a:pt x="2009487" y="4121956"/>
                  <a:pt x="1998254" y="4209821"/>
                </a:cubicBezTo>
                <a:cubicBezTo>
                  <a:pt x="1987174" y="4295993"/>
                  <a:pt x="1965016" y="4373702"/>
                  <a:pt x="1935933" y="4441101"/>
                </a:cubicBezTo>
                <a:cubicBezTo>
                  <a:pt x="1917160" y="4484187"/>
                  <a:pt x="1895463" y="4524965"/>
                  <a:pt x="1871459" y="4563435"/>
                </a:cubicBezTo>
                <a:lnTo>
                  <a:pt x="2146899" y="4563435"/>
                </a:lnTo>
                <a:cubicBezTo>
                  <a:pt x="2224146" y="4404940"/>
                  <a:pt x="2275387" y="4206589"/>
                  <a:pt x="2256153" y="3976848"/>
                </a:cubicBezTo>
                <a:cubicBezTo>
                  <a:pt x="2234917" y="3723563"/>
                  <a:pt x="2142437" y="3542601"/>
                  <a:pt x="2030568" y="3376412"/>
                </a:cubicBezTo>
                <a:cubicBezTo>
                  <a:pt x="2043340" y="3365332"/>
                  <a:pt x="2057804" y="3356562"/>
                  <a:pt x="2071807" y="3347175"/>
                </a:cubicBezTo>
                <a:cubicBezTo>
                  <a:pt x="2113508" y="3319477"/>
                  <a:pt x="2156286" y="3290855"/>
                  <a:pt x="2199372" y="3263157"/>
                </a:cubicBezTo>
                <a:cubicBezTo>
                  <a:pt x="2257230" y="3225918"/>
                  <a:pt x="2314010" y="3186064"/>
                  <a:pt x="2371868" y="3148979"/>
                </a:cubicBezTo>
                <a:cubicBezTo>
                  <a:pt x="2512666" y="3357177"/>
                  <a:pt x="2634845" y="3584456"/>
                  <a:pt x="2675469" y="3890983"/>
                </a:cubicBezTo>
                <a:cubicBezTo>
                  <a:pt x="2686086" y="3970693"/>
                  <a:pt x="2691164" y="4054249"/>
                  <a:pt x="2689164" y="4138728"/>
                </a:cubicBezTo>
                <a:cubicBezTo>
                  <a:pt x="2685471" y="4295378"/>
                  <a:pt x="2659004" y="4436946"/>
                  <a:pt x="2618996" y="4563589"/>
                </a:cubicBezTo>
                <a:lnTo>
                  <a:pt x="2865507" y="4563589"/>
                </a:lnTo>
                <a:cubicBezTo>
                  <a:pt x="2891205" y="4469722"/>
                  <a:pt x="2910132" y="4370009"/>
                  <a:pt x="2920288" y="4263832"/>
                </a:cubicBezTo>
                <a:cubicBezTo>
                  <a:pt x="2932752" y="4134420"/>
                  <a:pt x="2932752" y="3994236"/>
                  <a:pt x="2919365" y="3868209"/>
                </a:cubicBezTo>
                <a:cubicBezTo>
                  <a:pt x="2878895" y="3487974"/>
                  <a:pt x="2736712" y="3199759"/>
                  <a:pt x="2560676" y="2957091"/>
                </a:cubicBezTo>
                <a:cubicBezTo>
                  <a:pt x="2560676" y="2956168"/>
                  <a:pt x="2559907" y="2956014"/>
                  <a:pt x="2559753" y="2955245"/>
                </a:cubicBezTo>
                <a:cubicBezTo>
                  <a:pt x="2679470" y="2794595"/>
                  <a:pt x="2777182" y="2615172"/>
                  <a:pt x="2844118" y="2403281"/>
                </a:cubicBezTo>
                <a:cubicBezTo>
                  <a:pt x="2909363" y="2196621"/>
                  <a:pt x="2948447" y="1935489"/>
                  <a:pt x="2922134" y="1661276"/>
                </a:cubicBezTo>
                <a:cubicBezTo>
                  <a:pt x="2897976" y="1409684"/>
                  <a:pt x="2830577" y="1196562"/>
                  <a:pt x="2736866" y="1010676"/>
                </a:cubicBezTo>
                <a:cubicBezTo>
                  <a:pt x="2643770" y="826021"/>
                  <a:pt x="2525130" y="661678"/>
                  <a:pt x="2386487" y="523495"/>
                </a:cubicBezTo>
                <a:cubicBezTo>
                  <a:pt x="2177367" y="315296"/>
                  <a:pt x="1920084" y="152492"/>
                  <a:pt x="1592017" y="62011"/>
                </a:cubicBezTo>
                <a:cubicBezTo>
                  <a:pt x="1481687" y="31543"/>
                  <a:pt x="1360277" y="9385"/>
                  <a:pt x="1231482" y="2614"/>
                </a:cubicBezTo>
                <a:cubicBezTo>
                  <a:pt x="948655" y="-12158"/>
                  <a:pt x="708144" y="37237"/>
                  <a:pt x="507642" y="111407"/>
                </a:cubicBezTo>
                <a:cubicBezTo>
                  <a:pt x="318526" y="180806"/>
                  <a:pt x="150031" y="279750"/>
                  <a:pt x="7694" y="396083"/>
                </a:cubicBezTo>
                <a:cubicBezTo>
                  <a:pt x="5232" y="398083"/>
                  <a:pt x="2770" y="400391"/>
                  <a:pt x="308" y="402700"/>
                </a:cubicBezTo>
                <a:lnTo>
                  <a:pt x="308" y="776010"/>
                </a:lnTo>
                <a:close/>
                <a:moveTo>
                  <a:pt x="1093915" y="1579566"/>
                </a:moveTo>
                <a:cubicBezTo>
                  <a:pt x="1168854" y="1574334"/>
                  <a:pt x="1220557" y="1600956"/>
                  <a:pt x="1260872" y="1636194"/>
                </a:cubicBezTo>
                <a:cubicBezTo>
                  <a:pt x="1301188" y="1671432"/>
                  <a:pt x="1329348" y="1722058"/>
                  <a:pt x="1334272" y="1786072"/>
                </a:cubicBezTo>
                <a:cubicBezTo>
                  <a:pt x="1339812" y="1857934"/>
                  <a:pt x="1311806" y="1911483"/>
                  <a:pt x="1277337" y="1950569"/>
                </a:cubicBezTo>
                <a:cubicBezTo>
                  <a:pt x="1241792" y="1990885"/>
                  <a:pt x="1191935" y="2013659"/>
                  <a:pt x="1147003" y="2043820"/>
                </a:cubicBezTo>
                <a:cubicBezTo>
                  <a:pt x="1065140" y="1919639"/>
                  <a:pt x="982508" y="1796382"/>
                  <a:pt x="901107" y="1671894"/>
                </a:cubicBezTo>
                <a:cubicBezTo>
                  <a:pt x="963273" y="1638810"/>
                  <a:pt x="1006359" y="1585568"/>
                  <a:pt x="1093761" y="1579566"/>
                </a:cubicBezTo>
                <a:close/>
                <a:moveTo>
                  <a:pt x="1272721" y="4279990"/>
                </a:moveTo>
                <a:cubicBezTo>
                  <a:pt x="1241176" y="4300917"/>
                  <a:pt x="1206246" y="4313381"/>
                  <a:pt x="1161622" y="4316613"/>
                </a:cubicBezTo>
                <a:cubicBezTo>
                  <a:pt x="1118074" y="4319690"/>
                  <a:pt x="1074835" y="4307995"/>
                  <a:pt x="1042366" y="4290145"/>
                </a:cubicBezTo>
                <a:cubicBezTo>
                  <a:pt x="978815" y="4255061"/>
                  <a:pt x="945116" y="4190278"/>
                  <a:pt x="907570" y="4131188"/>
                </a:cubicBezTo>
                <a:cubicBezTo>
                  <a:pt x="1031595" y="4050094"/>
                  <a:pt x="1157005" y="3965461"/>
                  <a:pt x="1280107" y="3886213"/>
                </a:cubicBezTo>
                <a:cubicBezTo>
                  <a:pt x="1316884" y="3950381"/>
                  <a:pt x="1369664" y="3993621"/>
                  <a:pt x="1373665" y="4087333"/>
                </a:cubicBezTo>
                <a:cubicBezTo>
                  <a:pt x="1377512" y="4177506"/>
                  <a:pt x="1330733" y="4241520"/>
                  <a:pt x="1272721" y="4280143"/>
                </a:cubicBezTo>
                <a:close/>
                <a:moveTo>
                  <a:pt x="815859" y="297292"/>
                </a:moveTo>
                <a:cubicBezTo>
                  <a:pt x="860175" y="288983"/>
                  <a:pt x="905108" y="282366"/>
                  <a:pt x="952656" y="277288"/>
                </a:cubicBezTo>
                <a:cubicBezTo>
                  <a:pt x="999588" y="272056"/>
                  <a:pt x="1047906" y="271441"/>
                  <a:pt x="1100378" y="268979"/>
                </a:cubicBezTo>
                <a:cubicBezTo>
                  <a:pt x="1169469" y="265747"/>
                  <a:pt x="1249947" y="273133"/>
                  <a:pt x="1313191" y="280827"/>
                </a:cubicBezTo>
                <a:cubicBezTo>
                  <a:pt x="1380435" y="289137"/>
                  <a:pt x="1442448" y="302217"/>
                  <a:pt x="1500306" y="316527"/>
                </a:cubicBezTo>
                <a:cubicBezTo>
                  <a:pt x="1620176" y="346072"/>
                  <a:pt x="1727275" y="387466"/>
                  <a:pt x="1823295" y="438092"/>
                </a:cubicBezTo>
                <a:cubicBezTo>
                  <a:pt x="2019027" y="541037"/>
                  <a:pt x="2183676" y="668756"/>
                  <a:pt x="2317704" y="832945"/>
                </a:cubicBezTo>
                <a:cubicBezTo>
                  <a:pt x="2450500" y="995442"/>
                  <a:pt x="2559445" y="1187175"/>
                  <a:pt x="2621458" y="1417840"/>
                </a:cubicBezTo>
                <a:cubicBezTo>
                  <a:pt x="2645155" y="1506166"/>
                  <a:pt x="2662697" y="1599725"/>
                  <a:pt x="2670083" y="1702977"/>
                </a:cubicBezTo>
                <a:cubicBezTo>
                  <a:pt x="2693934" y="2035202"/>
                  <a:pt x="2614841" y="2310800"/>
                  <a:pt x="2504049" y="2526384"/>
                </a:cubicBezTo>
                <a:cubicBezTo>
                  <a:pt x="2403259" y="2722734"/>
                  <a:pt x="2270309" y="2883999"/>
                  <a:pt x="2107661" y="3018951"/>
                </a:cubicBezTo>
                <a:cubicBezTo>
                  <a:pt x="2027029" y="3085888"/>
                  <a:pt x="1936703" y="3140669"/>
                  <a:pt x="1843453" y="3198989"/>
                </a:cubicBezTo>
                <a:cubicBezTo>
                  <a:pt x="1477070" y="3428115"/>
                  <a:pt x="1110226" y="3649085"/>
                  <a:pt x="744460" y="3878827"/>
                </a:cubicBezTo>
                <a:cubicBezTo>
                  <a:pt x="743382" y="3878827"/>
                  <a:pt x="742767" y="3878981"/>
                  <a:pt x="742613" y="3879750"/>
                </a:cubicBezTo>
                <a:cubicBezTo>
                  <a:pt x="665982" y="3764956"/>
                  <a:pt x="589659" y="3650163"/>
                  <a:pt x="514105" y="3534292"/>
                </a:cubicBezTo>
                <a:cubicBezTo>
                  <a:pt x="853866" y="3323170"/>
                  <a:pt x="1196244" y="3113279"/>
                  <a:pt x="1537083" y="2900926"/>
                </a:cubicBezTo>
                <a:cubicBezTo>
                  <a:pt x="1623870" y="2846914"/>
                  <a:pt x="1712041" y="2798442"/>
                  <a:pt x="1788519" y="2738275"/>
                </a:cubicBezTo>
                <a:cubicBezTo>
                  <a:pt x="1865919" y="2677493"/>
                  <a:pt x="1934087" y="2610094"/>
                  <a:pt x="1994868" y="2530847"/>
                </a:cubicBezTo>
                <a:cubicBezTo>
                  <a:pt x="2112277" y="2377737"/>
                  <a:pt x="2204757" y="2185850"/>
                  <a:pt x="2226146" y="1935950"/>
                </a:cubicBezTo>
                <a:cubicBezTo>
                  <a:pt x="2249382" y="1662200"/>
                  <a:pt x="2175521" y="1435997"/>
                  <a:pt x="2077501" y="1267038"/>
                </a:cubicBezTo>
                <a:cubicBezTo>
                  <a:pt x="1976095" y="1092232"/>
                  <a:pt x="1835913" y="953125"/>
                  <a:pt x="1664647" y="853104"/>
                </a:cubicBezTo>
                <a:cubicBezTo>
                  <a:pt x="1578937" y="803093"/>
                  <a:pt x="1480917" y="760007"/>
                  <a:pt x="1371049" y="732462"/>
                </a:cubicBezTo>
                <a:cubicBezTo>
                  <a:pt x="1259949" y="704610"/>
                  <a:pt x="1130692" y="688761"/>
                  <a:pt x="995895" y="700456"/>
                </a:cubicBezTo>
                <a:cubicBezTo>
                  <a:pt x="867100" y="711535"/>
                  <a:pt x="758001" y="738464"/>
                  <a:pt x="659211" y="778164"/>
                </a:cubicBezTo>
                <a:cubicBezTo>
                  <a:pt x="561191" y="817711"/>
                  <a:pt x="476405" y="869415"/>
                  <a:pt x="391311" y="923426"/>
                </a:cubicBezTo>
                <a:cubicBezTo>
                  <a:pt x="313756" y="811864"/>
                  <a:pt x="240203" y="696147"/>
                  <a:pt x="163726" y="583507"/>
                </a:cubicBezTo>
                <a:cubicBezTo>
                  <a:pt x="354226" y="458096"/>
                  <a:pt x="551959" y="346534"/>
                  <a:pt x="816013" y="297446"/>
                </a:cubicBezTo>
                <a:close/>
              </a:path>
            </a:pathLst>
          </a:custGeom>
          <a:solidFill>
            <a:srgbClr val="E9EAEA">
              <a:alpha val="49000"/>
            </a:srgbClr>
          </a:solidFill>
          <a:ln w="0" cap="flat">
            <a:solidFill>
              <a:schemeClr val="accent5">
                <a:alpha val="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897AC962-4D70-4E75-9802-2E26E81D0331}"/>
              </a:ext>
            </a:extLst>
          </p:cNvPr>
          <p:cNvSpPr/>
          <p:nvPr userDrawn="1"/>
        </p:nvSpPr>
        <p:spPr>
          <a:xfrm>
            <a:off x="11302392" y="6386513"/>
            <a:ext cx="496516" cy="471487"/>
          </a:xfrm>
          <a:prstGeom prst="round2SameRect">
            <a:avLst/>
          </a:prstGeom>
          <a:solidFill>
            <a:srgbClr val="F56D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679E55BF-72E3-432A-9BEF-5511D5C5A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0000" y="6429417"/>
            <a:ext cx="24130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3B0C193-4324-4209-B592-8E11DDD51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BFDEACA7-5E8F-902D-841C-622D4061E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1" y="391170"/>
            <a:ext cx="9787818" cy="498598"/>
          </a:xfrm>
          <a:prstGeom prst="rect">
            <a:avLst/>
          </a:prstGeom>
        </p:spPr>
        <p:txBody>
          <a:bodyPr/>
          <a:lstStyle>
            <a:lvl1pPr>
              <a:defRPr sz="3600" b="0">
                <a:solidFill>
                  <a:srgbClr val="F56D13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D260826-2853-1857-480C-C983ACDE91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4500" y="1313161"/>
            <a:ext cx="11292876" cy="4785981"/>
          </a:xfrm>
          <a:prstGeom prst="rect">
            <a:avLst/>
          </a:prstGeom>
        </p:spPr>
        <p:txBody>
          <a:bodyPr/>
          <a:lstStyle>
            <a:lvl1pPr>
              <a:defRPr lang="en-US" sz="1800" dirty="0">
                <a:solidFill>
                  <a:schemeClr val="tx1"/>
                </a:solidFill>
              </a:defRPr>
            </a:lvl1pPr>
            <a:lvl2pPr>
              <a:defRPr lang="en-US" sz="1800" dirty="0">
                <a:solidFill>
                  <a:schemeClr val="tx1"/>
                </a:solidFill>
              </a:defRPr>
            </a:lvl2pPr>
            <a:lvl3pPr>
              <a:defRPr lang="en-US" sz="1800" dirty="0">
                <a:solidFill>
                  <a:schemeClr val="tx1"/>
                </a:solidFill>
              </a:defRPr>
            </a:lvl3pPr>
            <a:lvl4pPr>
              <a:defRPr lang="en-US" sz="1800" dirty="0">
                <a:solidFill>
                  <a:schemeClr val="tx1"/>
                </a:solidFill>
              </a:defRPr>
            </a:lvl4pPr>
            <a:lvl5pPr>
              <a:defRPr lang="en-US" sz="1800" dirty="0">
                <a:solidFill>
                  <a:schemeClr val="tx1"/>
                </a:solidFill>
              </a:defRPr>
            </a:lvl5pPr>
          </a:lstStyle>
          <a:p>
            <a:pPr lvl="0">
              <a:spcAft>
                <a:spcPts val="800"/>
              </a:spcAft>
              <a:buClr>
                <a:schemeClr val="accent1"/>
              </a:buClr>
            </a:pPr>
            <a:r>
              <a:rPr lang="en-US" dirty="0"/>
              <a:t>Click to edit Master text styles</a:t>
            </a:r>
          </a:p>
          <a:p>
            <a:pPr lvl="1">
              <a:spcAft>
                <a:spcPts val="800"/>
              </a:spcAft>
              <a:buClr>
                <a:srgbClr val="545750"/>
              </a:buClr>
            </a:pPr>
            <a:r>
              <a:rPr lang="en-US" dirty="0"/>
              <a:t>Second level</a:t>
            </a:r>
          </a:p>
          <a:p>
            <a:pPr lvl="2">
              <a:spcAft>
                <a:spcPts val="800"/>
              </a:spcAft>
              <a:buClr>
                <a:srgbClr val="545750"/>
              </a:buClr>
            </a:pPr>
            <a:r>
              <a:rPr lang="en-US" dirty="0"/>
              <a:t>Third level</a:t>
            </a:r>
          </a:p>
          <a:p>
            <a:pPr lvl="3">
              <a:spcAft>
                <a:spcPts val="800"/>
              </a:spcAft>
              <a:buClr>
                <a:srgbClr val="545750"/>
              </a:buClr>
            </a:pPr>
            <a:r>
              <a:rPr lang="en-US" dirty="0"/>
              <a:t>Fourth level</a:t>
            </a:r>
          </a:p>
          <a:p>
            <a:pPr lvl="4">
              <a:spcAft>
                <a:spcPts val="800"/>
              </a:spcAft>
              <a:buClr>
                <a:srgbClr val="545750"/>
              </a:buClr>
            </a:pPr>
            <a:r>
              <a:rPr lang="en-US" dirty="0"/>
              <a:t>Fifth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FC946C9-5BCD-FAD1-67DF-1127993917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700986" y="378544"/>
            <a:ext cx="1029771" cy="45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642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26522"/>
                </a:solidFill>
              </a:rPr>
              <a:t>VXI · TSX CAIRO · COMCAST REPAIR</a:t>
            </a:r>
            <a:endParaRPr lang="en-US" sz="1200" dirty="0"/>
          </a:p>
        </p:txBody>
      </p:sp>
      <p:sp>
        <p:nvSpPr>
          <p:cNvPr id="3" name="Deck title"/>
          <p:cNvSpPr txBox="1"/>
          <p:nvPr/>
        </p:nvSpPr>
        <p:spPr>
          <a:xfrm>
            <a:off x="548640" y="17373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kern="0" spc="-100" dirty="0">
                <a:solidFill>
                  <a:srgbClr val="FFFFFF"/>
                </a:solidFill>
              </a:rPr>
              <a:t>Back to basics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D9DDE6"/>
                </a:solidFill>
              </a:rPr>
              <a:t>How I coach my team, in five steps.</a:t>
            </a:r>
            <a:endParaRPr lang="en-US" sz="2200" dirty="0"/>
          </a:p>
        </p:txBody>
      </p:sp>
      <p:sp>
        <p:nvSpPr>
          <p:cNvPr id="5" name="!!Card 1"/>
          <p:cNvSpPr/>
          <p:nvPr/>
        </p:nvSpPr>
        <p:spPr>
          <a:xfrm>
            <a:off x="7498080" y="2011680"/>
            <a:ext cx="749808" cy="749808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!!Number 1"/>
          <p:cNvSpPr txBox="1"/>
          <p:nvPr/>
        </p:nvSpPr>
        <p:spPr>
          <a:xfrm>
            <a:off x="7498080" y="20116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!!Card 2"/>
          <p:cNvSpPr/>
          <p:nvPr/>
        </p:nvSpPr>
        <p:spPr>
          <a:xfrm>
            <a:off x="8366760" y="2011680"/>
            <a:ext cx="749808" cy="749808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!!Number 2"/>
          <p:cNvSpPr txBox="1"/>
          <p:nvPr/>
        </p:nvSpPr>
        <p:spPr>
          <a:xfrm>
            <a:off x="8366760" y="20116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!!Card 3"/>
          <p:cNvSpPr/>
          <p:nvPr/>
        </p:nvSpPr>
        <p:spPr>
          <a:xfrm>
            <a:off x="9235440" y="2011680"/>
            <a:ext cx="749808" cy="749808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!!Number 3"/>
          <p:cNvSpPr txBox="1"/>
          <p:nvPr/>
        </p:nvSpPr>
        <p:spPr>
          <a:xfrm>
            <a:off x="9235440" y="20116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1" name="!!Card 4"/>
          <p:cNvSpPr/>
          <p:nvPr/>
        </p:nvSpPr>
        <p:spPr>
          <a:xfrm>
            <a:off x="10104120" y="2011680"/>
            <a:ext cx="749808" cy="749808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!!Number 4"/>
          <p:cNvSpPr txBox="1"/>
          <p:nvPr/>
        </p:nvSpPr>
        <p:spPr>
          <a:xfrm>
            <a:off x="10104120" y="20116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!!Card 5"/>
          <p:cNvSpPr/>
          <p:nvPr/>
        </p:nvSpPr>
        <p:spPr>
          <a:xfrm>
            <a:off x="10972800" y="2011680"/>
            <a:ext cx="749808" cy="749808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!!Number 5"/>
          <p:cNvSpPr txBox="1"/>
          <p:nvPr/>
        </p:nvSpPr>
        <p:spPr>
          <a:xfrm>
            <a:off x="10972800" y="20116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C96AC"/>
                </a:solidFill>
              </a:rPr>
              <a:t>PRESENTED BY</a:t>
            </a:r>
            <a:endParaRPr lang="en-US" sz="1050" dirty="0"/>
          </a:p>
        </p:txBody>
      </p:sp>
      <p:sp>
        <p:nvSpPr>
          <p:cNvPr id="16" name="Cover detail"/>
          <p:cNvSpPr txBox="1"/>
          <p:nvPr/>
        </p:nvSpPr>
        <p:spPr>
          <a:xfrm>
            <a:off x="54864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Omar Mansour, Supervisor</a:t>
            </a:r>
            <a:endParaRPr lang="en-US" sz="1700" dirty="0"/>
          </a:p>
        </p:txBody>
      </p:sp>
      <p:sp>
        <p:nvSpPr>
          <p:cNvPr id="17" name="Label"/>
          <p:cNvSpPr txBox="1"/>
          <p:nvPr/>
        </p:nvSpPr>
        <p:spPr>
          <a:xfrm>
            <a:off x="425196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C96AC"/>
                </a:solidFill>
              </a:rPr>
              <a:t>TEAM</a:t>
            </a:r>
            <a:endParaRPr lang="en-US" sz="1050" dirty="0"/>
          </a:p>
        </p:txBody>
      </p:sp>
      <p:sp>
        <p:nvSpPr>
          <p:cNvPr id="18" name="Cover detail"/>
          <p:cNvSpPr txBox="1"/>
          <p:nvPr/>
        </p:nvSpPr>
        <p:spPr>
          <a:xfrm>
            <a:off x="425196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13 agents, 0 to 30 days</a:t>
            </a:r>
            <a:endParaRPr lang="en-US" sz="1700" dirty="0"/>
          </a:p>
        </p:txBody>
      </p:sp>
      <p:sp>
        <p:nvSpPr>
          <p:cNvPr id="19" name="Label"/>
          <p:cNvSpPr txBox="1"/>
          <p:nvPr/>
        </p:nvSpPr>
        <p:spPr>
          <a:xfrm>
            <a:off x="795528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C96AC"/>
                </a:solidFill>
              </a:rPr>
              <a:t>SESSION</a:t>
            </a:r>
            <a:endParaRPr lang="en-US" sz="1050" dirty="0"/>
          </a:p>
        </p:txBody>
      </p:sp>
      <p:sp>
        <p:nvSpPr>
          <p:cNvPr id="20" name="Cover detail"/>
          <p:cNvSpPr txBox="1"/>
          <p:nvPr/>
        </p:nvSpPr>
        <p:spPr>
          <a:xfrm>
            <a:off x="795528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Week of October 19, 2026</a:t>
            </a:r>
            <a:endParaRPr lang="en-US" sz="17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grpId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" dur="800" decel="100000" fill="hold"/>
                                        <p:tgtEl>
                                          <p:spTgt spid="3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" dur="800" decel="10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31" presetClass="entr" presetSubtype="0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1" presetClass="entr" presetSubtype="0" grpId="0" fill="hold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grpId="0" fill="hold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31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1" presetClass="entr" presetSubtype="0" grpId="0" fill="hold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grpId="0" fill="hold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1" presetClass="entr" presetSubtype="0" grpId="0" fill="hold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grpId="0" fill="hold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mph" presetSubtype="0" grpId="1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animScale>
                                      <p:cBhvr>
                                        <p:cTn id="73" dur="26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76" presetID="6" presetClass="emph" presetSubtype="0" grpId="1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animScale>
                                      <p:cBhvr>
                                        <p:cTn id="75" dur="26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78" presetID="6" presetClass="emph" presetSubtype="0" grpId="1" fill="hold" nodeType="withEffect">
                                  <p:stCondLst>
                                    <p:cond delay="2240"/>
                                  </p:stCondLst>
                                  <p:childTnLst>
                                    <p:animScale>
                                      <p:cBhvr>
                                        <p:cTn id="77" dur="26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80" presetID="6" presetClass="emph" presetSubtype="0" grpId="1" fill="hold" nodeType="withEffect">
                                  <p:stCondLst>
                                    <p:cond delay="2240"/>
                                  </p:stCondLst>
                                  <p:childTnLst>
                                    <p:animScale>
                                      <p:cBhvr>
                                        <p:cTn id="79" dur="26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82" presetID="6" presetClass="emph" presetSubtype="0" grpId="1" fill="hold" nodeType="withEffect">
                                  <p:stCondLst>
                                    <p:cond delay="2330"/>
                                  </p:stCondLst>
                                  <p:childTnLst>
                                    <p:animScale>
                                      <p:cBhvr>
                                        <p:cTn id="81" dur="26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84" presetID="6" presetClass="emph" presetSubtype="0" grpId="1" fill="hold" nodeType="withEffect">
                                  <p:stCondLst>
                                    <p:cond delay="2330"/>
                                  </p:stCondLst>
                                  <p:childTnLst>
                                    <p:animScale>
                                      <p:cBhvr>
                                        <p:cTn id="83" dur="26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6" presetClass="emph" presetSubtype="0" grpId="1" fill="hold" nodeType="withEffect">
                                  <p:stCondLst>
                                    <p:cond delay="2420"/>
                                  </p:stCondLst>
                                  <p:childTnLst>
                                    <p:animScale>
                                      <p:cBhvr>
                                        <p:cTn id="85" dur="26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88" presetID="6" presetClass="emph" presetSubtype="0" grpId="1" fill="hold" nodeType="withEffect">
                                  <p:stCondLst>
                                    <p:cond delay="2420"/>
                                  </p:stCondLst>
                                  <p:childTnLst>
                                    <p:animScale>
                                      <p:cBhvr>
                                        <p:cTn id="87" dur="26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90" presetID="6" presetClass="emph" presetSubtype="0" grpId="1" fill="hold" nodeType="withEffect">
                                  <p:stCondLst>
                                    <p:cond delay="2510"/>
                                  </p:stCondLst>
                                  <p:childTnLst>
                                    <p:animScale>
                                      <p:cBhvr>
                                        <p:cTn id="89" dur="26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92" presetID="6" presetClass="emph" presetSubtype="0" grpId="1" fill="hold" nodeType="withEffect">
                                  <p:stCondLst>
                                    <p:cond delay="2510"/>
                                  </p:stCondLst>
                                  <p:childTnLst>
                                    <p:animScale>
                                      <p:cBhvr>
                                        <p:cTn id="91" dur="26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10" presetClass="entr" presetSubtype="0" grpId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grpId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grpId="0" fill="hold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grpId="0" fill="hold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grpId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grpId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4A10"/>
                </a:solidFill>
              </a:rPr>
              <a:t>BACK TO BASICS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steps, every agent, every week</a:t>
            </a:r>
            <a:endParaRPr lang="en-US" sz="3200" dirty="0"/>
          </a:p>
        </p:txBody>
      </p:sp>
      <p:sp>
        <p:nvSpPr>
          <p:cNvPr id="4" name="!!Card 1"/>
          <p:cNvSpPr/>
          <p:nvPr/>
        </p:nvSpPr>
        <p:spPr>
          <a:xfrm>
            <a:off x="548640" y="1691640"/>
            <a:ext cx="2036003" cy="342900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!!Number 1"/>
          <p:cNvSpPr txBox="1"/>
          <p:nvPr/>
        </p:nvSpPr>
        <p:spPr>
          <a:xfrm>
            <a:off x="777240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F26522"/>
                </a:solidFill>
              </a:rPr>
              <a:t>1</a:t>
            </a:r>
            <a:endParaRPr lang="en-US" sz="7200" dirty="0"/>
          </a:p>
        </p:txBody>
      </p:sp>
      <p:sp>
        <p:nvSpPr>
          <p:cNvPr id="6" name="Step title"/>
          <p:cNvSpPr txBox="1"/>
          <p:nvPr/>
        </p:nvSpPr>
        <p:spPr>
          <a:xfrm>
            <a:off x="777240" y="306324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1826"/>
                </a:solidFill>
              </a:rPr>
              <a:t>Prepare with data</a:t>
            </a:r>
            <a:endParaRPr lang="en-US" sz="1800" dirty="0"/>
          </a:p>
        </p:txBody>
      </p:sp>
      <p:sp>
        <p:nvSpPr>
          <p:cNvPr id="7" name="Step detail"/>
          <p:cNvSpPr txBox="1"/>
          <p:nvPr/>
        </p:nvSpPr>
        <p:spPr>
          <a:xfrm>
            <a:off x="777240" y="379476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D4453"/>
                </a:solidFill>
              </a:rPr>
              <a:t>Tableau, Power BI and i3, plus 2 to 4 calls</a:t>
            </a:r>
            <a:endParaRPr lang="en-US" sz="1400" dirty="0"/>
          </a:p>
        </p:txBody>
      </p:sp>
      <p:sp>
        <p:nvSpPr>
          <p:cNvPr id="8" name="!!Card 2"/>
          <p:cNvSpPr/>
          <p:nvPr/>
        </p:nvSpPr>
        <p:spPr>
          <a:xfrm>
            <a:off x="2813243" y="1691640"/>
            <a:ext cx="2036003" cy="342900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!!Number 2"/>
          <p:cNvSpPr txBox="1"/>
          <p:nvPr/>
        </p:nvSpPr>
        <p:spPr>
          <a:xfrm>
            <a:off x="3041843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F26522"/>
                </a:solidFill>
              </a:rPr>
              <a:t>2</a:t>
            </a:r>
            <a:endParaRPr lang="en-US" sz="7200" dirty="0"/>
          </a:p>
        </p:txBody>
      </p:sp>
      <p:sp>
        <p:nvSpPr>
          <p:cNvPr id="10" name="Step title"/>
          <p:cNvSpPr txBox="1"/>
          <p:nvPr/>
        </p:nvSpPr>
        <p:spPr>
          <a:xfrm>
            <a:off x="3041843" y="306324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1826"/>
                </a:solidFill>
              </a:rPr>
              <a:t>Find the root cause</a:t>
            </a:r>
            <a:endParaRPr lang="en-US" sz="1800" dirty="0"/>
          </a:p>
        </p:txBody>
      </p:sp>
      <p:sp>
        <p:nvSpPr>
          <p:cNvPr id="11" name="Step detail"/>
          <p:cNvSpPr txBox="1"/>
          <p:nvPr/>
        </p:nvSpPr>
        <p:spPr>
          <a:xfrm>
            <a:off x="3041843" y="379476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D4453"/>
                </a:solidFill>
              </a:rPr>
              <a:t>Knowledge, skill, or will</a:t>
            </a:r>
            <a:endParaRPr lang="en-US" sz="1400" dirty="0"/>
          </a:p>
        </p:txBody>
      </p:sp>
      <p:sp>
        <p:nvSpPr>
          <p:cNvPr id="12" name="!!Card 3"/>
          <p:cNvSpPr/>
          <p:nvPr/>
        </p:nvSpPr>
        <p:spPr>
          <a:xfrm>
            <a:off x="5077846" y="1691640"/>
            <a:ext cx="2036003" cy="342900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!!Number 3"/>
          <p:cNvSpPr txBox="1"/>
          <p:nvPr/>
        </p:nvSpPr>
        <p:spPr>
          <a:xfrm>
            <a:off x="5306446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F26522"/>
                </a:solidFill>
              </a:rPr>
              <a:t>3</a:t>
            </a:r>
            <a:endParaRPr lang="en-US" sz="7200" dirty="0"/>
          </a:p>
        </p:txBody>
      </p:sp>
      <p:sp>
        <p:nvSpPr>
          <p:cNvPr id="14" name="Step title"/>
          <p:cNvSpPr txBox="1"/>
          <p:nvPr/>
        </p:nvSpPr>
        <p:spPr>
          <a:xfrm>
            <a:off x="5306446" y="306324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1826"/>
                </a:solidFill>
              </a:rPr>
              <a:t>Coach with questions</a:t>
            </a:r>
            <a:endParaRPr lang="en-US" sz="1800" dirty="0"/>
          </a:p>
        </p:txBody>
      </p:sp>
      <p:sp>
        <p:nvSpPr>
          <p:cNvPr id="15" name="Step detail"/>
          <p:cNvSpPr txBox="1"/>
          <p:nvPr/>
        </p:nvSpPr>
        <p:spPr>
          <a:xfrm>
            <a:off x="5306446" y="379476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D4453"/>
                </a:solidFill>
              </a:rPr>
              <a:t>The agent names the gap, I model it, we role play</a:t>
            </a:r>
            <a:endParaRPr lang="en-US" sz="1400" dirty="0"/>
          </a:p>
        </p:txBody>
      </p:sp>
      <p:sp>
        <p:nvSpPr>
          <p:cNvPr id="16" name="!!Card 4"/>
          <p:cNvSpPr/>
          <p:nvPr/>
        </p:nvSpPr>
        <p:spPr>
          <a:xfrm>
            <a:off x="7342449" y="1691640"/>
            <a:ext cx="2036003" cy="342900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!!Number 4"/>
          <p:cNvSpPr txBox="1"/>
          <p:nvPr/>
        </p:nvSpPr>
        <p:spPr>
          <a:xfrm>
            <a:off x="7571049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F26522"/>
                </a:solidFill>
              </a:rPr>
              <a:t>4</a:t>
            </a:r>
            <a:endParaRPr lang="en-US" sz="7200" dirty="0"/>
          </a:p>
        </p:txBody>
      </p:sp>
      <p:sp>
        <p:nvSpPr>
          <p:cNvPr id="18" name="Step title"/>
          <p:cNvSpPr txBox="1"/>
          <p:nvPr/>
        </p:nvSpPr>
        <p:spPr>
          <a:xfrm>
            <a:off x="7571049" y="306324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1826"/>
                </a:solidFill>
              </a:rPr>
              <a:t>Set a clear plan</a:t>
            </a:r>
            <a:endParaRPr lang="en-US" sz="1800" dirty="0"/>
          </a:p>
        </p:txBody>
      </p:sp>
      <p:sp>
        <p:nvSpPr>
          <p:cNvPr id="19" name="Step detail"/>
          <p:cNvSpPr txBox="1"/>
          <p:nvPr/>
        </p:nvSpPr>
        <p:spPr>
          <a:xfrm>
            <a:off x="7571049" y="379476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D4453"/>
                </a:solidFill>
              </a:rPr>
              <a:t>One or two behaviors, a target and a follow-up date</a:t>
            </a:r>
            <a:endParaRPr lang="en-US" sz="1400" dirty="0"/>
          </a:p>
        </p:txBody>
      </p:sp>
      <p:sp>
        <p:nvSpPr>
          <p:cNvPr id="20" name="!!Card 5"/>
          <p:cNvSpPr/>
          <p:nvPr/>
        </p:nvSpPr>
        <p:spPr>
          <a:xfrm>
            <a:off x="9607052" y="1691640"/>
            <a:ext cx="2036003" cy="342900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!!Number 5"/>
          <p:cNvSpPr txBox="1"/>
          <p:nvPr/>
        </p:nvSpPr>
        <p:spPr>
          <a:xfrm>
            <a:off x="9835652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F26522"/>
                </a:solidFill>
              </a:rPr>
              <a:t>5</a:t>
            </a:r>
            <a:endParaRPr lang="en-US" sz="7200" dirty="0"/>
          </a:p>
        </p:txBody>
      </p:sp>
      <p:sp>
        <p:nvSpPr>
          <p:cNvPr id="22" name="Step title"/>
          <p:cNvSpPr txBox="1"/>
          <p:nvPr/>
        </p:nvSpPr>
        <p:spPr>
          <a:xfrm>
            <a:off x="9835652" y="306324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1826"/>
                </a:solidFill>
              </a:rPr>
              <a:t>Follow up</a:t>
            </a:r>
            <a:endParaRPr lang="en-US" sz="1800" dirty="0"/>
          </a:p>
        </p:txBody>
      </p:sp>
      <p:sp>
        <p:nvSpPr>
          <p:cNvPr id="23" name="Step detail"/>
          <p:cNvSpPr txBox="1"/>
          <p:nvPr/>
        </p:nvSpPr>
        <p:spPr>
          <a:xfrm>
            <a:off x="9835652" y="379476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D4453"/>
                </a:solidFill>
              </a:rPr>
              <a:t>Calls every week, a huddle and the calibration pack</a:t>
            </a:r>
            <a:endParaRPr lang="en-US" sz="1400" dirty="0"/>
          </a:p>
        </p:txBody>
      </p:sp>
      <p:sp>
        <p:nvSpPr>
          <p:cNvPr id="24" name="Goal band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7647"/>
            </a:avLst>
          </a:prstGeom>
          <a:solidFill>
            <a:srgbClr val="1218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Goal band text"/>
          <p:cNvSpPr txBox="1"/>
          <p:nvPr/>
        </p:nvSpPr>
        <p:spPr>
          <a:xfrm>
            <a:off x="914400" y="534924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6522"/>
                </a:solidFill>
              </a:rPr>
              <a:t>The goal: </a:t>
            </a:r>
            <a:r>
              <a:rPr lang="en-US" sz="1700" b="1" dirty="0">
                <a:solidFill>
                  <a:srgbClr val="FFFFFF"/>
                </a:solidFill>
              </a:rPr>
              <a:t>the agent leaves knowing one or two things to do differently on the next call.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" dur="800" decel="100000" fill="hold"/>
                                        <p:tgtEl>
                                          <p:spTgt spid="3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42" presetClass="entr" presetSubtype="0" grpId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" dur="800" decel="10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grpId="0" fill="hold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5" dur="800" decel="1000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grpId="0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grpId="0" fill="hold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800" decel="1000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8" presetID="10" presetClass="entr" presetSubtype="0" grpId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grpId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3" dur="800" decel="100000" fill="hold"/>
                                        <p:tgtEl>
                                          <p:spTgt spid="18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10" presetClass="entr" presetSubtype="0" grpId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grpId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2" dur="800" decel="1000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10" presetClass="entr" presetSubtype="0" grpId="0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grpId="0" fill="hold" nodeType="withEffect">
                                  <p:stCondLst>
                                    <p:cond delay="1750"/>
                                  </p:stCondLst>
                                  <p:iterate type="lt">
                                    <p:tmAbs val="28"/>
                                  </p:iterate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6" presetClass="emph" presetSubtype="0" grpId="1" fill="hold" nodeType="withEffect">
                                  <p:stCondLst>
                                    <p:cond delay="3900"/>
                                  </p:stCondLst>
                                  <p:childTnLst>
                                    <p:animScale>
                                      <p:cBhvr>
                                        <p:cTn id="63" dur="26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6" presetClass="emph" presetSubtype="0" grpId="1" fill="hold" nodeType="withEffect">
                                  <p:stCondLst>
                                    <p:cond delay="4010"/>
                                  </p:stCondLst>
                                  <p:childTnLst>
                                    <p:animScale>
                                      <p:cBhvr>
                                        <p:cTn id="65" dur="26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6" presetClass="emph" presetSubtype="0" grpId="1" fill="hold" nodeType="withEffect">
                                  <p:stCondLst>
                                    <p:cond delay="4120"/>
                                  </p:stCondLst>
                                  <p:childTnLst>
                                    <p:animScale>
                                      <p:cBhvr>
                                        <p:cTn id="67" dur="26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6" presetClass="emph" presetSubtype="0" grpId="1" fill="hold" nodeType="withEffect">
                                  <p:stCondLst>
                                    <p:cond delay="4230"/>
                                  </p:stCondLst>
                                  <p:childTnLst>
                                    <p:animScale>
                                      <p:cBhvr>
                                        <p:cTn id="69" dur="26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6" presetClass="emph" presetSubtype="0" grpId="1" fill="hold" nodeType="withEffect">
                                  <p:stCondLst>
                                    <p:cond delay="4340"/>
                                  </p:stCondLst>
                                  <p:childTnLst>
                                    <p:animScale>
                                      <p:cBhvr>
                                        <p:cTn id="71" dur="26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1" animBg="1"/>
      <p:bldP spid="6" grpId="0" animBg="1"/>
      <p:bldP spid="7" grpId="0" animBg="1"/>
      <p:bldP spid="9" grpId="1" animBg="1"/>
      <p:bldP spid="10" grpId="0" animBg="1"/>
      <p:bldP spid="11" grpId="0" animBg="1"/>
      <p:bldP spid="13" grpId="1" animBg="1"/>
      <p:bldP spid="14" grpId="0" animBg="1"/>
      <p:bldP spid="15" grpId="0" animBg="1"/>
      <p:bldP spid="17" grpId="1" animBg="1"/>
      <p:bldP spid="18" grpId="0" animBg="1"/>
      <p:bldP spid="19" grpId="0" animBg="1"/>
      <p:bldP spid="21" grpId="1" animBg="1"/>
      <p:bldP spid="22" grpId="0" animBg="1"/>
      <p:bldP spid="23" grpId="0" animBg="1"/>
      <p:bldP spid="24" grpId="0" animBg="1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1EE7C-5C94-16A1-77D9-F05BEAF7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>
            <a:extLst>
              <a:ext uri="{FF2B5EF4-FFF2-40B4-BE49-F238E27FC236}">
                <a16:creationId xmlns:a16="http://schemas.microsoft.com/office/drawing/2014/main" id="{6C07CF17-BAA6-9ED6-6B56-AA25021DBD4B}"/>
              </a:ext>
            </a:extLst>
          </p:cNvPr>
          <p:cNvSpPr/>
          <p:nvPr/>
        </p:nvSpPr>
        <p:spPr>
          <a:xfrm>
            <a:off x="540927" y="821273"/>
            <a:ext cx="11109841" cy="694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350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Feedback and Coaching Modules</a:t>
            </a:r>
            <a:endParaRPr lang="en-US" sz="4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2" name="Text 1">
            <a:extLst>
              <a:ext uri="{FF2B5EF4-FFF2-40B4-BE49-F238E27FC236}">
                <a16:creationId xmlns:a16="http://schemas.microsoft.com/office/drawing/2014/main" id="{4E7A793A-7561-1464-BACE-2E3D052539F6}"/>
              </a:ext>
            </a:extLst>
          </p:cNvPr>
          <p:cNvSpPr/>
          <p:nvPr/>
        </p:nvSpPr>
        <p:spPr>
          <a:xfrm>
            <a:off x="540927" y="1804591"/>
            <a:ext cx="11650768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     Use models as shortcuts to structure a coaching conversation. Choose the simplest model that fits the situation.   </a:t>
            </a:r>
            <a:endParaRPr lang="en-US" sz="1200" dirty="0"/>
          </a:p>
        </p:txBody>
      </p:sp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0DAD23A0-56A7-6B5A-CCF5-12E0DCC04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0927" y="2225675"/>
            <a:ext cx="386348" cy="386358"/>
          </a:xfrm>
          <a:prstGeom prst="rect">
            <a:avLst/>
          </a:prstGeom>
        </p:spPr>
      </p:pic>
      <p:sp>
        <p:nvSpPr>
          <p:cNvPr id="36" name="Text 2">
            <a:extLst>
              <a:ext uri="{FF2B5EF4-FFF2-40B4-BE49-F238E27FC236}">
                <a16:creationId xmlns:a16="http://schemas.microsoft.com/office/drawing/2014/main" id="{5FDE458E-74D5-13BF-DB6C-EFEA7FF6B0A4}"/>
              </a:ext>
            </a:extLst>
          </p:cNvPr>
          <p:cNvSpPr/>
          <p:nvPr/>
        </p:nvSpPr>
        <p:spPr>
          <a:xfrm>
            <a:off x="540927" y="2805212"/>
            <a:ext cx="3574464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GROW</a:t>
            </a:r>
            <a:endParaRPr lang="en-US" sz="215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E91D008A-1BC5-FC85-3508-B70535100238}"/>
              </a:ext>
            </a:extLst>
          </p:cNvPr>
          <p:cNvSpPr/>
          <p:nvPr/>
        </p:nvSpPr>
        <p:spPr>
          <a:xfrm>
            <a:off x="540927" y="3244949"/>
            <a:ext cx="3574464" cy="741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Goal, Reality, Options, Will — best for performance improvement and action planning.</a:t>
            </a:r>
            <a:endParaRPr lang="en-US" sz="1200" dirty="0"/>
          </a:p>
        </p:txBody>
      </p:sp>
      <p:pic>
        <p:nvPicPr>
          <p:cNvPr id="40" name="Image 1" descr="preencoded.png">
            <a:extLst>
              <a:ext uri="{FF2B5EF4-FFF2-40B4-BE49-F238E27FC236}">
                <a16:creationId xmlns:a16="http://schemas.microsoft.com/office/drawing/2014/main" id="{277B0E98-4CA8-6F7F-967B-F44D0EE5B1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08566" y="2225675"/>
            <a:ext cx="386348" cy="386358"/>
          </a:xfrm>
          <a:prstGeom prst="rect">
            <a:avLst/>
          </a:prstGeom>
        </p:spPr>
      </p:pic>
      <p:sp>
        <p:nvSpPr>
          <p:cNvPr id="42" name="Text 4">
            <a:extLst>
              <a:ext uri="{FF2B5EF4-FFF2-40B4-BE49-F238E27FC236}">
                <a16:creationId xmlns:a16="http://schemas.microsoft.com/office/drawing/2014/main" id="{80C2CC65-0980-AAE5-BC88-9A301B6C31AA}"/>
              </a:ext>
            </a:extLst>
          </p:cNvPr>
          <p:cNvSpPr/>
          <p:nvPr/>
        </p:nvSpPr>
        <p:spPr>
          <a:xfrm>
            <a:off x="4308566" y="2805212"/>
            <a:ext cx="3574464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SBI</a:t>
            </a:r>
            <a:endParaRPr lang="en-US" sz="215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44" name="Text 5">
            <a:extLst>
              <a:ext uri="{FF2B5EF4-FFF2-40B4-BE49-F238E27FC236}">
                <a16:creationId xmlns:a16="http://schemas.microsoft.com/office/drawing/2014/main" id="{55B62B81-1A40-31A5-0779-6CA89E6D2E7D}"/>
              </a:ext>
            </a:extLst>
          </p:cNvPr>
          <p:cNvSpPr/>
          <p:nvPr/>
        </p:nvSpPr>
        <p:spPr>
          <a:xfrm>
            <a:off x="4308566" y="3244949"/>
            <a:ext cx="3574464" cy="494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Situation, Behaviour, Impact — fast, focused coaching for single incidents.</a:t>
            </a:r>
            <a:endParaRPr lang="en-US" sz="1200" dirty="0"/>
          </a:p>
        </p:txBody>
      </p:sp>
      <p:pic>
        <p:nvPicPr>
          <p:cNvPr id="46" name="Image 2" descr="preencoded.png">
            <a:extLst>
              <a:ext uri="{FF2B5EF4-FFF2-40B4-BE49-F238E27FC236}">
                <a16:creationId xmlns:a16="http://schemas.microsoft.com/office/drawing/2014/main" id="{57883D23-D689-5B39-811D-2F3D1F1556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76204" y="2225675"/>
            <a:ext cx="386348" cy="386358"/>
          </a:xfrm>
          <a:prstGeom prst="rect">
            <a:avLst/>
          </a:prstGeom>
        </p:spPr>
      </p:pic>
      <p:sp>
        <p:nvSpPr>
          <p:cNvPr id="48" name="Text 6">
            <a:extLst>
              <a:ext uri="{FF2B5EF4-FFF2-40B4-BE49-F238E27FC236}">
                <a16:creationId xmlns:a16="http://schemas.microsoft.com/office/drawing/2014/main" id="{D8C8DDFF-FB12-E502-B9A5-AEC37FFD6B2E}"/>
              </a:ext>
            </a:extLst>
          </p:cNvPr>
          <p:cNvSpPr/>
          <p:nvPr/>
        </p:nvSpPr>
        <p:spPr>
          <a:xfrm>
            <a:off x="8076204" y="2805212"/>
            <a:ext cx="3574564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BOOST</a:t>
            </a:r>
            <a:endParaRPr lang="en-US" sz="215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0" name="Text 7">
            <a:extLst>
              <a:ext uri="{FF2B5EF4-FFF2-40B4-BE49-F238E27FC236}">
                <a16:creationId xmlns:a16="http://schemas.microsoft.com/office/drawing/2014/main" id="{6B0795EE-475A-15DD-781A-28D30ED6D171}"/>
              </a:ext>
            </a:extLst>
          </p:cNvPr>
          <p:cNvSpPr/>
          <p:nvPr/>
        </p:nvSpPr>
        <p:spPr>
          <a:xfrm>
            <a:off x="8076204" y="3244949"/>
            <a:ext cx="3574564" cy="741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Balanced, Observed, Objective, Specific, Timely — ideal for structured feedback sessions.</a:t>
            </a:r>
            <a:endParaRPr lang="en-US" sz="1200" dirty="0"/>
          </a:p>
        </p:txBody>
      </p:sp>
      <p:pic>
        <p:nvPicPr>
          <p:cNvPr id="52" name="Image 3" descr="preencoded.png">
            <a:extLst>
              <a:ext uri="{FF2B5EF4-FFF2-40B4-BE49-F238E27FC236}">
                <a16:creationId xmlns:a16="http://schemas.microsoft.com/office/drawing/2014/main" id="{4A5FE4A1-3384-85A6-BD83-9475C3A377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0927" y="4295775"/>
            <a:ext cx="386348" cy="386358"/>
          </a:xfrm>
          <a:prstGeom prst="rect">
            <a:avLst/>
          </a:prstGeom>
        </p:spPr>
      </p:pic>
      <p:sp>
        <p:nvSpPr>
          <p:cNvPr id="54" name="Text 8">
            <a:extLst>
              <a:ext uri="{FF2B5EF4-FFF2-40B4-BE49-F238E27FC236}">
                <a16:creationId xmlns:a16="http://schemas.microsoft.com/office/drawing/2014/main" id="{9F724962-6BD4-147D-680D-E84F744AFAEC}"/>
              </a:ext>
            </a:extLst>
          </p:cNvPr>
          <p:cNvSpPr/>
          <p:nvPr/>
        </p:nvSpPr>
        <p:spPr>
          <a:xfrm>
            <a:off x="540927" y="4875312"/>
            <a:ext cx="3574464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CLEAR</a:t>
            </a:r>
            <a:endParaRPr lang="en-US" sz="215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6" name="Text 9">
            <a:extLst>
              <a:ext uri="{FF2B5EF4-FFF2-40B4-BE49-F238E27FC236}">
                <a16:creationId xmlns:a16="http://schemas.microsoft.com/office/drawing/2014/main" id="{C160E353-F6BC-6DE5-DB20-A0506601118D}"/>
              </a:ext>
            </a:extLst>
          </p:cNvPr>
          <p:cNvSpPr/>
          <p:nvPr/>
        </p:nvSpPr>
        <p:spPr>
          <a:xfrm>
            <a:off x="540927" y="5315049"/>
            <a:ext cx="3574464" cy="741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Contract, Listen, Explore, Action, Review — best for developmental, ongoing coaching relationships.</a:t>
            </a:r>
            <a:endParaRPr lang="en-US" sz="1200" dirty="0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84CBF3C8-B79F-8649-E9FE-7D67CB105A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08566" y="4295775"/>
            <a:ext cx="386348" cy="386358"/>
          </a:xfrm>
          <a:prstGeom prst="rect">
            <a:avLst/>
          </a:prstGeom>
        </p:spPr>
      </p:pic>
      <p:sp>
        <p:nvSpPr>
          <p:cNvPr id="60" name="Text 10">
            <a:extLst>
              <a:ext uri="{FF2B5EF4-FFF2-40B4-BE49-F238E27FC236}">
                <a16:creationId xmlns:a16="http://schemas.microsoft.com/office/drawing/2014/main" id="{B5AD76CA-9BE8-6708-382D-63101D8C28AC}"/>
              </a:ext>
            </a:extLst>
          </p:cNvPr>
          <p:cNvSpPr/>
          <p:nvPr/>
        </p:nvSpPr>
        <p:spPr>
          <a:xfrm>
            <a:off x="4308566" y="4875312"/>
            <a:ext cx="3574464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ea typeface="Baskervville" pitchFamily="34" charset="-122"/>
                <a:cs typeface="Baskervville" pitchFamily="34" charset="-120"/>
              </a:rPr>
              <a:t> SMART</a:t>
            </a:r>
            <a:endParaRPr lang="en-US" sz="215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2" name="Text 11">
            <a:extLst>
              <a:ext uri="{FF2B5EF4-FFF2-40B4-BE49-F238E27FC236}">
                <a16:creationId xmlns:a16="http://schemas.microsoft.com/office/drawing/2014/main" id="{008357DD-AE96-5D1F-FD72-0F1835F1D256}"/>
              </a:ext>
            </a:extLst>
          </p:cNvPr>
          <p:cNvSpPr/>
          <p:nvPr/>
        </p:nvSpPr>
        <p:spPr>
          <a:xfrm>
            <a:off x="4308566" y="5315049"/>
            <a:ext cx="3574464" cy="741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latin typeface="Poppins" pitchFamily="34" charset="0"/>
                <a:ea typeface="Poppins" pitchFamily="34" charset="-122"/>
                <a:cs typeface="Poppins" pitchFamily="34" charset="-120"/>
              </a:rPr>
              <a:t>convert actions into SMART goals for measurable follow-up.</a:t>
            </a:r>
            <a:endParaRPr lang="en-US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9B529C-12B4-86EB-1451-D0F8870B29AF}"/>
              </a:ext>
            </a:extLst>
          </p:cNvPr>
          <p:cNvSpPr txBox="1"/>
          <p:nvPr/>
        </p:nvSpPr>
        <p:spPr>
          <a:xfrm>
            <a:off x="7761732" y="5315049"/>
            <a:ext cx="319651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en-US" sz="1200" dirty="0">
                <a:latin typeface="Poppins" pitchFamily="34" charset="0"/>
                <a:cs typeface="Poppins" pitchFamily="34" charset="-120"/>
              </a:rPr>
              <a:t>Status, Certainty , Autonomy, Fairness</a:t>
            </a:r>
            <a:br>
              <a:rPr lang="en-US" sz="1200" dirty="0">
                <a:latin typeface="Poppins" pitchFamily="34" charset="0"/>
                <a:cs typeface="Poppins" pitchFamily="34" charset="-120"/>
              </a:rPr>
            </a:br>
            <a:endParaRPr lang="en-US" sz="1800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F79434-7A34-6344-7407-317C3F774179}"/>
              </a:ext>
            </a:extLst>
          </p:cNvPr>
          <p:cNvSpPr txBox="1"/>
          <p:nvPr/>
        </p:nvSpPr>
        <p:spPr>
          <a:xfrm>
            <a:off x="8462552" y="4860887"/>
            <a:ext cx="6106884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50" b="1" dirty="0">
                <a:solidFill>
                  <a:schemeClr val="accent2">
                    <a:lumMod val="50000"/>
                  </a:schemeClr>
                </a:solidFill>
                <a:latin typeface="Baskervville" pitchFamily="34" charset="0"/>
                <a:cs typeface="Baskervville" pitchFamily="34" charset="-120"/>
              </a:rPr>
              <a:t>SCARF</a:t>
            </a:r>
          </a:p>
        </p:txBody>
      </p:sp>
      <p:pic>
        <p:nvPicPr>
          <p:cNvPr id="68" name="Image 0" descr="preencoded.png">
            <a:extLst>
              <a:ext uri="{FF2B5EF4-FFF2-40B4-BE49-F238E27FC236}">
                <a16:creationId xmlns:a16="http://schemas.microsoft.com/office/drawing/2014/main" id="{BF604915-DF08-D74D-FA77-1AA441E05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43009" y="4417794"/>
            <a:ext cx="386348" cy="38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6292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7" dur="800" decel="100000" fill="hold"/>
                                        <p:tgtEl>
                                          <p:spTgt spid="29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ntr" presetSubtype="0" grpId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grpId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" dur="800" decel="100000" fill="hold"/>
                                        <p:tgtEl>
                                          <p:spTgt spid="36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grpId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1" presetClass="entr" presetSubtype="0" grpId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8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8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7" dur="800" decel="100000" fill="hold"/>
                                        <p:tgtEl>
                                          <p:spTgt spid="42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10" presetClass="entr" presetSubtype="0" grpId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1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grpId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2" dur="800" decel="100000" fill="hold"/>
                                        <p:tgtEl>
                                          <p:spTgt spid="48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10" presetClass="entr" presetSubtype="0" grpId="0" fill="hold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1" presetClass="entr" presetSubtype="0" grpId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grpId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8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8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8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800" decel="100000" fill="hold"/>
                                        <p:tgtEl>
                                          <p:spTgt spid="5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10" presetClass="entr" presetSubtype="0" grpId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31" presetClass="entr" presetSubtype="0" grpId="0" fill="hold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grpId="0" fill="hold" nodeType="withEffect">
                                  <p:stCondLst>
                                    <p:cond delay="1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2" dur="800" decel="100000" fill="hold"/>
                                        <p:tgtEl>
                                          <p:spTgt spid="60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10" presetClass="entr" presetSubtype="0" grpId="0" fill="hold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31" presetClass="entr" presetSubtype="0" grpId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grpId="0" fill="hold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8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80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80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7" dur="800" decel="100000" fill="hold"/>
                                        <p:tgtEl>
                                          <p:spTgt spid="66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0" presetClass="entr" presetSubtype="0" grpId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2" grpId="0" animBg="1"/>
      <p:bldP spid="36" grpId="0" animBg="1"/>
      <p:bldP spid="38" grpId="0" animBg="1"/>
      <p:bldP spid="42" grpId="0" animBg="1"/>
      <p:bldP spid="44" grpId="0" animBg="1"/>
      <p:bldP spid="48" grpId="0" animBg="1"/>
      <p:bldP spid="50" grpId="0" animBg="1"/>
      <p:bldP spid="54" grpId="0" animBg="1"/>
      <p:bldP spid="56" grpId="0" animBg="1"/>
      <p:bldP spid="60" grpId="0" animBg="1"/>
      <p:bldP spid="62" grpId="0" animBg="1"/>
      <p:bldP spid="64" grpId="0" animBg="1"/>
      <p:bldP spid="6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4A10"/>
                </a:solidFill>
              </a:rPr>
              <a:t>MY COACHING TECHNIQUE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model, practice, commit</a:t>
            </a:r>
            <a:endParaRPr lang="en-US" sz="3200" dirty="0"/>
          </a:p>
        </p:txBody>
      </p:sp>
      <p:sp>
        <p:nvSpPr>
          <p:cNvPr id="4" name="Flow line"/>
          <p:cNvSpPr/>
          <p:nvPr/>
        </p:nvSpPr>
        <p:spPr>
          <a:xfrm>
            <a:off x="1658082" y="2377440"/>
            <a:ext cx="8875532" cy="0"/>
          </a:xfrm>
          <a:prstGeom prst="line">
            <a:avLst/>
          </a:prstGeom>
          <a:noFill/>
          <a:ln w="38100">
            <a:solidFill>
              <a:srgbClr val="F6C3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Icon circle"/>
          <p:cNvSpPr/>
          <p:nvPr/>
        </p:nvSpPr>
        <p:spPr>
          <a:xfrm>
            <a:off x="1155162" y="1874520"/>
            <a:ext cx="1005840" cy="1005840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563" y="2115922"/>
            <a:ext cx="523037" cy="523037"/>
          </a:xfrm>
          <a:prstGeom prst="rect">
            <a:avLst/>
          </a:prstGeom>
        </p:spPr>
      </p:pic>
      <p:sp>
        <p:nvSpPr>
          <p:cNvPr id="7" name="Technique title"/>
          <p:cNvSpPr txBox="1"/>
          <p:nvPr/>
        </p:nvSpPr>
        <p:spPr>
          <a:xfrm>
            <a:off x="640080" y="315468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1826"/>
                </a:solidFill>
              </a:rPr>
              <a:t>Ask</a:t>
            </a:r>
            <a:endParaRPr lang="en-US" sz="1900" dirty="0"/>
          </a:p>
        </p:txBody>
      </p:sp>
      <p:sp>
        <p:nvSpPr>
          <p:cNvPr id="8" name="Technique detail"/>
          <p:cNvSpPr txBox="1"/>
          <p:nvPr/>
        </p:nvSpPr>
        <p:spPr>
          <a:xfrm>
            <a:off x="640080" y="3611880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4453"/>
                </a:solidFill>
              </a:rPr>
              <a:t>Open questions first</a:t>
            </a:r>
            <a:endParaRPr lang="en-US" sz="1400" dirty="0"/>
          </a:p>
        </p:txBody>
      </p:sp>
      <p:sp>
        <p:nvSpPr>
          <p:cNvPr id="9" name="Icon circle"/>
          <p:cNvSpPr/>
          <p:nvPr/>
        </p:nvSpPr>
        <p:spPr>
          <a:xfrm>
            <a:off x="3374045" y="1874520"/>
            <a:ext cx="1005840" cy="1005840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446" y="2115922"/>
            <a:ext cx="523037" cy="523037"/>
          </a:xfrm>
          <a:prstGeom prst="rect">
            <a:avLst/>
          </a:prstGeom>
        </p:spPr>
      </p:pic>
      <p:sp>
        <p:nvSpPr>
          <p:cNvPr id="11" name="Technique title"/>
          <p:cNvSpPr txBox="1"/>
          <p:nvPr/>
        </p:nvSpPr>
        <p:spPr>
          <a:xfrm>
            <a:off x="2858963" y="315468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1826"/>
                </a:solidFill>
              </a:rPr>
              <a:t>The agent names it</a:t>
            </a:r>
            <a:endParaRPr lang="en-US" sz="1900" dirty="0"/>
          </a:p>
        </p:txBody>
      </p:sp>
      <p:sp>
        <p:nvSpPr>
          <p:cNvPr id="12" name="Technique detail"/>
          <p:cNvSpPr txBox="1"/>
          <p:nvPr/>
        </p:nvSpPr>
        <p:spPr>
          <a:xfrm>
            <a:off x="2858963" y="3611880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4453"/>
                </a:solidFill>
              </a:rPr>
              <a:t>In their own words</a:t>
            </a:r>
            <a:endParaRPr lang="en-US" sz="1400" dirty="0"/>
          </a:p>
        </p:txBody>
      </p:sp>
      <p:sp>
        <p:nvSpPr>
          <p:cNvPr id="13" name="Icon circle"/>
          <p:cNvSpPr/>
          <p:nvPr/>
        </p:nvSpPr>
        <p:spPr>
          <a:xfrm>
            <a:off x="5592928" y="1874520"/>
            <a:ext cx="1005840" cy="1005840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4329" y="2115922"/>
            <a:ext cx="523037" cy="523037"/>
          </a:xfrm>
          <a:prstGeom prst="rect">
            <a:avLst/>
          </a:prstGeom>
        </p:spPr>
      </p:pic>
      <p:sp>
        <p:nvSpPr>
          <p:cNvPr id="15" name="Technique title"/>
          <p:cNvSpPr txBox="1"/>
          <p:nvPr/>
        </p:nvSpPr>
        <p:spPr>
          <a:xfrm>
            <a:off x="5077846" y="315468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1826"/>
                </a:solidFill>
              </a:rPr>
              <a:t>I model it</a:t>
            </a:r>
            <a:endParaRPr lang="en-US" sz="1900" dirty="0"/>
          </a:p>
        </p:txBody>
      </p:sp>
      <p:sp>
        <p:nvSpPr>
          <p:cNvPr id="16" name="Technique detail"/>
          <p:cNvSpPr txBox="1"/>
          <p:nvPr/>
        </p:nvSpPr>
        <p:spPr>
          <a:xfrm>
            <a:off x="5077846" y="3611880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4453"/>
                </a:solidFill>
              </a:rPr>
              <a:t>The exact line that works</a:t>
            </a:r>
            <a:endParaRPr lang="en-US" sz="1400" dirty="0"/>
          </a:p>
        </p:txBody>
      </p:sp>
      <p:sp>
        <p:nvSpPr>
          <p:cNvPr id="17" name="Icon circle"/>
          <p:cNvSpPr/>
          <p:nvPr/>
        </p:nvSpPr>
        <p:spPr>
          <a:xfrm>
            <a:off x="7811811" y="1874520"/>
            <a:ext cx="1005840" cy="1005840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3212" y="2115922"/>
            <a:ext cx="523037" cy="523037"/>
          </a:xfrm>
          <a:prstGeom prst="rect">
            <a:avLst/>
          </a:prstGeom>
        </p:spPr>
      </p:pic>
      <p:sp>
        <p:nvSpPr>
          <p:cNvPr id="19" name="Technique title"/>
          <p:cNvSpPr txBox="1"/>
          <p:nvPr/>
        </p:nvSpPr>
        <p:spPr>
          <a:xfrm>
            <a:off x="7296729" y="315468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1826"/>
                </a:solidFill>
              </a:rPr>
              <a:t>Role play</a:t>
            </a:r>
            <a:endParaRPr lang="en-US" sz="1900" dirty="0"/>
          </a:p>
        </p:txBody>
      </p:sp>
      <p:sp>
        <p:nvSpPr>
          <p:cNvPr id="20" name="Technique detail"/>
          <p:cNvSpPr txBox="1"/>
          <p:nvPr/>
        </p:nvSpPr>
        <p:spPr>
          <a:xfrm>
            <a:off x="7296729" y="3611880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4453"/>
                </a:solidFill>
              </a:rPr>
              <a:t>Until it sounds natural</a:t>
            </a:r>
            <a:endParaRPr lang="en-US" sz="1400" dirty="0"/>
          </a:p>
        </p:txBody>
      </p:sp>
      <p:sp>
        <p:nvSpPr>
          <p:cNvPr id="21" name="Icon circle"/>
          <p:cNvSpPr/>
          <p:nvPr/>
        </p:nvSpPr>
        <p:spPr>
          <a:xfrm>
            <a:off x="10030694" y="1874520"/>
            <a:ext cx="1005840" cy="1005840"/>
          </a:xfrm>
          <a:prstGeom prst="ellipse">
            <a:avLst/>
          </a:prstGeom>
          <a:solidFill>
            <a:srgbClr val="F265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2095" y="2115922"/>
            <a:ext cx="523037" cy="523037"/>
          </a:xfrm>
          <a:prstGeom prst="rect">
            <a:avLst/>
          </a:prstGeom>
        </p:spPr>
      </p:pic>
      <p:sp>
        <p:nvSpPr>
          <p:cNvPr id="23" name="Technique title"/>
          <p:cNvSpPr txBox="1"/>
          <p:nvPr/>
        </p:nvSpPr>
        <p:spPr>
          <a:xfrm>
            <a:off x="9515612" y="315468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1826"/>
                </a:solidFill>
              </a:rPr>
              <a:t>Commit</a:t>
            </a:r>
            <a:endParaRPr lang="en-US" sz="1900" dirty="0"/>
          </a:p>
        </p:txBody>
      </p:sp>
      <p:sp>
        <p:nvSpPr>
          <p:cNvPr id="24" name="Technique detail"/>
          <p:cNvSpPr txBox="1"/>
          <p:nvPr/>
        </p:nvSpPr>
        <p:spPr>
          <a:xfrm>
            <a:off x="9515612" y="3611880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4453"/>
                </a:solidFill>
              </a:rPr>
              <a:t>And a follow-up date</a:t>
            </a:r>
            <a:endParaRPr lang="en-US" sz="1400" dirty="0"/>
          </a:p>
        </p:txBody>
      </p:sp>
      <p:sp>
        <p:nvSpPr>
          <p:cNvPr id="25" name="Question band"/>
          <p:cNvSpPr/>
          <p:nvPr/>
        </p:nvSpPr>
        <p:spPr>
          <a:xfrm>
            <a:off x="548640" y="4434840"/>
            <a:ext cx="11094415" cy="1691640"/>
          </a:xfrm>
          <a:prstGeom prst="roundRect">
            <a:avLst>
              <a:gd name="adj" fmla="val 8108"/>
            </a:avLst>
          </a:prstGeom>
          <a:solidFill>
            <a:srgbClr val="1218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1005840" y="4754880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26522"/>
                </a:solidFill>
              </a:rPr>
              <a:t>THE QUESTION I ALWAYS START WITH</a:t>
            </a:r>
            <a:endParaRPr lang="en-US" sz="1050" dirty="0"/>
          </a:p>
        </p:txBody>
      </p:sp>
      <p:sp>
        <p:nvSpPr>
          <p:cNvPr id="27" name="Question text"/>
          <p:cNvSpPr txBox="1"/>
          <p:nvPr/>
        </p:nvSpPr>
        <p:spPr>
          <a:xfrm>
            <a:off x="1005840" y="507492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i="1" dirty="0">
                <a:solidFill>
                  <a:srgbClr val="FFFFFF"/>
                </a:solidFill>
              </a:rPr>
              <a:t>“What was going through your mind at that moment?”</a:t>
            </a:r>
            <a:endParaRPr lang="en-US" sz="30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" dur="800" decel="100000" fill="hold"/>
                                        <p:tgtEl>
                                          <p:spTgt spid="3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2" presetClass="entr" presetSubtype="8" grpId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1" presetClass="entr" presetSubtype="0" grpId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grpId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grpId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" dur="800" decel="100000" fill="hold"/>
                                        <p:tgtEl>
                                          <p:spTgt spid="7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10" presetClass="entr" presetSubtype="0" grpId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1" presetClass="entr" presetSubtype="0" grpId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grpId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grpId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0" dur="800" decel="100000" fill="hold"/>
                                        <p:tgtEl>
                                          <p:spTgt spid="11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10" presetClass="entr" presetSubtype="0" grpId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31" presetClass="entr" presetSubtype="0" grpId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grpId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entr" presetSubtype="0" grpId="0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70" dur="800" decel="1000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10" presetClass="entr" presetSubtype="0" grpId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31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0" dur="800" decel="1000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10" presetClass="entr" presetSubtype="0" grpId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1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0" dur="800" decel="1000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14" presetID="10" presetClass="entr" presetSubtype="0" grpId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grpId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grpId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grpId="0" fill="hold" nodeType="withEffect">
                                  <p:stCondLst>
                                    <p:cond delay="3100"/>
                                  </p:stCondLst>
                                  <p:iterate type="lt">
                                    <p:tmAbs val="28"/>
                                  </p:iterate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4A10"/>
                </a:solidFill>
              </a:rPr>
              <a:t>A QUICK EXAMPLE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Ammar: detractors to promoters in one week</a:t>
            </a:r>
            <a:endParaRPr lang="en-US" sz="3200" dirty="0"/>
          </a:p>
        </p:txBody>
      </p:sp>
      <p:sp>
        <p:nvSpPr>
          <p:cNvPr id="4" name="Result card"/>
          <p:cNvSpPr/>
          <p:nvPr/>
        </p:nvSpPr>
        <p:spPr>
          <a:xfrm>
            <a:off x="548640" y="1691640"/>
            <a:ext cx="6035040" cy="44348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Week label"/>
          <p:cNvSpPr txBox="1"/>
          <p:nvPr/>
        </p:nvSpPr>
        <p:spPr>
          <a:xfrm>
            <a:off x="914400" y="2057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6B7280"/>
                </a:solidFill>
              </a:rPr>
              <a:t>WEEK BEFORE</a:t>
            </a:r>
            <a:endParaRPr lang="en-US" sz="1050" dirty="0"/>
          </a:p>
        </p:txBody>
      </p:sp>
      <p:sp>
        <p:nvSpPr>
          <p:cNvPr id="6" name="Promoter"/>
          <p:cNvSpPr/>
          <p:nvPr/>
        </p:nvSpPr>
        <p:spPr>
          <a:xfrm>
            <a:off x="914400" y="2468880"/>
            <a:ext cx="475488" cy="475488"/>
          </a:xfrm>
          <a:prstGeom prst="ellipse">
            <a:avLst/>
          </a:prstGeom>
          <a:solidFill>
            <a:srgbClr val="1E7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Detractor"/>
          <p:cNvSpPr/>
          <p:nvPr/>
        </p:nvSpPr>
        <p:spPr>
          <a:xfrm>
            <a:off x="1517904" y="24688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Detractor"/>
          <p:cNvSpPr/>
          <p:nvPr/>
        </p:nvSpPr>
        <p:spPr>
          <a:xfrm>
            <a:off x="2121408" y="24688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Detractor"/>
          <p:cNvSpPr/>
          <p:nvPr/>
        </p:nvSpPr>
        <p:spPr>
          <a:xfrm>
            <a:off x="2724912" y="24688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Detractor"/>
          <p:cNvSpPr/>
          <p:nvPr/>
        </p:nvSpPr>
        <p:spPr>
          <a:xfrm>
            <a:off x="3328416" y="24688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Detractor"/>
          <p:cNvSpPr/>
          <p:nvPr/>
        </p:nvSpPr>
        <p:spPr>
          <a:xfrm>
            <a:off x="3931920" y="24688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Week tNPS"/>
          <p:cNvSpPr txBox="1"/>
          <p:nvPr/>
        </p:nvSpPr>
        <p:spPr>
          <a:xfrm>
            <a:off x="4389120" y="2331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B42318"/>
                </a:solidFill>
              </a:rPr>
              <a:t>−66.7</a:t>
            </a:r>
            <a:endParaRPr lang="en-US" sz="4000" dirty="0"/>
          </a:p>
        </p:txBody>
      </p:sp>
      <p:sp>
        <p:nvSpPr>
          <p:cNvPr id="13" name="Week label"/>
          <p:cNvSpPr txBox="1"/>
          <p:nvPr/>
        </p:nvSpPr>
        <p:spPr>
          <a:xfrm>
            <a:off x="914400" y="3657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E7F5C"/>
                </a:solidFill>
              </a:rPr>
              <a:t>LAST WEEK</a:t>
            </a:r>
            <a:endParaRPr lang="en-US" sz="1050" dirty="0"/>
          </a:p>
        </p:txBody>
      </p:sp>
      <p:sp>
        <p:nvSpPr>
          <p:cNvPr id="14" name="Promoter"/>
          <p:cNvSpPr/>
          <p:nvPr/>
        </p:nvSpPr>
        <p:spPr>
          <a:xfrm>
            <a:off x="914400" y="4069080"/>
            <a:ext cx="475488" cy="475488"/>
          </a:xfrm>
          <a:prstGeom prst="ellipse">
            <a:avLst/>
          </a:prstGeom>
          <a:solidFill>
            <a:srgbClr val="1E7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Promoter"/>
          <p:cNvSpPr/>
          <p:nvPr/>
        </p:nvSpPr>
        <p:spPr>
          <a:xfrm>
            <a:off x="1517904" y="4069080"/>
            <a:ext cx="475488" cy="475488"/>
          </a:xfrm>
          <a:prstGeom prst="ellipse">
            <a:avLst/>
          </a:prstGeom>
          <a:solidFill>
            <a:srgbClr val="1E7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Promoter"/>
          <p:cNvSpPr/>
          <p:nvPr/>
        </p:nvSpPr>
        <p:spPr>
          <a:xfrm>
            <a:off x="2121408" y="4069080"/>
            <a:ext cx="475488" cy="475488"/>
          </a:xfrm>
          <a:prstGeom prst="ellipse">
            <a:avLst/>
          </a:prstGeom>
          <a:solidFill>
            <a:srgbClr val="1E7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Promoter"/>
          <p:cNvSpPr/>
          <p:nvPr/>
        </p:nvSpPr>
        <p:spPr>
          <a:xfrm>
            <a:off x="2724912" y="4069080"/>
            <a:ext cx="475488" cy="475488"/>
          </a:xfrm>
          <a:prstGeom prst="ellipse">
            <a:avLst/>
          </a:prstGeom>
          <a:solidFill>
            <a:srgbClr val="1E7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Detractor"/>
          <p:cNvSpPr/>
          <p:nvPr/>
        </p:nvSpPr>
        <p:spPr>
          <a:xfrm>
            <a:off x="3328416" y="40690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Detractor"/>
          <p:cNvSpPr/>
          <p:nvPr/>
        </p:nvSpPr>
        <p:spPr>
          <a:xfrm>
            <a:off x="3931920" y="4069080"/>
            <a:ext cx="475488" cy="475488"/>
          </a:xfrm>
          <a:prstGeom prst="ellipse">
            <a:avLst/>
          </a:prstGeom>
          <a:solidFill>
            <a:srgbClr val="B423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Week tNPS"/>
          <p:cNvSpPr txBox="1"/>
          <p:nvPr/>
        </p:nvSpPr>
        <p:spPr>
          <a:xfrm>
            <a:off x="4389120" y="3931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1E7F5C"/>
                </a:solidFill>
              </a:rPr>
              <a:t>33.3</a:t>
            </a:r>
            <a:endParaRPr lang="en-US" sz="4000" dirty="0"/>
          </a:p>
        </p:txBody>
      </p:sp>
      <p:sp>
        <p:nvSpPr>
          <p:cNvPr id="21" name="Legend"/>
          <p:cNvSpPr txBox="1"/>
          <p:nvPr/>
        </p:nvSpPr>
        <p:spPr>
          <a:xfrm>
            <a:off x="914400" y="5532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7F5C"/>
                </a:solidFill>
              </a:rPr>
              <a:t>●  </a:t>
            </a:r>
            <a:r>
              <a:rPr lang="en-US" sz="1200" dirty="0">
                <a:solidFill>
                  <a:srgbClr val="3D4453"/>
                </a:solidFill>
              </a:rPr>
              <a:t>Promoter     </a:t>
            </a:r>
            <a:r>
              <a:rPr lang="en-US" sz="1200" dirty="0">
                <a:solidFill>
                  <a:srgbClr val="B42318"/>
                </a:solidFill>
              </a:rPr>
              <a:t>●  </a:t>
            </a:r>
            <a:r>
              <a:rPr lang="en-US" sz="1200" dirty="0">
                <a:solidFill>
                  <a:srgbClr val="3D4453"/>
                </a:solidFill>
              </a:rPr>
              <a:t>Detractor</a:t>
            </a:r>
            <a:endParaRPr lang="en-US" sz="1200" dirty="0"/>
          </a:p>
        </p:txBody>
      </p:sp>
      <p:sp>
        <p:nvSpPr>
          <p:cNvPr id="22" name="Told card"/>
          <p:cNvSpPr/>
          <p:nvPr/>
        </p:nvSpPr>
        <p:spPr>
          <a:xfrm>
            <a:off x="6858000" y="1691640"/>
            <a:ext cx="4785055" cy="4434840"/>
          </a:xfrm>
          <a:prstGeom prst="roundRect">
            <a:avLst>
              <a:gd name="adj" fmla="val 3093"/>
            </a:avLst>
          </a:prstGeom>
          <a:solidFill>
            <a:srgbClr val="F6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Label"/>
          <p:cNvSpPr txBox="1"/>
          <p:nvPr/>
        </p:nvSpPr>
        <p:spPr>
          <a:xfrm>
            <a:off x="7223760" y="2057400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94A10"/>
                </a:solidFill>
              </a:rPr>
              <a:t>WHAT I TOLD HIM TO DO</a:t>
            </a:r>
            <a:endParaRPr lang="en-US" sz="1050" dirty="0"/>
          </a:p>
        </p:txBody>
      </p:sp>
      <p:sp>
        <p:nvSpPr>
          <p:cNvPr id="24" name="Told number"/>
          <p:cNvSpPr txBox="1"/>
          <p:nvPr/>
        </p:nvSpPr>
        <p:spPr>
          <a:xfrm>
            <a:off x="722376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26522"/>
                </a:solidFill>
              </a:rPr>
              <a:t>1</a:t>
            </a:r>
            <a:endParaRPr lang="en-US" sz="3200" dirty="0"/>
          </a:p>
        </p:txBody>
      </p:sp>
      <p:sp>
        <p:nvSpPr>
          <p:cNvPr id="25" name="Told item"/>
          <p:cNvSpPr txBox="1"/>
          <p:nvPr/>
        </p:nvSpPr>
        <p:spPr>
          <a:xfrm>
            <a:off x="7772400" y="2587752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1826"/>
                </a:solidFill>
              </a:rPr>
              <a:t>Acknowledge, show empathy, and say you will take care of it</a:t>
            </a:r>
            <a:endParaRPr lang="en-US" sz="1600" dirty="0"/>
          </a:p>
        </p:txBody>
      </p:sp>
      <p:sp>
        <p:nvSpPr>
          <p:cNvPr id="26" name="Told number"/>
          <p:cNvSpPr txBox="1"/>
          <p:nvPr/>
        </p:nvSpPr>
        <p:spPr>
          <a:xfrm>
            <a:off x="7223760" y="3566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26522"/>
                </a:solidFill>
              </a:rPr>
              <a:t>2</a:t>
            </a:r>
            <a:endParaRPr lang="en-US" sz="3200" dirty="0"/>
          </a:p>
        </p:txBody>
      </p:sp>
      <p:sp>
        <p:nvSpPr>
          <p:cNvPr id="27" name="Told item"/>
          <p:cNvSpPr txBox="1"/>
          <p:nvPr/>
        </p:nvSpPr>
        <p:spPr>
          <a:xfrm>
            <a:off x="7772400" y="3639312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1826"/>
                </a:solidFill>
              </a:rPr>
              <a:t>Keep a warm, confident tone and build rapport</a:t>
            </a:r>
            <a:endParaRPr lang="en-US" sz="1600" dirty="0"/>
          </a:p>
        </p:txBody>
      </p:sp>
      <p:sp>
        <p:nvSpPr>
          <p:cNvPr id="28" name="Told number"/>
          <p:cNvSpPr txBox="1"/>
          <p:nvPr/>
        </p:nvSpPr>
        <p:spPr>
          <a:xfrm>
            <a:off x="7223760" y="46177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26522"/>
                </a:solidFill>
              </a:rPr>
              <a:t>3</a:t>
            </a:r>
            <a:endParaRPr lang="en-US" sz="3200" dirty="0"/>
          </a:p>
        </p:txBody>
      </p:sp>
      <p:sp>
        <p:nvSpPr>
          <p:cNvPr id="29" name="Told item"/>
          <p:cNvSpPr txBox="1"/>
          <p:nvPr/>
        </p:nvSpPr>
        <p:spPr>
          <a:xfrm>
            <a:off x="7772400" y="4690872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1826"/>
                </a:solidFill>
              </a:rPr>
              <a:t>Never go silent: say what you are doing, or use hold</a:t>
            </a:r>
            <a:endParaRPr lang="en-US" sz="16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" dur="800" decel="100000" fill="hold"/>
                                        <p:tgtEl>
                                          <p:spTgt spid="3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42" presetClass="entr" presetSubtype="0" grpId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" dur="800" decel="10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42" presetClass="entr" presetSubtype="0" grpId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" dur="800" decel="1000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grpId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grpId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grpId="0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grpId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grpId="0" fill="hold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grpId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grpId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grpId="0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grpId="0" fill="hold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grpId="0" fill="hold" nodeType="withEffect">
                                  <p:stCondLst>
                                    <p:cond delay="24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grpId="0" fill="hold" nodeType="withEffect">
                                  <p:stCondLst>
                                    <p:cond delay="26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grpId="0" fill="hold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grpId="0" fill="hold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grpId="0" fill="hold" nodeType="withEffect">
                                  <p:stCondLst>
                                    <p:cond delay="30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0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0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0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0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0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1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9" presetClass="emph" presetSubtype="0" grpId="1" fill="hold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1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35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6" presetClass="emph" presetSubtype="0" grpId="1" fill="hold" nodeType="withEffect">
                                  <p:stCondLst>
                                    <p:cond delay="3450"/>
                                  </p:stCondLst>
                                  <p:childTnLst>
                                    <p:animScale>
                                      <p:cBhvr>
                                        <p:cTn id="116" dur="26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20" presetID="10" presetClass="entr" presetSubtype="0" grpId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grpId="0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31" presetClass="entr" presetSubtype="0" grpId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5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42" presetClass="entr" presetSubtype="0" grpId="0" fill="hold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4" dur="800" decel="100000" fill="hold"/>
                                        <p:tgtEl>
                                          <p:spTgt spid="25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1" presetID="31" presetClass="entr" presetSubtype="0" grpId="0" fill="hold" nodeType="withEffect">
                                  <p:stCondLst>
                                    <p:cond delay="42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42" presetClass="entr" presetSubtype="0" grpId="0" fill="hold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6" dur="800" decel="100000" fill="hold"/>
                                        <p:tgtEl>
                                          <p:spTgt spid="27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3" presetID="31" presetClass="entr" presetSubtype="0" grpId="0" fill="hold" nodeType="withEffect">
                                  <p:stCondLst>
                                    <p:cond delay="452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42" presetClass="entr" presetSubtype="0" grpId="0" fill="hold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8" dur="800" decel="100000" fill="hold"/>
                                        <p:tgtEl>
                                          <p:spTgt spid="29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0" grpId="1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theme/theme1.xml><?xml version="1.0" encoding="utf-8"?>
<a:theme xmlns:a="http://schemas.openxmlformats.org/drawingml/2006/main" name="VXI Team Standing">
  <a:themeElements>
    <a:clrScheme name="VXI Team Standing">
      <a:dk1>
        <a:srgbClr val="121826"/>
      </a:dk1>
      <a:lt1>
        <a:srgbClr val="FFFFFF"/>
      </a:lt1>
      <a:dk2>
        <a:srgbClr val="3D4453"/>
      </a:dk2>
      <a:lt2>
        <a:srgbClr val="F6F3EE"/>
      </a:lt2>
      <a:accent1>
        <a:srgbClr val="F26522"/>
      </a:accent1>
      <a:accent2>
        <a:srgbClr val="C94A10"/>
      </a:accent2>
      <a:accent3>
        <a:srgbClr val="1E7F5C"/>
      </a:accent3>
      <a:accent4>
        <a:srgbClr val="B42318"/>
      </a:accent4>
      <a:accent5>
        <a:srgbClr val="FDE9DF"/>
      </a:accent5>
      <a:accent6>
        <a:srgbClr val="8C96AC"/>
      </a:accent6>
      <a:hlink>
        <a:srgbClr val="C94A10"/>
      </a:hlink>
      <a:folHlink>
        <a:srgbClr val="C94A10"/>
      </a:folHlink>
    </a:clrScheme>
    <a:fontScheme name="VXI Team Stand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746</Words>
  <Application>Microsoft Office PowerPoint</Application>
  <PresentationFormat>Widescreen</PresentationFormat>
  <Paragraphs>85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Baskervville</vt:lpstr>
      <vt:lpstr>Calibri</vt:lpstr>
      <vt:lpstr>Poppins</vt:lpstr>
      <vt:lpstr>Segoe UI</vt:lpstr>
      <vt:lpstr>VXI Team Standing</vt:lpstr>
      <vt:lpstr>PowerPoint Presentation</vt:lpstr>
      <vt:lpstr>Five steps, every agent, every week</vt:lpstr>
      <vt:lpstr>PowerPoint Presentation</vt:lpstr>
      <vt:lpstr>Ask, model, practice, commit</vt:lpstr>
      <vt:lpstr>Mohammed Ammar: detractors to promoters in one week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 to Basics: How I Coach, Omar Mansour</dc:title>
  <dc:subject>PptxGenJS Presentation</dc:subject>
  <dc:creator>Omar Mansour</dc:creator>
  <cp:lastModifiedBy>Omar Mansour Ali Mohamed</cp:lastModifiedBy>
  <cp:revision>2</cp:revision>
  <dcterms:created xsi:type="dcterms:W3CDTF">2026-10-19T16:03:52Z</dcterms:created>
  <dcterms:modified xsi:type="dcterms:W3CDTF">2026-10-19T19:47:51Z</dcterms:modified>
</cp:coreProperties>
</file>