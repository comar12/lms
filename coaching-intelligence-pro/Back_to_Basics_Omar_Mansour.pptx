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1a0d5a10-b713-40ae-f30c-e6f3c60b00b7}">
          <p14:sldIdLst>
            <p14:sldId id="256"/>
          </p14:sldIdLst>
        </p14:section>
        <p14:section name="The five steps" id="{796f7edb-887e-e88f-43ba-b254671b5a88}">
          <p14:sldIdLst>
            <p14:sldId id="257"/>
          </p14:sldIdLst>
        </p14:section>
        <p14:section name="My coaching technique" id="{86dc0846-61e4-f278-0574-882e3478f764}">
          <p14:sldIdLst>
            <p14:sldId id="258"/>
          </p14:sldIdLst>
        </p14:section>
        <p14:section name="Example" id="{00a2498b-45cb-b84a-d28e-1dbc8e06a7eb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back to basics. Every agent on my team gets coached the same way, in five steps. I will show you the five steps, my coaching technique, and one quick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five steps. One, I prepare with the data from Tableau, Power BI and i3, and I listen to 2 to 4 calls. Two, I find the root cause: is it knowledge, skill, or will. Three, I coach with questions: the agent names the gap, I model it, and we role play. Four, a clear plan: one or two behaviors, a target and a follow-up date. Five, I follow up every week with calls, a huddle and the calibration pack. The goal is simple: the agent leaves knowing one or two things to do differently on the next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my coaching technique. I ask first, with open questions. The agent names the gap in their own words, so they own it. Then I model the exact line that works, we role play until it sounds natural, and we close with a commitment and a follow-up date. And the question I always start with is: what was going through your mind at that moment?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quick example. Mohammed Ammar. When I listened to his calls, the gaps were assurance, empathy, acknowledgement, rapport, tone of voice, and silence on the call. So I told him three things: acknowledge, show empathy, and say you will take care of it. Keep a warm, confident tone and build rapport. And never go silent: say what you are doing, or use hold. The week before he had 1 promoter and 5 detractors. Last week he had 4 promoters and 2 detractors, 33.3. That is the five steps working on one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basics · TSX Cairo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1280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522"/>
                </a:solidFill>
              </a:rPr>
              <a:t>VXI · TSX CAIRO · COMCAST REPAIR</a:t>
            </a:r>
            <a:endParaRPr lang="en-US" sz="1200" dirty="0"/>
          </a:p>
        </p:txBody>
      </p:sp>
      <p:sp>
        <p:nvSpPr>
          <p:cNvPr id="3" name="Deck title"/>
          <p:cNvSpPr txBox="1"/>
          <p:nvPr/>
        </p:nvSpPr>
        <p:spPr>
          <a:xfrm>
            <a:off x="548640" y="173736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spc="-100" kern="0" dirty="0">
                <a:solidFill>
                  <a:srgbClr val="FFFFFF"/>
                </a:solidFill>
              </a:rPr>
              <a:t>Back to basics</a:t>
            </a:r>
            <a:endParaRPr lang="en-US" sz="60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2880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9DDE6"/>
                </a:solidFill>
              </a:rPr>
              <a:t>How I coach my team, in five steps.</a:t>
            </a:r>
            <a:endParaRPr lang="en-US" sz="2200" dirty="0"/>
          </a:p>
        </p:txBody>
      </p:sp>
      <p:sp>
        <p:nvSpPr>
          <p:cNvPr id="5" name="Step dot"/>
          <p:cNvSpPr/>
          <p:nvPr/>
        </p:nvSpPr>
        <p:spPr>
          <a:xfrm>
            <a:off x="7498080" y="2011680"/>
            <a:ext cx="749808" cy="74980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6" name="Step dot number"/>
          <p:cNvSpPr txBox="1"/>
          <p:nvPr/>
        </p:nvSpPr>
        <p:spPr>
          <a:xfrm>
            <a:off x="7498080" y="20116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Step dot"/>
          <p:cNvSpPr/>
          <p:nvPr/>
        </p:nvSpPr>
        <p:spPr>
          <a:xfrm>
            <a:off x="8366760" y="2011680"/>
            <a:ext cx="749808" cy="74980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8" name="Step dot number"/>
          <p:cNvSpPr txBox="1"/>
          <p:nvPr/>
        </p:nvSpPr>
        <p:spPr>
          <a:xfrm>
            <a:off x="8366760" y="20116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9" name="Step dot"/>
          <p:cNvSpPr/>
          <p:nvPr/>
        </p:nvSpPr>
        <p:spPr>
          <a:xfrm>
            <a:off x="9235440" y="2011680"/>
            <a:ext cx="749808" cy="74980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0" name="Step dot number"/>
          <p:cNvSpPr txBox="1"/>
          <p:nvPr/>
        </p:nvSpPr>
        <p:spPr>
          <a:xfrm>
            <a:off x="9235440" y="20116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1" name="Step dot"/>
          <p:cNvSpPr/>
          <p:nvPr/>
        </p:nvSpPr>
        <p:spPr>
          <a:xfrm>
            <a:off x="10104120" y="2011680"/>
            <a:ext cx="749808" cy="74980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2" name="Step dot number"/>
          <p:cNvSpPr txBox="1"/>
          <p:nvPr/>
        </p:nvSpPr>
        <p:spPr>
          <a:xfrm>
            <a:off x="10104120" y="20116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13" name="Step dot"/>
          <p:cNvSpPr/>
          <p:nvPr/>
        </p:nvSpPr>
        <p:spPr>
          <a:xfrm>
            <a:off x="10972800" y="2011680"/>
            <a:ext cx="749808" cy="749808"/>
          </a:xfrm>
          <a:prstGeom prst="ellipse">
            <a:avLst/>
          </a:prstGeom>
          <a:solidFill>
            <a:srgbClr val="F26522"/>
          </a:solidFill>
          <a:ln/>
        </p:spPr>
      </p:sp>
      <p:sp>
        <p:nvSpPr>
          <p:cNvPr id="14" name="Step dot number"/>
          <p:cNvSpPr txBox="1"/>
          <p:nvPr/>
        </p:nvSpPr>
        <p:spPr>
          <a:xfrm>
            <a:off x="10972800" y="20116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n-US" sz="2800" dirty="0"/>
          </a:p>
        </p:txBody>
      </p:sp>
      <p:sp>
        <p:nvSpPr>
          <p:cNvPr id="15" name="Label"/>
          <p:cNvSpPr txBox="1"/>
          <p:nvPr/>
        </p:nvSpPr>
        <p:spPr>
          <a:xfrm>
            <a:off x="548640" y="52578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C96AC"/>
                </a:solidFill>
              </a:rPr>
              <a:t>PRESENTED BY</a:t>
            </a:r>
            <a:endParaRPr lang="en-US" sz="1050" dirty="0"/>
          </a:p>
        </p:txBody>
      </p:sp>
      <p:sp>
        <p:nvSpPr>
          <p:cNvPr id="16" name="Cover detail"/>
          <p:cNvSpPr txBox="1"/>
          <p:nvPr/>
        </p:nvSpPr>
        <p:spPr>
          <a:xfrm>
            <a:off x="548640" y="5532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Omar Mansour, Supervisor</a:t>
            </a:r>
            <a:endParaRPr lang="en-US" sz="1700" dirty="0"/>
          </a:p>
        </p:txBody>
      </p:sp>
      <p:sp>
        <p:nvSpPr>
          <p:cNvPr id="17" name="Label"/>
          <p:cNvSpPr txBox="1"/>
          <p:nvPr/>
        </p:nvSpPr>
        <p:spPr>
          <a:xfrm>
            <a:off x="4251960" y="52578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C96AC"/>
                </a:solidFill>
              </a:rPr>
              <a:t>TEAM</a:t>
            </a:r>
            <a:endParaRPr lang="en-US" sz="1050" dirty="0"/>
          </a:p>
        </p:txBody>
      </p:sp>
      <p:sp>
        <p:nvSpPr>
          <p:cNvPr id="18" name="Cover detail"/>
          <p:cNvSpPr txBox="1"/>
          <p:nvPr/>
        </p:nvSpPr>
        <p:spPr>
          <a:xfrm>
            <a:off x="4251960" y="5532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13 agents, 0 to 30 days</a:t>
            </a:r>
            <a:endParaRPr lang="en-US" sz="1700" dirty="0"/>
          </a:p>
        </p:txBody>
      </p:sp>
      <p:sp>
        <p:nvSpPr>
          <p:cNvPr id="19" name="Label"/>
          <p:cNvSpPr txBox="1"/>
          <p:nvPr/>
        </p:nvSpPr>
        <p:spPr>
          <a:xfrm>
            <a:off x="7955280" y="52578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C96AC"/>
                </a:solidFill>
              </a:rPr>
              <a:t>SESSION</a:t>
            </a:r>
            <a:endParaRPr lang="en-US" sz="1050" dirty="0"/>
          </a:p>
        </p:txBody>
      </p:sp>
      <p:sp>
        <p:nvSpPr>
          <p:cNvPr id="20" name="Cover detail"/>
          <p:cNvSpPr txBox="1"/>
          <p:nvPr/>
        </p:nvSpPr>
        <p:spPr>
          <a:xfrm>
            <a:off x="7955280" y="5532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Week of October 19, 2026</a:t>
            </a:r>
            <a:endParaRPr lang="en-US" sz="17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grpId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grpId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grpId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grpId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grpId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grpId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grpId="0" fill="hold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grpId="0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grpId="0" fill="hold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grpId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grpId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grpId="0" fill="hold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grpId="0" fill="hold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grpId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grpId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grpId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grpId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grpId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grpId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4A10"/>
                </a:solidFill>
              </a:rPr>
              <a:t>BACK TO BASICS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steps, every agent, every week</a:t>
            </a:r>
            <a:endParaRPr lang="en-US" sz="3200" dirty="0"/>
          </a:p>
        </p:txBody>
      </p:sp>
      <p:sp>
        <p:nvSpPr>
          <p:cNvPr id="4" name="Step card"/>
          <p:cNvSpPr/>
          <p:nvPr/>
        </p:nvSpPr>
        <p:spPr>
          <a:xfrm>
            <a:off x="548640" y="1691640"/>
            <a:ext cx="2036003" cy="3429000"/>
          </a:xfrm>
          <a:prstGeom prst="roundRect">
            <a:avLst>
              <a:gd name="adj" fmla="val 6737"/>
            </a:avLst>
          </a:prstGeom>
          <a:solidFill>
            <a:srgbClr val="F6F3EE"/>
          </a:solidFill>
          <a:ln/>
        </p:spPr>
      </p:sp>
      <p:sp>
        <p:nvSpPr>
          <p:cNvPr id="5" name="Step number"/>
          <p:cNvSpPr txBox="1"/>
          <p:nvPr/>
        </p:nvSpPr>
        <p:spPr>
          <a:xfrm>
            <a:off x="777240" y="18745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26522"/>
                </a:solidFill>
              </a:rPr>
              <a:t>1</a:t>
            </a:r>
            <a:endParaRPr lang="en-US" sz="7200" dirty="0"/>
          </a:p>
        </p:txBody>
      </p:sp>
      <p:sp>
        <p:nvSpPr>
          <p:cNvPr id="6" name="Step title"/>
          <p:cNvSpPr txBox="1"/>
          <p:nvPr/>
        </p:nvSpPr>
        <p:spPr>
          <a:xfrm>
            <a:off x="777240" y="3063240"/>
            <a:ext cx="15788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1826"/>
                </a:solidFill>
              </a:rPr>
              <a:t>Prepare with data</a:t>
            </a:r>
            <a:endParaRPr lang="en-US" sz="1800" dirty="0"/>
          </a:p>
        </p:txBody>
      </p:sp>
      <p:sp>
        <p:nvSpPr>
          <p:cNvPr id="7" name="Step detail"/>
          <p:cNvSpPr txBox="1"/>
          <p:nvPr/>
        </p:nvSpPr>
        <p:spPr>
          <a:xfrm>
            <a:off x="777240" y="3794760"/>
            <a:ext cx="15788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453"/>
                </a:solidFill>
              </a:rPr>
              <a:t>Tableau, Power BI and i3, plus 2 to 4 calls</a:t>
            </a:r>
            <a:endParaRPr lang="en-US" sz="1400" dirty="0"/>
          </a:p>
        </p:txBody>
      </p:sp>
      <p:sp>
        <p:nvSpPr>
          <p:cNvPr id="8" name="Step card"/>
          <p:cNvSpPr/>
          <p:nvPr/>
        </p:nvSpPr>
        <p:spPr>
          <a:xfrm>
            <a:off x="2813243" y="1691640"/>
            <a:ext cx="2036003" cy="3429000"/>
          </a:xfrm>
          <a:prstGeom prst="roundRect">
            <a:avLst>
              <a:gd name="adj" fmla="val 6737"/>
            </a:avLst>
          </a:prstGeom>
          <a:solidFill>
            <a:srgbClr val="F6F3EE"/>
          </a:solidFill>
          <a:ln/>
        </p:spPr>
      </p:sp>
      <p:sp>
        <p:nvSpPr>
          <p:cNvPr id="9" name="Step number"/>
          <p:cNvSpPr txBox="1"/>
          <p:nvPr/>
        </p:nvSpPr>
        <p:spPr>
          <a:xfrm>
            <a:off x="3041843" y="18745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26522"/>
                </a:solidFill>
              </a:rPr>
              <a:t>2</a:t>
            </a:r>
            <a:endParaRPr lang="en-US" sz="7200" dirty="0"/>
          </a:p>
        </p:txBody>
      </p:sp>
      <p:sp>
        <p:nvSpPr>
          <p:cNvPr id="10" name="Step title"/>
          <p:cNvSpPr txBox="1"/>
          <p:nvPr/>
        </p:nvSpPr>
        <p:spPr>
          <a:xfrm>
            <a:off x="3041843" y="3063240"/>
            <a:ext cx="15788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1826"/>
                </a:solidFill>
              </a:rPr>
              <a:t>Find the root cause</a:t>
            </a:r>
            <a:endParaRPr lang="en-US" sz="1800" dirty="0"/>
          </a:p>
        </p:txBody>
      </p:sp>
      <p:sp>
        <p:nvSpPr>
          <p:cNvPr id="11" name="Step detail"/>
          <p:cNvSpPr txBox="1"/>
          <p:nvPr/>
        </p:nvSpPr>
        <p:spPr>
          <a:xfrm>
            <a:off x="3041843" y="3794760"/>
            <a:ext cx="15788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453"/>
                </a:solidFill>
              </a:rPr>
              <a:t>Knowledge, skill, or will</a:t>
            </a:r>
            <a:endParaRPr lang="en-US" sz="1400" dirty="0"/>
          </a:p>
        </p:txBody>
      </p:sp>
      <p:sp>
        <p:nvSpPr>
          <p:cNvPr id="12" name="Step card"/>
          <p:cNvSpPr/>
          <p:nvPr/>
        </p:nvSpPr>
        <p:spPr>
          <a:xfrm>
            <a:off x="5077846" y="1691640"/>
            <a:ext cx="2036003" cy="3429000"/>
          </a:xfrm>
          <a:prstGeom prst="roundRect">
            <a:avLst>
              <a:gd name="adj" fmla="val 6737"/>
            </a:avLst>
          </a:prstGeom>
          <a:solidFill>
            <a:srgbClr val="F6F3EE"/>
          </a:solidFill>
          <a:ln/>
        </p:spPr>
      </p:sp>
      <p:sp>
        <p:nvSpPr>
          <p:cNvPr id="13" name="Step number"/>
          <p:cNvSpPr txBox="1"/>
          <p:nvPr/>
        </p:nvSpPr>
        <p:spPr>
          <a:xfrm>
            <a:off x="5306446" y="18745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26522"/>
                </a:solidFill>
              </a:rPr>
              <a:t>3</a:t>
            </a:r>
            <a:endParaRPr lang="en-US" sz="7200" dirty="0"/>
          </a:p>
        </p:txBody>
      </p:sp>
      <p:sp>
        <p:nvSpPr>
          <p:cNvPr id="14" name="Step title"/>
          <p:cNvSpPr txBox="1"/>
          <p:nvPr/>
        </p:nvSpPr>
        <p:spPr>
          <a:xfrm>
            <a:off x="5306446" y="3063240"/>
            <a:ext cx="15788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1826"/>
                </a:solidFill>
              </a:rPr>
              <a:t>Coach with questions</a:t>
            </a:r>
            <a:endParaRPr lang="en-US" sz="1800" dirty="0"/>
          </a:p>
        </p:txBody>
      </p:sp>
      <p:sp>
        <p:nvSpPr>
          <p:cNvPr id="15" name="Step detail"/>
          <p:cNvSpPr txBox="1"/>
          <p:nvPr/>
        </p:nvSpPr>
        <p:spPr>
          <a:xfrm>
            <a:off x="5306446" y="3794760"/>
            <a:ext cx="15788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453"/>
                </a:solidFill>
              </a:rPr>
              <a:t>The agent names the gap, I model it, we role play</a:t>
            </a:r>
            <a:endParaRPr lang="en-US" sz="1400" dirty="0"/>
          </a:p>
        </p:txBody>
      </p:sp>
      <p:sp>
        <p:nvSpPr>
          <p:cNvPr id="16" name="Step card"/>
          <p:cNvSpPr/>
          <p:nvPr/>
        </p:nvSpPr>
        <p:spPr>
          <a:xfrm>
            <a:off x="7342449" y="1691640"/>
            <a:ext cx="2036003" cy="3429000"/>
          </a:xfrm>
          <a:prstGeom prst="roundRect">
            <a:avLst>
              <a:gd name="adj" fmla="val 6737"/>
            </a:avLst>
          </a:prstGeom>
          <a:solidFill>
            <a:srgbClr val="F6F3EE"/>
          </a:solidFill>
          <a:ln/>
        </p:spPr>
      </p:sp>
      <p:sp>
        <p:nvSpPr>
          <p:cNvPr id="17" name="Step number"/>
          <p:cNvSpPr txBox="1"/>
          <p:nvPr/>
        </p:nvSpPr>
        <p:spPr>
          <a:xfrm>
            <a:off x="7571049" y="18745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26522"/>
                </a:solidFill>
              </a:rPr>
              <a:t>4</a:t>
            </a:r>
            <a:endParaRPr lang="en-US" sz="7200" dirty="0"/>
          </a:p>
        </p:txBody>
      </p:sp>
      <p:sp>
        <p:nvSpPr>
          <p:cNvPr id="18" name="Step title"/>
          <p:cNvSpPr txBox="1"/>
          <p:nvPr/>
        </p:nvSpPr>
        <p:spPr>
          <a:xfrm>
            <a:off x="7571049" y="3063240"/>
            <a:ext cx="15788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1826"/>
                </a:solidFill>
              </a:rPr>
              <a:t>Set a clear plan</a:t>
            </a:r>
            <a:endParaRPr lang="en-US" sz="1800" dirty="0"/>
          </a:p>
        </p:txBody>
      </p:sp>
      <p:sp>
        <p:nvSpPr>
          <p:cNvPr id="19" name="Step detail"/>
          <p:cNvSpPr txBox="1"/>
          <p:nvPr/>
        </p:nvSpPr>
        <p:spPr>
          <a:xfrm>
            <a:off x="7571049" y="3794760"/>
            <a:ext cx="15788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453"/>
                </a:solidFill>
              </a:rPr>
              <a:t>One or two behaviors, a target and a follow-up date</a:t>
            </a:r>
            <a:endParaRPr lang="en-US" sz="1400" dirty="0"/>
          </a:p>
        </p:txBody>
      </p:sp>
      <p:sp>
        <p:nvSpPr>
          <p:cNvPr id="20" name="Step card"/>
          <p:cNvSpPr/>
          <p:nvPr/>
        </p:nvSpPr>
        <p:spPr>
          <a:xfrm>
            <a:off x="9607052" y="1691640"/>
            <a:ext cx="2036003" cy="3429000"/>
          </a:xfrm>
          <a:prstGeom prst="roundRect">
            <a:avLst>
              <a:gd name="adj" fmla="val 6737"/>
            </a:avLst>
          </a:prstGeom>
          <a:solidFill>
            <a:srgbClr val="F6F3EE"/>
          </a:solidFill>
          <a:ln/>
        </p:spPr>
      </p:sp>
      <p:sp>
        <p:nvSpPr>
          <p:cNvPr id="21" name="Step number"/>
          <p:cNvSpPr txBox="1"/>
          <p:nvPr/>
        </p:nvSpPr>
        <p:spPr>
          <a:xfrm>
            <a:off x="9835652" y="18745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26522"/>
                </a:solidFill>
              </a:rPr>
              <a:t>5</a:t>
            </a:r>
            <a:endParaRPr lang="en-US" sz="7200" dirty="0"/>
          </a:p>
        </p:txBody>
      </p:sp>
      <p:sp>
        <p:nvSpPr>
          <p:cNvPr id="22" name="Step title"/>
          <p:cNvSpPr txBox="1"/>
          <p:nvPr/>
        </p:nvSpPr>
        <p:spPr>
          <a:xfrm>
            <a:off x="9835652" y="3063240"/>
            <a:ext cx="15788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1826"/>
                </a:solidFill>
              </a:rPr>
              <a:t>Follow up</a:t>
            </a:r>
            <a:endParaRPr lang="en-US" sz="1800" dirty="0"/>
          </a:p>
        </p:txBody>
      </p:sp>
      <p:sp>
        <p:nvSpPr>
          <p:cNvPr id="23" name="Step detail"/>
          <p:cNvSpPr txBox="1"/>
          <p:nvPr/>
        </p:nvSpPr>
        <p:spPr>
          <a:xfrm>
            <a:off x="9835652" y="3794760"/>
            <a:ext cx="15788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453"/>
                </a:solidFill>
              </a:rPr>
              <a:t>Calls every week, a huddle and the calibration pack</a:t>
            </a:r>
            <a:endParaRPr lang="en-US" sz="1400" dirty="0"/>
          </a:p>
        </p:txBody>
      </p:sp>
      <p:sp>
        <p:nvSpPr>
          <p:cNvPr id="24" name="Goal band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17647"/>
            </a:avLst>
          </a:prstGeom>
          <a:solidFill>
            <a:srgbClr val="121826"/>
          </a:solidFill>
          <a:ln/>
        </p:spPr>
      </p:sp>
      <p:sp>
        <p:nvSpPr>
          <p:cNvPr id="25" name="Goal band text"/>
          <p:cNvSpPr txBox="1"/>
          <p:nvPr/>
        </p:nvSpPr>
        <p:spPr>
          <a:xfrm>
            <a:off x="914400" y="534924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6522"/>
                </a:solidFill>
              </a:rPr>
              <a:t>The goal: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the agent leaves knowing one or two things to do differently on the next call.</a:t>
            </a:r>
            <a:endParaRPr lang="en-US" sz="17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grpId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grpId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grpId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grpId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grpId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53" presetClass="entr" presetSubtype="16" grpId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entr" presetSubtype="0" grpId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grpId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grpId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53" presetClass="entr" presetSubtype="16" grpId="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entr" presetSubtype="0" grpId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grpId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grpId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grpId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2" presetClass="entr" presetSubtype="0" grpId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grpId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grpId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53" presetClass="entr" presetSubtype="16" grpId="0" fill="hold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2" presetClass="entr" presetSubtype="0" grpId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grpId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grpId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53" presetClass="entr" presetSubtype="16" grpId="0" fill="hold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grpId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grpId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4A10"/>
                </a:solidFill>
              </a:rPr>
              <a:t>MY COACHING TECHNIQUE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Ask, model, practice, commit</a:t>
            </a:r>
            <a:endParaRPr lang="en-US" sz="3200" dirty="0"/>
          </a:p>
        </p:txBody>
      </p:sp>
      <p:sp>
        <p:nvSpPr>
          <p:cNvPr id="4" name="Flow line"/>
          <p:cNvSpPr/>
          <p:nvPr/>
        </p:nvSpPr>
        <p:spPr>
          <a:xfrm>
            <a:off x="1658082" y="2377440"/>
            <a:ext cx="8875532" cy="0"/>
          </a:xfrm>
          <a:prstGeom prst="line">
            <a:avLst/>
          </a:prstGeom>
          <a:noFill/>
          <a:ln w="38100">
            <a:solidFill>
              <a:srgbClr val="F6C3A8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1155162" y="1874520"/>
            <a:ext cx="1005840" cy="100584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6563" y="2115922"/>
            <a:ext cx="523037" cy="523037"/>
          </a:xfrm>
          <a:prstGeom prst="rect">
            <a:avLst/>
          </a:prstGeom>
        </p:spPr>
      </p:pic>
      <p:sp>
        <p:nvSpPr>
          <p:cNvPr id="7" name="Technique title"/>
          <p:cNvSpPr txBox="1"/>
          <p:nvPr/>
        </p:nvSpPr>
        <p:spPr>
          <a:xfrm>
            <a:off x="640080" y="315468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1826"/>
                </a:solidFill>
              </a:rPr>
              <a:t>Ask</a:t>
            </a:r>
            <a:endParaRPr lang="en-US" sz="1900" dirty="0"/>
          </a:p>
        </p:txBody>
      </p:sp>
      <p:sp>
        <p:nvSpPr>
          <p:cNvPr id="8" name="Technique detail"/>
          <p:cNvSpPr txBox="1"/>
          <p:nvPr/>
        </p:nvSpPr>
        <p:spPr>
          <a:xfrm>
            <a:off x="640080" y="3611880"/>
            <a:ext cx="20360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453"/>
                </a:solidFill>
              </a:rPr>
              <a:t>Open questions first</a:t>
            </a:r>
            <a:endParaRPr lang="en-US" sz="1400" dirty="0"/>
          </a:p>
        </p:txBody>
      </p:sp>
      <p:sp>
        <p:nvSpPr>
          <p:cNvPr id="9" name="Icon circle"/>
          <p:cNvSpPr/>
          <p:nvPr/>
        </p:nvSpPr>
        <p:spPr>
          <a:xfrm>
            <a:off x="3374045" y="1874520"/>
            <a:ext cx="1005840" cy="100584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446" y="2115922"/>
            <a:ext cx="523037" cy="523037"/>
          </a:xfrm>
          <a:prstGeom prst="rect">
            <a:avLst/>
          </a:prstGeom>
        </p:spPr>
      </p:pic>
      <p:sp>
        <p:nvSpPr>
          <p:cNvPr id="11" name="Technique title"/>
          <p:cNvSpPr txBox="1"/>
          <p:nvPr/>
        </p:nvSpPr>
        <p:spPr>
          <a:xfrm>
            <a:off x="2858963" y="315468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1826"/>
                </a:solidFill>
              </a:rPr>
              <a:t>The agent names it</a:t>
            </a:r>
            <a:endParaRPr lang="en-US" sz="1900" dirty="0"/>
          </a:p>
        </p:txBody>
      </p:sp>
      <p:sp>
        <p:nvSpPr>
          <p:cNvPr id="12" name="Technique detail"/>
          <p:cNvSpPr txBox="1"/>
          <p:nvPr/>
        </p:nvSpPr>
        <p:spPr>
          <a:xfrm>
            <a:off x="2858963" y="3611880"/>
            <a:ext cx="20360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453"/>
                </a:solidFill>
              </a:rPr>
              <a:t>In their own words</a:t>
            </a:r>
            <a:endParaRPr lang="en-US" sz="1400" dirty="0"/>
          </a:p>
        </p:txBody>
      </p:sp>
      <p:sp>
        <p:nvSpPr>
          <p:cNvPr id="13" name="Icon circle"/>
          <p:cNvSpPr/>
          <p:nvPr/>
        </p:nvSpPr>
        <p:spPr>
          <a:xfrm>
            <a:off x="5592928" y="1874520"/>
            <a:ext cx="1005840" cy="100584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4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329" y="2115922"/>
            <a:ext cx="523037" cy="523037"/>
          </a:xfrm>
          <a:prstGeom prst="rect">
            <a:avLst/>
          </a:prstGeom>
        </p:spPr>
      </p:pic>
      <p:sp>
        <p:nvSpPr>
          <p:cNvPr id="15" name="Technique title"/>
          <p:cNvSpPr txBox="1"/>
          <p:nvPr/>
        </p:nvSpPr>
        <p:spPr>
          <a:xfrm>
            <a:off x="5077846" y="315468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1826"/>
                </a:solidFill>
              </a:rPr>
              <a:t>I model it</a:t>
            </a:r>
            <a:endParaRPr lang="en-US" sz="1900" dirty="0"/>
          </a:p>
        </p:txBody>
      </p:sp>
      <p:sp>
        <p:nvSpPr>
          <p:cNvPr id="16" name="Technique detail"/>
          <p:cNvSpPr txBox="1"/>
          <p:nvPr/>
        </p:nvSpPr>
        <p:spPr>
          <a:xfrm>
            <a:off x="5077846" y="3611880"/>
            <a:ext cx="20360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453"/>
                </a:solidFill>
              </a:rPr>
              <a:t>The exact line that works</a:t>
            </a:r>
            <a:endParaRPr lang="en-US" sz="1400" dirty="0"/>
          </a:p>
        </p:txBody>
      </p:sp>
      <p:sp>
        <p:nvSpPr>
          <p:cNvPr id="17" name="Icon circle"/>
          <p:cNvSpPr/>
          <p:nvPr/>
        </p:nvSpPr>
        <p:spPr>
          <a:xfrm>
            <a:off x="7811811" y="1874520"/>
            <a:ext cx="1005840" cy="100584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8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3212" y="2115922"/>
            <a:ext cx="523037" cy="523037"/>
          </a:xfrm>
          <a:prstGeom prst="rect">
            <a:avLst/>
          </a:prstGeom>
        </p:spPr>
      </p:pic>
      <p:sp>
        <p:nvSpPr>
          <p:cNvPr id="19" name="Technique title"/>
          <p:cNvSpPr txBox="1"/>
          <p:nvPr/>
        </p:nvSpPr>
        <p:spPr>
          <a:xfrm>
            <a:off x="7296729" y="315468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1826"/>
                </a:solidFill>
              </a:rPr>
              <a:t>Role play</a:t>
            </a:r>
            <a:endParaRPr lang="en-US" sz="1900" dirty="0"/>
          </a:p>
        </p:txBody>
      </p:sp>
      <p:sp>
        <p:nvSpPr>
          <p:cNvPr id="20" name="Technique detail"/>
          <p:cNvSpPr txBox="1"/>
          <p:nvPr/>
        </p:nvSpPr>
        <p:spPr>
          <a:xfrm>
            <a:off x="7296729" y="3611880"/>
            <a:ext cx="20360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453"/>
                </a:solidFill>
              </a:rPr>
              <a:t>Until it sounds natural</a:t>
            </a:r>
            <a:endParaRPr lang="en-US" sz="1400" dirty="0"/>
          </a:p>
        </p:txBody>
      </p:sp>
      <p:sp>
        <p:nvSpPr>
          <p:cNvPr id="21" name="Icon circle"/>
          <p:cNvSpPr/>
          <p:nvPr/>
        </p:nvSpPr>
        <p:spPr>
          <a:xfrm>
            <a:off x="10030694" y="1874520"/>
            <a:ext cx="1005840" cy="100584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2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2095" y="2115922"/>
            <a:ext cx="523037" cy="523037"/>
          </a:xfrm>
          <a:prstGeom prst="rect">
            <a:avLst/>
          </a:prstGeom>
        </p:spPr>
      </p:pic>
      <p:sp>
        <p:nvSpPr>
          <p:cNvPr id="23" name="Technique title"/>
          <p:cNvSpPr txBox="1"/>
          <p:nvPr/>
        </p:nvSpPr>
        <p:spPr>
          <a:xfrm>
            <a:off x="9515612" y="315468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1826"/>
                </a:solidFill>
              </a:rPr>
              <a:t>Commit</a:t>
            </a:r>
            <a:endParaRPr lang="en-US" sz="1900" dirty="0"/>
          </a:p>
        </p:txBody>
      </p:sp>
      <p:sp>
        <p:nvSpPr>
          <p:cNvPr id="24" name="Technique detail"/>
          <p:cNvSpPr txBox="1"/>
          <p:nvPr/>
        </p:nvSpPr>
        <p:spPr>
          <a:xfrm>
            <a:off x="9515612" y="3611880"/>
            <a:ext cx="20360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453"/>
                </a:solidFill>
              </a:rPr>
              <a:t>And a follow-up date</a:t>
            </a:r>
            <a:endParaRPr lang="en-US" sz="1400" dirty="0"/>
          </a:p>
        </p:txBody>
      </p:sp>
      <p:sp>
        <p:nvSpPr>
          <p:cNvPr id="25" name="Question band"/>
          <p:cNvSpPr/>
          <p:nvPr/>
        </p:nvSpPr>
        <p:spPr>
          <a:xfrm>
            <a:off x="548640" y="4434840"/>
            <a:ext cx="11094415" cy="1691640"/>
          </a:xfrm>
          <a:prstGeom prst="roundRect">
            <a:avLst>
              <a:gd name="adj" fmla="val 8108"/>
            </a:avLst>
          </a:prstGeom>
          <a:solidFill>
            <a:srgbClr val="121826"/>
          </a:solidFill>
          <a:ln/>
        </p:spPr>
      </p:sp>
      <p:sp>
        <p:nvSpPr>
          <p:cNvPr id="26" name="Label"/>
          <p:cNvSpPr txBox="1"/>
          <p:nvPr/>
        </p:nvSpPr>
        <p:spPr>
          <a:xfrm>
            <a:off x="1005840" y="4754880"/>
            <a:ext cx="10180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6522"/>
                </a:solidFill>
              </a:rPr>
              <a:t>THE QUESTION I ALWAYS START WITH</a:t>
            </a:r>
            <a:endParaRPr lang="en-US" sz="1050" dirty="0"/>
          </a:p>
        </p:txBody>
      </p:sp>
      <p:sp>
        <p:nvSpPr>
          <p:cNvPr id="27" name="Question text"/>
          <p:cNvSpPr txBox="1"/>
          <p:nvPr/>
        </p:nvSpPr>
        <p:spPr>
          <a:xfrm>
            <a:off x="1005840" y="5074920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</a:rPr>
              <a:t>“What was going through your mind at that moment?”</a:t>
            </a:r>
            <a:endParaRPr lang="en-US" sz="30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grpId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grpId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grpId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grpId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grpId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grpId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grpId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7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53" presetClass="entr" presetSubtype="16" grpId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grpId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entr" presetSubtype="0" grpId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7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grpId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7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53" presetClass="entr" presetSubtype="16" grpId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grpId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entr" presetSubtype="0" grpId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7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7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grpId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7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7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53" presetClass="entr" presetSubtype="16" grpId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grpId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entr" presetSubtype="0" grpId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7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7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grpId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7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7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53" presetClass="entr" presetSubtype="16" grpId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3" presetClass="entr" presetSubtype="16" grpId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entr" presetSubtype="0" grpId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7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7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grpId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7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7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2" presetClass="entr" presetSubtype="8" grpId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grpId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42" presetClass="entr" presetSubtype="0" grpId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7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7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4A10"/>
                </a:solidFill>
              </a:rPr>
              <a:t>A QUICK EXAMPLE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Ammar: detractors to promoters in one week</a:t>
            </a:r>
            <a:endParaRPr lang="en-US" sz="3200" dirty="0"/>
          </a:p>
        </p:txBody>
      </p:sp>
      <p:sp>
        <p:nvSpPr>
          <p:cNvPr id="4" name="Result card"/>
          <p:cNvSpPr/>
          <p:nvPr/>
        </p:nvSpPr>
        <p:spPr>
          <a:xfrm>
            <a:off x="548640" y="1691640"/>
            <a:ext cx="6035040" cy="443484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rgbClr val="E3DED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Week label"/>
          <p:cNvSpPr txBox="1"/>
          <p:nvPr/>
        </p:nvSpPr>
        <p:spPr>
          <a:xfrm>
            <a:off x="914400" y="20574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</a:rPr>
              <a:t>WEEK BEFORE</a:t>
            </a:r>
            <a:endParaRPr lang="en-US" sz="1050" dirty="0"/>
          </a:p>
        </p:txBody>
      </p:sp>
      <p:sp>
        <p:nvSpPr>
          <p:cNvPr id="6" name="Promoter"/>
          <p:cNvSpPr/>
          <p:nvPr/>
        </p:nvSpPr>
        <p:spPr>
          <a:xfrm>
            <a:off x="914400" y="2468880"/>
            <a:ext cx="475488" cy="475488"/>
          </a:xfrm>
          <a:prstGeom prst="ellipse">
            <a:avLst/>
          </a:prstGeom>
          <a:solidFill>
            <a:srgbClr val="1E7F5C"/>
          </a:solidFill>
          <a:ln/>
        </p:spPr>
      </p:sp>
      <p:sp>
        <p:nvSpPr>
          <p:cNvPr id="7" name="Detractor"/>
          <p:cNvSpPr/>
          <p:nvPr/>
        </p:nvSpPr>
        <p:spPr>
          <a:xfrm>
            <a:off x="1517904" y="2468880"/>
            <a:ext cx="475488" cy="475488"/>
          </a:xfrm>
          <a:prstGeom prst="ellipse">
            <a:avLst/>
          </a:prstGeom>
          <a:solidFill>
            <a:srgbClr val="B42318"/>
          </a:solidFill>
          <a:ln/>
        </p:spPr>
      </p:sp>
      <p:sp>
        <p:nvSpPr>
          <p:cNvPr id="8" name="Detractor"/>
          <p:cNvSpPr/>
          <p:nvPr/>
        </p:nvSpPr>
        <p:spPr>
          <a:xfrm>
            <a:off x="2121408" y="2468880"/>
            <a:ext cx="475488" cy="475488"/>
          </a:xfrm>
          <a:prstGeom prst="ellipse">
            <a:avLst/>
          </a:prstGeom>
          <a:solidFill>
            <a:srgbClr val="B42318"/>
          </a:solidFill>
          <a:ln/>
        </p:spPr>
      </p:sp>
      <p:sp>
        <p:nvSpPr>
          <p:cNvPr id="9" name="Detractor"/>
          <p:cNvSpPr/>
          <p:nvPr/>
        </p:nvSpPr>
        <p:spPr>
          <a:xfrm>
            <a:off x="2724912" y="2468880"/>
            <a:ext cx="475488" cy="475488"/>
          </a:xfrm>
          <a:prstGeom prst="ellipse">
            <a:avLst/>
          </a:prstGeom>
          <a:solidFill>
            <a:srgbClr val="B42318"/>
          </a:solidFill>
          <a:ln/>
        </p:spPr>
      </p:sp>
      <p:sp>
        <p:nvSpPr>
          <p:cNvPr id="10" name="Detractor"/>
          <p:cNvSpPr/>
          <p:nvPr/>
        </p:nvSpPr>
        <p:spPr>
          <a:xfrm>
            <a:off x="3328416" y="2468880"/>
            <a:ext cx="475488" cy="475488"/>
          </a:xfrm>
          <a:prstGeom prst="ellipse">
            <a:avLst/>
          </a:prstGeom>
          <a:solidFill>
            <a:srgbClr val="B42318"/>
          </a:solidFill>
          <a:ln/>
        </p:spPr>
      </p:sp>
      <p:sp>
        <p:nvSpPr>
          <p:cNvPr id="11" name="Detractor"/>
          <p:cNvSpPr/>
          <p:nvPr/>
        </p:nvSpPr>
        <p:spPr>
          <a:xfrm>
            <a:off x="3931920" y="2468880"/>
            <a:ext cx="475488" cy="475488"/>
          </a:xfrm>
          <a:prstGeom prst="ellipse">
            <a:avLst/>
          </a:prstGeom>
          <a:solidFill>
            <a:srgbClr val="B42318"/>
          </a:solidFill>
          <a:ln/>
        </p:spPr>
      </p:sp>
      <p:sp>
        <p:nvSpPr>
          <p:cNvPr id="12" name="Week tNPS"/>
          <p:cNvSpPr txBox="1"/>
          <p:nvPr/>
        </p:nvSpPr>
        <p:spPr>
          <a:xfrm>
            <a:off x="4389120" y="2331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B42318"/>
                </a:solidFill>
              </a:rPr>
              <a:t>−66.7</a:t>
            </a:r>
            <a:endParaRPr lang="en-US" sz="4000" dirty="0"/>
          </a:p>
        </p:txBody>
      </p:sp>
      <p:sp>
        <p:nvSpPr>
          <p:cNvPr id="13" name="Week label"/>
          <p:cNvSpPr txBox="1"/>
          <p:nvPr/>
        </p:nvSpPr>
        <p:spPr>
          <a:xfrm>
            <a:off x="914400" y="36576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7F5C"/>
                </a:solidFill>
              </a:rPr>
              <a:t>LAST WEEK</a:t>
            </a:r>
            <a:endParaRPr lang="en-US" sz="1050" dirty="0"/>
          </a:p>
        </p:txBody>
      </p:sp>
      <p:sp>
        <p:nvSpPr>
          <p:cNvPr id="14" name="Promoter"/>
          <p:cNvSpPr/>
          <p:nvPr/>
        </p:nvSpPr>
        <p:spPr>
          <a:xfrm>
            <a:off x="914400" y="4069080"/>
            <a:ext cx="475488" cy="475488"/>
          </a:xfrm>
          <a:prstGeom prst="ellipse">
            <a:avLst/>
          </a:prstGeom>
          <a:solidFill>
            <a:srgbClr val="1E7F5C"/>
          </a:solidFill>
          <a:ln/>
        </p:spPr>
      </p:sp>
      <p:sp>
        <p:nvSpPr>
          <p:cNvPr id="15" name="Promoter"/>
          <p:cNvSpPr/>
          <p:nvPr/>
        </p:nvSpPr>
        <p:spPr>
          <a:xfrm>
            <a:off x="1517904" y="4069080"/>
            <a:ext cx="475488" cy="475488"/>
          </a:xfrm>
          <a:prstGeom prst="ellipse">
            <a:avLst/>
          </a:prstGeom>
          <a:solidFill>
            <a:srgbClr val="1E7F5C"/>
          </a:solidFill>
          <a:ln/>
        </p:spPr>
      </p:sp>
      <p:sp>
        <p:nvSpPr>
          <p:cNvPr id="16" name="Promoter"/>
          <p:cNvSpPr/>
          <p:nvPr/>
        </p:nvSpPr>
        <p:spPr>
          <a:xfrm>
            <a:off x="2121408" y="4069080"/>
            <a:ext cx="475488" cy="475488"/>
          </a:xfrm>
          <a:prstGeom prst="ellipse">
            <a:avLst/>
          </a:prstGeom>
          <a:solidFill>
            <a:srgbClr val="1E7F5C"/>
          </a:solidFill>
          <a:ln/>
        </p:spPr>
      </p:sp>
      <p:sp>
        <p:nvSpPr>
          <p:cNvPr id="17" name="Promoter"/>
          <p:cNvSpPr/>
          <p:nvPr/>
        </p:nvSpPr>
        <p:spPr>
          <a:xfrm>
            <a:off x="2724912" y="4069080"/>
            <a:ext cx="475488" cy="475488"/>
          </a:xfrm>
          <a:prstGeom prst="ellipse">
            <a:avLst/>
          </a:prstGeom>
          <a:solidFill>
            <a:srgbClr val="1E7F5C"/>
          </a:solidFill>
          <a:ln/>
        </p:spPr>
      </p:sp>
      <p:sp>
        <p:nvSpPr>
          <p:cNvPr id="18" name="Detractor"/>
          <p:cNvSpPr/>
          <p:nvPr/>
        </p:nvSpPr>
        <p:spPr>
          <a:xfrm>
            <a:off x="3328416" y="4069080"/>
            <a:ext cx="475488" cy="475488"/>
          </a:xfrm>
          <a:prstGeom prst="ellipse">
            <a:avLst/>
          </a:prstGeom>
          <a:solidFill>
            <a:srgbClr val="B42318"/>
          </a:solidFill>
          <a:ln/>
        </p:spPr>
      </p:sp>
      <p:sp>
        <p:nvSpPr>
          <p:cNvPr id="19" name="Detractor"/>
          <p:cNvSpPr/>
          <p:nvPr/>
        </p:nvSpPr>
        <p:spPr>
          <a:xfrm>
            <a:off x="3931920" y="4069080"/>
            <a:ext cx="475488" cy="475488"/>
          </a:xfrm>
          <a:prstGeom prst="ellipse">
            <a:avLst/>
          </a:prstGeom>
          <a:solidFill>
            <a:srgbClr val="B42318"/>
          </a:solidFill>
          <a:ln/>
        </p:spPr>
      </p:sp>
      <p:sp>
        <p:nvSpPr>
          <p:cNvPr id="20" name="Week tNPS"/>
          <p:cNvSpPr txBox="1"/>
          <p:nvPr/>
        </p:nvSpPr>
        <p:spPr>
          <a:xfrm>
            <a:off x="4389120" y="3931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1E7F5C"/>
                </a:solidFill>
              </a:rPr>
              <a:t>33.3</a:t>
            </a:r>
            <a:endParaRPr lang="en-US" sz="4000" dirty="0"/>
          </a:p>
        </p:txBody>
      </p:sp>
      <p:sp>
        <p:nvSpPr>
          <p:cNvPr id="21" name="Legend"/>
          <p:cNvSpPr txBox="1"/>
          <p:nvPr/>
        </p:nvSpPr>
        <p:spPr>
          <a:xfrm>
            <a:off x="914400" y="55321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7F5C"/>
                </a:solidFill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3D4453"/>
                </a:solidFill>
              </a:rPr>
              <a:t>Promoter     </a:t>
            </a:r>
            <a:pPr indent="0" marL="0">
              <a:buNone/>
            </a:pPr>
            <a:r>
              <a:rPr lang="en-US" sz="1200" dirty="0">
                <a:solidFill>
                  <a:srgbClr val="B42318"/>
                </a:solidFill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3D4453"/>
                </a:solidFill>
              </a:rPr>
              <a:t>Detractor</a:t>
            </a:r>
            <a:endParaRPr lang="en-US" sz="1200" dirty="0"/>
          </a:p>
        </p:txBody>
      </p:sp>
      <p:sp>
        <p:nvSpPr>
          <p:cNvPr id="22" name="Told card"/>
          <p:cNvSpPr/>
          <p:nvPr/>
        </p:nvSpPr>
        <p:spPr>
          <a:xfrm>
            <a:off x="6858000" y="1691640"/>
            <a:ext cx="4785055" cy="4434840"/>
          </a:xfrm>
          <a:prstGeom prst="roundRect">
            <a:avLst>
              <a:gd name="adj" fmla="val 3093"/>
            </a:avLst>
          </a:prstGeom>
          <a:solidFill>
            <a:srgbClr val="F6F3EE"/>
          </a:solidFill>
          <a:ln/>
        </p:spPr>
      </p:sp>
      <p:sp>
        <p:nvSpPr>
          <p:cNvPr id="23" name="Label"/>
          <p:cNvSpPr txBox="1"/>
          <p:nvPr/>
        </p:nvSpPr>
        <p:spPr>
          <a:xfrm>
            <a:off x="7223760" y="2057400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4A10"/>
                </a:solidFill>
              </a:rPr>
              <a:t>WHAT I TOLD HIM TO DO</a:t>
            </a:r>
            <a:endParaRPr lang="en-US" sz="1050" dirty="0"/>
          </a:p>
        </p:txBody>
      </p:sp>
      <p:sp>
        <p:nvSpPr>
          <p:cNvPr id="24" name="Told number"/>
          <p:cNvSpPr txBox="1"/>
          <p:nvPr/>
        </p:nvSpPr>
        <p:spPr>
          <a:xfrm>
            <a:off x="7223760" y="25146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6522"/>
                </a:solidFill>
              </a:rPr>
              <a:t>1</a:t>
            </a:r>
            <a:endParaRPr lang="en-US" sz="3200" dirty="0"/>
          </a:p>
        </p:txBody>
      </p:sp>
      <p:sp>
        <p:nvSpPr>
          <p:cNvPr id="25" name="Told item"/>
          <p:cNvSpPr txBox="1"/>
          <p:nvPr/>
        </p:nvSpPr>
        <p:spPr>
          <a:xfrm>
            <a:off x="7772400" y="2587752"/>
            <a:ext cx="3504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1826"/>
                </a:solidFill>
              </a:rPr>
              <a:t>Acknowledge, show empathy, and say you will take care of it</a:t>
            </a:r>
            <a:endParaRPr lang="en-US" sz="1600" dirty="0"/>
          </a:p>
        </p:txBody>
      </p:sp>
      <p:sp>
        <p:nvSpPr>
          <p:cNvPr id="26" name="Told number"/>
          <p:cNvSpPr txBox="1"/>
          <p:nvPr/>
        </p:nvSpPr>
        <p:spPr>
          <a:xfrm>
            <a:off x="7223760" y="35661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6522"/>
                </a:solidFill>
              </a:rPr>
              <a:t>2</a:t>
            </a:r>
            <a:endParaRPr lang="en-US" sz="3200" dirty="0"/>
          </a:p>
        </p:txBody>
      </p:sp>
      <p:sp>
        <p:nvSpPr>
          <p:cNvPr id="27" name="Told item"/>
          <p:cNvSpPr txBox="1"/>
          <p:nvPr/>
        </p:nvSpPr>
        <p:spPr>
          <a:xfrm>
            <a:off x="7772400" y="3639312"/>
            <a:ext cx="3504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1826"/>
                </a:solidFill>
              </a:rPr>
              <a:t>Keep a warm, confident tone and build rapport</a:t>
            </a:r>
            <a:endParaRPr lang="en-US" sz="1600" dirty="0"/>
          </a:p>
        </p:txBody>
      </p:sp>
      <p:sp>
        <p:nvSpPr>
          <p:cNvPr id="28" name="Told number"/>
          <p:cNvSpPr txBox="1"/>
          <p:nvPr/>
        </p:nvSpPr>
        <p:spPr>
          <a:xfrm>
            <a:off x="7223760" y="46177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6522"/>
                </a:solidFill>
              </a:rPr>
              <a:t>3</a:t>
            </a:r>
            <a:endParaRPr lang="en-US" sz="3200" dirty="0"/>
          </a:p>
        </p:txBody>
      </p:sp>
      <p:sp>
        <p:nvSpPr>
          <p:cNvPr id="29" name="Told item"/>
          <p:cNvSpPr txBox="1"/>
          <p:nvPr/>
        </p:nvSpPr>
        <p:spPr>
          <a:xfrm>
            <a:off x="7772400" y="4690872"/>
            <a:ext cx="3504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1826"/>
                </a:solidFill>
              </a:rPr>
              <a:t>Never go silent: say what you are doing, or use hold</a:t>
            </a:r>
            <a:endParaRPr lang="en-US" sz="16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grpId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grpId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grpId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grpId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grpId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grpId="0" fill="hold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grpId="0" fill="hold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grpId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grpId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grpId="0" fill="hold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grpId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grpId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grpId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grpId="0" fill="hold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grpId="0" fill="hold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grpId="0" fill="hold" nodeType="withEffect">
                                  <p:stCondLst>
                                    <p:cond delay="24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grpId="0" fill="hold" nodeType="withEffect">
                                  <p:stCondLst>
                                    <p:cond delay="25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grpId="0" fill="hold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grpId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" presetClass="emph" presetSubtype="0" grpId="1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animScale>
                                      <p:cBhvr>
                                        <p:cTn id="92" dur="3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96" presetID="10" presetClass="entr" presetSubtype="0" grpId="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2" presetClass="entr" presetSubtype="0" grpId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7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grpId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7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grpId="0" fill="hold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7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grpId="0" fill="hold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7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grpId="0" fill="hold" nodeType="withEffect">
                                  <p:stCondLst>
                                    <p:cond delay="397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7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grpId="0" fill="hold" nodeType="withEffect">
                                  <p:stCondLst>
                                    <p:cond delay="397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7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grpId="0" fill="hold" nodeType="withEffect">
                                  <p:stCondLst>
                                    <p:cond delay="419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7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7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grpId="0" fill="hold" nodeType="withEffect">
                                  <p:stCondLst>
                                    <p:cond delay="419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7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7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20" grpId="1" animBg="1"/>
    </p:bldLst>
  </p:timing>
</p:sld>
</file>

<file path=ppt/theme/theme1.xml><?xml version="1.0" encoding="utf-8"?>
<a:theme xmlns:a="http://schemas.openxmlformats.org/drawingml/2006/main" name="VXI Team Standing">
  <a:themeElements>
    <a:clrScheme name="VXI Team Standing">
      <a:dk1>
        <a:srgbClr val="121826"/>
      </a:dk1>
      <a:lt1>
        <a:srgbClr val="FFFFFF"/>
      </a:lt1>
      <a:dk2>
        <a:srgbClr val="3D4453"/>
      </a:dk2>
      <a:lt2>
        <a:srgbClr val="F6F3EE"/>
      </a:lt2>
      <a:accent1>
        <a:srgbClr val="F26522"/>
      </a:accent1>
      <a:accent2>
        <a:srgbClr val="C94A10"/>
      </a:accent2>
      <a:accent3>
        <a:srgbClr val="1E7F5C"/>
      </a:accent3>
      <a:accent4>
        <a:srgbClr val="B42318"/>
      </a:accent4>
      <a:accent5>
        <a:srgbClr val="FDE9DF"/>
      </a:accent5>
      <a:accent6>
        <a:srgbClr val="8C96AC"/>
      </a:accent6>
      <a:hlink>
        <a:srgbClr val="C94A10"/>
      </a:hlink>
      <a:folHlink>
        <a:srgbClr val="C94A10"/>
      </a:folHlink>
    </a:clrScheme>
    <a:fontScheme name="VXI Team Standing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 to Basics: How I Coach, Omar Mansour</dc:title>
  <dc:subject>PptxGenJS Presentation</dc:subject>
  <dc:creator>Omar Mansour</dc:creator>
  <cp:lastModifiedBy>Omar Mansour</cp:lastModifiedBy>
  <cp:revision>1</cp:revision>
  <dcterms:created xsi:type="dcterms:W3CDTF">2026-10-19T16:03:52Z</dcterms:created>
  <dcterms:modified xsi:type="dcterms:W3CDTF">2026-10-19T16:03:52Z</dcterms:modified>
</cp:coreProperties>
</file>