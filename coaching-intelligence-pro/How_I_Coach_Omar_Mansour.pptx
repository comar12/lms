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fe7b66eb-e7c3-2d59-0335-d0d261258b5d}">
          <p14:sldIdLst>
            <p14:sldId id="256"/>
          </p14:sldIdLst>
        </p14:section>
        <p14:section name="The five focus areas" id="{763735c5-6143-a723-8184-dd4efdaf823e}">
          <p14:sldIdLst>
            <p14:sldId id="257"/>
          </p14:sldIdLst>
        </p14:section>
        <p14:section name="How I prepare" id="{b2ce6401-82c5-2b24-eaeb-75d9e88575d6}">
          <p14:sldIdLst>
            <p14:sldId id="258"/>
          </p14:sldIdLst>
        </p14:section>
        <p14:section name="How I deliver it" id="{bc2a6b86-8af5-42a9-a45f-e0739e1e8b81}">
          <p14:sldIdLst>
            <p14:sldId id="259"/>
          </p14:sldIdLst>
        </p14:section>
        <p14:section name="Example" id="{138fec84-f6cf-8445-bd42-832aedebd403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I prepare and deliver my coaching. My team is 13 new hires, between 0 and 30 days. I will go through the five focus areas I follow, how I prepare before every session, how I run the session and the techniques I use, and then one real example, Mohammed Ammar, to show what it looks like with an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 do follows the five focus areas from the calibration email. I prepare with the data before every session. I look for the root cause, not only the symptom. I use open questions and let the agent name the gap, then I model it and we role play. Every plan has one or two behaviors, a KPI target and a follow-up date. And I keep it consistent every week with follow-up calls, a huddle and the calibration pack. The goal of every session is simple: the agent leaves knowing one or two things to do differently on the next call. The next two slides show how I prepare and how I deliver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I prepare before every session. First I pull the numbers from Tableau, Power BI and i3: tNPS, aiCR, ITG, XM lines and GSR. Then I pick the one KPI gap that moves the agent the most. I listen to 2 to 4 of their calls and mark the exact moment the behavior breaks. Then I find the root cause: is it knowledge, skill, or will, because the fix is different for each one. Last, I write the plan in my Coaching Intelligence toolkit: one or two behaviors, a KPI target and a follow-up date. So when I sit down with the agent, I already know the gap, I have the calls that show it, and I know what we will work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I run the session, in 15 to 30 minutes. I open with a positive start and say what we are working on today, one or two behaviors only. Then I ask first. My main question is: what was going through your mind at that moment? The agent names the gap in their own words before I say it, so they own it. Then I model it. We play the call and I show the exact line that works. We role play until it sounds natural. And we close with commitments: what the agent will do, what I will do, and the follow-up date. On the right are the techniques I use: open questions, self-assessment, I do, we do, you do, role play, side by side listening on live calls, model calls from top performers, and a self-check log for the first three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one real example, Mohammed Ammar. When I listened to his calls I found gaps in assurance, empathy, acknowledgement, rapport, tone of voice, and unexplained mute and silence. These are the things I told him to do. Acknowledge, show empathy, then say you will take care of it and name your first step. Build rapport and keep a warm, confident tone. Never go silent: say what you are doing, or use hold instead of mute. Share a short plan for the call and finish one topic before the next. And for three days, after each call, one line in a self-check log: did I do it, yes or no. The week before, he had 1 promoter and 5 detractors. Last week he had 4 promoters and 2 detractors, 33.3, right at the target. He went from getting only detractors to getting promoters. Next, I keep listening to 2 of his calls a week,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prepare and deliver coaching · TSX Cairo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522"/>
                </a:solidFill>
              </a:rPr>
              <a:t>VXI · TSX CAIRO · COMCAST REPAIR</a:t>
            </a:r>
            <a:endParaRPr lang="en-US" sz="1200" dirty="0"/>
          </a:p>
        </p:txBody>
      </p:sp>
      <p:sp>
        <p:nvSpPr>
          <p:cNvPr id="3" name="Deck title"/>
          <p:cNvSpPr txBox="1"/>
          <p:nvPr/>
        </p:nvSpPr>
        <p:spPr>
          <a:xfrm>
            <a:off x="548640" y="17373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</a:rPr>
              <a:t>How I prepare and deliver coaching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9DDE6"/>
                </a:solidFill>
              </a:rPr>
              <a:t>My preparation, how I run the session, the techniques I use, and one real example.</a:t>
            </a:r>
            <a:endParaRPr lang="en-US" sz="1900" dirty="0"/>
          </a:p>
        </p:txBody>
      </p:sp>
      <p:sp>
        <p:nvSpPr>
          <p:cNvPr id="5" name="Agenda card"/>
          <p:cNvSpPr/>
          <p:nvPr/>
        </p:nvSpPr>
        <p:spPr>
          <a:xfrm>
            <a:off x="7818120" y="1371600"/>
            <a:ext cx="3824935" cy="3291840"/>
          </a:xfrm>
          <a:prstGeom prst="roundRect">
            <a:avLst>
              <a:gd name="adj" fmla="val 5556"/>
            </a:avLst>
          </a:prstGeom>
          <a:solidFill>
            <a:srgbClr val="1C2437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119872" y="1645920"/>
            <a:ext cx="493776" cy="493776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8378" y="1764426"/>
            <a:ext cx="256764" cy="256764"/>
          </a:xfrm>
          <a:prstGeom prst="rect">
            <a:avLst/>
          </a:prstGeom>
        </p:spPr>
      </p:pic>
      <p:sp>
        <p:nvSpPr>
          <p:cNvPr id="8" name="Agenda item"/>
          <p:cNvSpPr txBox="1"/>
          <p:nvPr/>
        </p:nvSpPr>
        <p:spPr>
          <a:xfrm>
            <a:off x="8778240" y="1691640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</a:rPr>
              <a:t>2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five focus areas</a:t>
            </a:r>
            <a:endParaRPr lang="en-US" sz="1700" dirty="0"/>
          </a:p>
        </p:txBody>
      </p:sp>
      <p:sp>
        <p:nvSpPr>
          <p:cNvPr id="9" name="Icon circle"/>
          <p:cNvSpPr/>
          <p:nvPr/>
        </p:nvSpPr>
        <p:spPr>
          <a:xfrm>
            <a:off x="8119872" y="2350008"/>
            <a:ext cx="493776" cy="493776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378" y="2468514"/>
            <a:ext cx="256764" cy="256764"/>
          </a:xfrm>
          <a:prstGeom prst="rect">
            <a:avLst/>
          </a:prstGeom>
        </p:spPr>
      </p:pic>
      <p:sp>
        <p:nvSpPr>
          <p:cNvPr id="11" name="Agenda item"/>
          <p:cNvSpPr txBox="1"/>
          <p:nvPr/>
        </p:nvSpPr>
        <p:spPr>
          <a:xfrm>
            <a:off x="8778240" y="2395728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</a:rPr>
              <a:t>3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I prepare</a:t>
            </a:r>
            <a:endParaRPr lang="en-US" sz="1700" dirty="0"/>
          </a:p>
        </p:txBody>
      </p:sp>
      <p:sp>
        <p:nvSpPr>
          <p:cNvPr id="12" name="Icon circle"/>
          <p:cNvSpPr/>
          <p:nvPr/>
        </p:nvSpPr>
        <p:spPr>
          <a:xfrm>
            <a:off x="8119872" y="3054096"/>
            <a:ext cx="493776" cy="493776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378" y="3172602"/>
            <a:ext cx="256764" cy="256764"/>
          </a:xfrm>
          <a:prstGeom prst="rect">
            <a:avLst/>
          </a:prstGeom>
        </p:spPr>
      </p:pic>
      <p:sp>
        <p:nvSpPr>
          <p:cNvPr id="14" name="Agenda item"/>
          <p:cNvSpPr txBox="1"/>
          <p:nvPr/>
        </p:nvSpPr>
        <p:spPr>
          <a:xfrm>
            <a:off x="8778240" y="3099816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</a:rPr>
              <a:t>4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I deliver it</a:t>
            </a:r>
            <a:endParaRPr lang="en-US" sz="1700" dirty="0"/>
          </a:p>
        </p:txBody>
      </p:sp>
      <p:sp>
        <p:nvSpPr>
          <p:cNvPr id="15" name="Icon circle"/>
          <p:cNvSpPr/>
          <p:nvPr/>
        </p:nvSpPr>
        <p:spPr>
          <a:xfrm>
            <a:off x="8119872" y="3758184"/>
            <a:ext cx="493776" cy="493776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378" y="3876690"/>
            <a:ext cx="256764" cy="256764"/>
          </a:xfrm>
          <a:prstGeom prst="rect">
            <a:avLst/>
          </a:prstGeom>
        </p:spPr>
      </p:pic>
      <p:sp>
        <p:nvSpPr>
          <p:cNvPr id="17" name="Agenda item"/>
          <p:cNvSpPr txBox="1"/>
          <p:nvPr/>
        </p:nvSpPr>
        <p:spPr>
          <a:xfrm>
            <a:off x="8778240" y="3803904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</a:rPr>
              <a:t>5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 real example: Ammar</a:t>
            </a:r>
            <a:endParaRPr lang="en-US" sz="1700" dirty="0"/>
          </a:p>
        </p:txBody>
      </p:sp>
      <p:sp>
        <p:nvSpPr>
          <p:cNvPr id="18" name="Label"/>
          <p:cNvSpPr txBox="1"/>
          <p:nvPr/>
        </p:nvSpPr>
        <p:spPr>
          <a:xfrm>
            <a:off x="54864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PRESENTED BY</a:t>
            </a:r>
            <a:endParaRPr lang="en-US" sz="1050" dirty="0"/>
          </a:p>
        </p:txBody>
      </p:sp>
      <p:sp>
        <p:nvSpPr>
          <p:cNvPr id="19" name="Cover detail"/>
          <p:cNvSpPr txBox="1"/>
          <p:nvPr/>
        </p:nvSpPr>
        <p:spPr>
          <a:xfrm>
            <a:off x="54864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Omar Mansour, Supervisor</a:t>
            </a:r>
            <a:endParaRPr lang="en-US" sz="1700" dirty="0"/>
          </a:p>
        </p:txBody>
      </p:sp>
      <p:sp>
        <p:nvSpPr>
          <p:cNvPr id="20" name="Label"/>
          <p:cNvSpPr txBox="1"/>
          <p:nvPr/>
        </p:nvSpPr>
        <p:spPr>
          <a:xfrm>
            <a:off x="425196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TEAM</a:t>
            </a:r>
            <a:endParaRPr lang="en-US" sz="1050" dirty="0"/>
          </a:p>
        </p:txBody>
      </p:sp>
      <p:sp>
        <p:nvSpPr>
          <p:cNvPr id="21" name="Cover detail"/>
          <p:cNvSpPr txBox="1"/>
          <p:nvPr/>
        </p:nvSpPr>
        <p:spPr>
          <a:xfrm>
            <a:off x="425196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13 agents, 0 to 30 days</a:t>
            </a:r>
            <a:endParaRPr lang="en-US" sz="1700" dirty="0"/>
          </a:p>
        </p:txBody>
      </p:sp>
      <p:sp>
        <p:nvSpPr>
          <p:cNvPr id="22" name="Label"/>
          <p:cNvSpPr txBox="1"/>
          <p:nvPr/>
        </p:nvSpPr>
        <p:spPr>
          <a:xfrm>
            <a:off x="795528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SESSION</a:t>
            </a:r>
            <a:endParaRPr lang="en-US" sz="1050" dirty="0"/>
          </a:p>
        </p:txBody>
      </p:sp>
      <p:sp>
        <p:nvSpPr>
          <p:cNvPr id="23" name="Cover detail"/>
          <p:cNvSpPr txBox="1"/>
          <p:nvPr/>
        </p:nvSpPr>
        <p:spPr>
          <a:xfrm>
            <a:off x="795528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Week of October 19, 2026</a:t>
            </a:r>
            <a:endParaRPr lang="en-US" sz="17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grpId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grpId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grpId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grpId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grpId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grpId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grpId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grpId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grpId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grpId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grpId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grpId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grpId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grpId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grpId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grpId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grpId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grpId="0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grpId="0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MAPPED TO THE FIVE COACHING CALIBRATION FOCUS AREAS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coaching, one or two behaviors at a time</a:t>
            </a:r>
            <a:endParaRPr lang="en-US" sz="3200" dirty="0"/>
          </a:p>
        </p:txBody>
      </p:sp>
      <p:sp>
        <p:nvSpPr>
          <p:cNvPr id="4" name="Focus area 1 card"/>
          <p:cNvSpPr/>
          <p:nvPr/>
        </p:nvSpPr>
        <p:spPr>
          <a:xfrm>
            <a:off x="548640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2006194"/>
            <a:ext cx="285293" cy="285293"/>
          </a:xfrm>
          <a:prstGeom prst="rect">
            <a:avLst/>
          </a:prstGeom>
        </p:spPr>
      </p:pic>
      <p:sp>
        <p:nvSpPr>
          <p:cNvPr id="7" name="Step number"/>
          <p:cNvSpPr txBox="1"/>
          <p:nvPr/>
        </p:nvSpPr>
        <p:spPr>
          <a:xfrm>
            <a:off x="1990283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26522"/>
                </a:solidFill>
              </a:rPr>
              <a:t>1</a:t>
            </a:r>
            <a:endParaRPr lang="en-US" sz="3200" dirty="0"/>
          </a:p>
        </p:txBody>
      </p:sp>
      <p:sp>
        <p:nvSpPr>
          <p:cNvPr id="8" name="Focus area title"/>
          <p:cNvSpPr txBox="1"/>
          <p:nvPr/>
        </p:nvSpPr>
        <p:spPr>
          <a:xfrm>
            <a:off x="731520" y="2606040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Preparation and data</a:t>
            </a:r>
            <a:endParaRPr lang="en-US" sz="1500" dirty="0"/>
          </a:p>
        </p:txBody>
      </p:sp>
      <p:sp>
        <p:nvSpPr>
          <p:cNvPr id="9" name="Focus area list"/>
          <p:cNvSpPr txBox="1"/>
          <p:nvPr/>
        </p:nvSpPr>
        <p:spPr>
          <a:xfrm>
            <a:off x="731520" y="3264408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Tableau, Power BI and i3 before every session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Pick the one KPI gap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Listen to 2 to 4 calls per agent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Self-check with my Coaching Intelligence toolkit</a:t>
            </a:r>
            <a:endParaRPr lang="en-US" sz="1250" dirty="0"/>
          </a:p>
        </p:txBody>
      </p:sp>
      <p:sp>
        <p:nvSpPr>
          <p:cNvPr id="10" name="Focus area 2 card"/>
          <p:cNvSpPr/>
          <p:nvPr/>
        </p:nvSpPr>
        <p:spPr>
          <a:xfrm>
            <a:off x="2813243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2996123" y="1874520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97" y="2006194"/>
            <a:ext cx="285293" cy="285293"/>
          </a:xfrm>
          <a:prstGeom prst="rect">
            <a:avLst/>
          </a:prstGeom>
        </p:spPr>
      </p:pic>
      <p:sp>
        <p:nvSpPr>
          <p:cNvPr id="13" name="Step number"/>
          <p:cNvSpPr txBox="1"/>
          <p:nvPr/>
        </p:nvSpPr>
        <p:spPr>
          <a:xfrm>
            <a:off x="4254886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26522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Focus area title"/>
          <p:cNvSpPr txBox="1"/>
          <p:nvPr/>
        </p:nvSpPr>
        <p:spPr>
          <a:xfrm>
            <a:off x="2996123" y="2606040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Root cause, not symptoms</a:t>
            </a:r>
            <a:endParaRPr lang="en-US" sz="1500" dirty="0"/>
          </a:p>
        </p:txBody>
      </p:sp>
      <p:sp>
        <p:nvSpPr>
          <p:cNvPr id="15" name="Focus area list"/>
          <p:cNvSpPr txBox="1"/>
          <p:nvPr/>
        </p:nvSpPr>
        <p:spPr>
          <a:xfrm>
            <a:off x="2996123" y="3264408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“What was going through your mind at that moment?”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Knowledge, skill, or will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Coach the cause, not the score</a:t>
            </a:r>
            <a:endParaRPr lang="en-US" sz="1250" dirty="0"/>
          </a:p>
        </p:txBody>
      </p:sp>
      <p:sp>
        <p:nvSpPr>
          <p:cNvPr id="16" name="Focus area 3 card"/>
          <p:cNvSpPr/>
          <p:nvPr/>
        </p:nvSpPr>
        <p:spPr>
          <a:xfrm>
            <a:off x="5077846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5260726" y="1874520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400" y="2006194"/>
            <a:ext cx="285293" cy="285293"/>
          </a:xfrm>
          <a:prstGeom prst="rect">
            <a:avLst/>
          </a:prstGeom>
        </p:spPr>
      </p:pic>
      <p:sp>
        <p:nvSpPr>
          <p:cNvPr id="19" name="Step number"/>
          <p:cNvSpPr txBox="1"/>
          <p:nvPr/>
        </p:nvSpPr>
        <p:spPr>
          <a:xfrm>
            <a:off x="6519489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26522"/>
                </a:solidFill>
              </a:rPr>
              <a:t>3</a:t>
            </a:r>
            <a:endParaRPr lang="en-US" sz="3200" dirty="0"/>
          </a:p>
        </p:txBody>
      </p:sp>
      <p:sp>
        <p:nvSpPr>
          <p:cNvPr id="20" name="Focus area title"/>
          <p:cNvSpPr txBox="1"/>
          <p:nvPr/>
        </p:nvSpPr>
        <p:spPr>
          <a:xfrm>
            <a:off x="5260726" y="2606040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Techniques and questions</a:t>
            </a:r>
            <a:endParaRPr lang="en-US" sz="1500" dirty="0"/>
          </a:p>
        </p:txBody>
      </p:sp>
      <p:sp>
        <p:nvSpPr>
          <p:cNvPr id="21" name="Focus area list"/>
          <p:cNvSpPr txBox="1"/>
          <p:nvPr/>
        </p:nvSpPr>
        <p:spPr>
          <a:xfrm>
            <a:off x="5260726" y="3264408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Open questions first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The agent states the gap in their own words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I model the behavior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Role play it</a:t>
            </a:r>
            <a:endParaRPr lang="en-US" sz="1250" dirty="0"/>
          </a:p>
        </p:txBody>
      </p:sp>
      <p:sp>
        <p:nvSpPr>
          <p:cNvPr id="22" name="Focus area 4 card"/>
          <p:cNvSpPr/>
          <p:nvPr/>
        </p:nvSpPr>
        <p:spPr>
          <a:xfrm>
            <a:off x="7342449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23" name="Icon circle"/>
          <p:cNvSpPr/>
          <p:nvPr/>
        </p:nvSpPr>
        <p:spPr>
          <a:xfrm>
            <a:off x="7525329" y="1874520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003" y="2006194"/>
            <a:ext cx="285293" cy="285293"/>
          </a:xfrm>
          <a:prstGeom prst="rect">
            <a:avLst/>
          </a:prstGeom>
        </p:spPr>
      </p:pic>
      <p:sp>
        <p:nvSpPr>
          <p:cNvPr id="25" name="Step number"/>
          <p:cNvSpPr txBox="1"/>
          <p:nvPr/>
        </p:nvSpPr>
        <p:spPr>
          <a:xfrm>
            <a:off x="8784092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26522"/>
                </a:solidFill>
              </a:rPr>
              <a:t>4</a:t>
            </a:r>
            <a:endParaRPr lang="en-US" sz="3200" dirty="0"/>
          </a:p>
        </p:txBody>
      </p:sp>
      <p:sp>
        <p:nvSpPr>
          <p:cNvPr id="26" name="Focus area title"/>
          <p:cNvSpPr txBox="1"/>
          <p:nvPr/>
        </p:nvSpPr>
        <p:spPr>
          <a:xfrm>
            <a:off x="7525329" y="2606040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Clear, measurable plan</a:t>
            </a:r>
            <a:endParaRPr lang="en-US" sz="1500" dirty="0"/>
          </a:p>
        </p:txBody>
      </p:sp>
      <p:sp>
        <p:nvSpPr>
          <p:cNvPr id="27" name="Focus area list"/>
          <p:cNvSpPr txBox="1"/>
          <p:nvPr/>
        </p:nvSpPr>
        <p:spPr>
          <a:xfrm>
            <a:off x="7525329" y="3264408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One or two behaviors per session, never more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A KPI target with the surveys behind it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A follow-up date on every plan</a:t>
            </a:r>
            <a:endParaRPr lang="en-US" sz="1250" dirty="0"/>
          </a:p>
        </p:txBody>
      </p:sp>
      <p:sp>
        <p:nvSpPr>
          <p:cNvPr id="28" name="Focus area 5 card"/>
          <p:cNvSpPr/>
          <p:nvPr/>
        </p:nvSpPr>
        <p:spPr>
          <a:xfrm>
            <a:off x="9607052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9789932" y="1874520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606" y="2006194"/>
            <a:ext cx="285293" cy="285293"/>
          </a:xfrm>
          <a:prstGeom prst="rect">
            <a:avLst/>
          </a:prstGeom>
        </p:spPr>
      </p:pic>
      <p:sp>
        <p:nvSpPr>
          <p:cNvPr id="31" name="Step number"/>
          <p:cNvSpPr txBox="1"/>
          <p:nvPr/>
        </p:nvSpPr>
        <p:spPr>
          <a:xfrm>
            <a:off x="11048695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26522"/>
                </a:solidFill>
              </a:rPr>
              <a:t>5</a:t>
            </a:r>
            <a:endParaRPr lang="en-US" sz="3200" dirty="0"/>
          </a:p>
        </p:txBody>
      </p:sp>
      <p:sp>
        <p:nvSpPr>
          <p:cNvPr id="32" name="Focus area title"/>
          <p:cNvSpPr txBox="1"/>
          <p:nvPr/>
        </p:nvSpPr>
        <p:spPr>
          <a:xfrm>
            <a:off x="9789932" y="2606040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Best practice and consistency</a:t>
            </a:r>
            <a:endParaRPr lang="en-US" sz="1500" dirty="0"/>
          </a:p>
        </p:txBody>
      </p:sp>
      <p:sp>
        <p:nvSpPr>
          <p:cNvPr id="33" name="Focus area list"/>
          <p:cNvSpPr txBox="1"/>
          <p:nvPr/>
        </p:nvSpPr>
        <p:spPr>
          <a:xfrm>
            <a:off x="9789932" y="3264408"/>
            <a:ext cx="171596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Weekly session, 15 to 30 minutes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Follow-up by listening to calls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Weekly huddle on the most-missed behavior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Calibration pack every week</a:t>
            </a:r>
            <a:endParaRPr lang="en-US" sz="1250" dirty="0"/>
          </a:p>
        </p:txBody>
      </p:sp>
      <p:sp>
        <p:nvSpPr>
          <p:cNvPr id="34" name="Goal band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7647"/>
            </a:avLst>
          </a:prstGeom>
          <a:solidFill>
            <a:srgbClr val="121826"/>
          </a:solidFill>
          <a:ln/>
        </p:spPr>
      </p:sp>
      <p:sp>
        <p:nvSpPr>
          <p:cNvPr id="35" name="Icon circle"/>
          <p:cNvSpPr/>
          <p:nvPr/>
        </p:nvSpPr>
        <p:spPr>
          <a:xfrm>
            <a:off x="795528" y="5527548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3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78" y="5628498"/>
            <a:ext cx="218724" cy="218724"/>
          </a:xfrm>
          <a:prstGeom prst="rect">
            <a:avLst/>
          </a:prstGeom>
        </p:spPr>
      </p:pic>
      <p:sp>
        <p:nvSpPr>
          <p:cNvPr id="37" name="Goal band text"/>
          <p:cNvSpPr txBox="1"/>
          <p:nvPr/>
        </p:nvSpPr>
        <p:spPr>
          <a:xfrm>
            <a:off x="1417320" y="534924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E6"/>
                </a:solidFill>
              </a:rPr>
              <a:t>The goal of every session: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agent leaves knowing one or two things to do differently on the next call.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grpId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grpId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grpId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grpId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grpId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grpId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grpId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grpId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grpId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grpId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grpId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grpId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grpId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grpId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grpId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grpId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grpId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grpId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grpId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grpId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grpId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grpId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grpId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grpId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53" presetClass="entr" presetSubtype="16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grpId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grpId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BEFORE EVERY SESSION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prepare: five steps before I sit down</a:t>
            </a:r>
            <a:endParaRPr lang="en-US" sz="3200" dirty="0"/>
          </a:p>
        </p:txBody>
      </p:sp>
      <p:sp>
        <p:nvSpPr>
          <p:cNvPr id="4" name="Flow line"/>
          <p:cNvSpPr/>
          <p:nvPr/>
        </p:nvSpPr>
        <p:spPr>
          <a:xfrm>
            <a:off x="1658082" y="2240280"/>
            <a:ext cx="8875532" cy="0"/>
          </a:xfrm>
          <a:prstGeom prst="line">
            <a:avLst/>
          </a:prstGeom>
          <a:noFill/>
          <a:ln w="31750">
            <a:solidFill>
              <a:srgbClr val="F6C3A8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223742" y="1805940"/>
            <a:ext cx="868680" cy="868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225" y="2014423"/>
            <a:ext cx="451714" cy="451714"/>
          </a:xfrm>
          <a:prstGeom prst="rect">
            <a:avLst/>
          </a:prstGeom>
        </p:spPr>
      </p:pic>
      <p:sp>
        <p:nvSpPr>
          <p:cNvPr id="7" name="Step label"/>
          <p:cNvSpPr txBox="1"/>
          <p:nvPr/>
        </p:nvSpPr>
        <p:spPr>
          <a:xfrm>
            <a:off x="685800" y="2880360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STEP 1</a:t>
            </a:r>
            <a:endParaRPr lang="en-US" sz="1050" dirty="0"/>
          </a:p>
        </p:txBody>
      </p:sp>
      <p:sp>
        <p:nvSpPr>
          <p:cNvPr id="8" name="Step title"/>
          <p:cNvSpPr txBox="1"/>
          <p:nvPr/>
        </p:nvSpPr>
        <p:spPr>
          <a:xfrm>
            <a:off x="685800" y="3154680"/>
            <a:ext cx="19445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Pull the numbers</a:t>
            </a:r>
            <a:endParaRPr lang="en-US" sz="1600" dirty="0"/>
          </a:p>
        </p:txBody>
      </p:sp>
      <p:sp>
        <p:nvSpPr>
          <p:cNvPr id="9" name="Step detail"/>
          <p:cNvSpPr txBox="1"/>
          <p:nvPr/>
        </p:nvSpPr>
        <p:spPr>
          <a:xfrm>
            <a:off x="685800" y="3749040"/>
            <a:ext cx="19445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Tableau, Power BI and i3: tNPS, aiCR, ITG, XM lines and GSR</a:t>
            </a:r>
            <a:endParaRPr lang="en-US" sz="1250" dirty="0"/>
          </a:p>
        </p:txBody>
      </p:sp>
      <p:sp>
        <p:nvSpPr>
          <p:cNvPr id="10" name="Icon circle"/>
          <p:cNvSpPr/>
          <p:nvPr/>
        </p:nvSpPr>
        <p:spPr>
          <a:xfrm>
            <a:off x="3442625" y="1805940"/>
            <a:ext cx="868680" cy="868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08" y="2014423"/>
            <a:ext cx="451714" cy="451714"/>
          </a:xfrm>
          <a:prstGeom prst="rect">
            <a:avLst/>
          </a:prstGeom>
        </p:spPr>
      </p:pic>
      <p:sp>
        <p:nvSpPr>
          <p:cNvPr id="12" name="Step label"/>
          <p:cNvSpPr txBox="1"/>
          <p:nvPr/>
        </p:nvSpPr>
        <p:spPr>
          <a:xfrm>
            <a:off x="2904683" y="2880360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STEP 2</a:t>
            </a:r>
            <a:endParaRPr lang="en-US" sz="1050" dirty="0"/>
          </a:p>
        </p:txBody>
      </p:sp>
      <p:sp>
        <p:nvSpPr>
          <p:cNvPr id="13" name="Step title"/>
          <p:cNvSpPr txBox="1"/>
          <p:nvPr/>
        </p:nvSpPr>
        <p:spPr>
          <a:xfrm>
            <a:off x="2904683" y="3154680"/>
            <a:ext cx="19445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Pick one KPI gap</a:t>
            </a:r>
            <a:endParaRPr lang="en-US" sz="1600" dirty="0"/>
          </a:p>
        </p:txBody>
      </p:sp>
      <p:sp>
        <p:nvSpPr>
          <p:cNvPr id="14" name="Step detail"/>
          <p:cNvSpPr txBox="1"/>
          <p:nvPr/>
        </p:nvSpPr>
        <p:spPr>
          <a:xfrm>
            <a:off x="2904683" y="3749040"/>
            <a:ext cx="19445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The one gap that moves the agent’s results the most</a:t>
            </a:r>
            <a:endParaRPr lang="en-US" sz="1250" dirty="0"/>
          </a:p>
        </p:txBody>
      </p:sp>
      <p:sp>
        <p:nvSpPr>
          <p:cNvPr id="15" name="Icon circle"/>
          <p:cNvSpPr/>
          <p:nvPr/>
        </p:nvSpPr>
        <p:spPr>
          <a:xfrm>
            <a:off x="5661508" y="1805940"/>
            <a:ext cx="868680" cy="868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991" y="2014423"/>
            <a:ext cx="451714" cy="451714"/>
          </a:xfrm>
          <a:prstGeom prst="rect">
            <a:avLst/>
          </a:prstGeom>
        </p:spPr>
      </p:pic>
      <p:sp>
        <p:nvSpPr>
          <p:cNvPr id="17" name="Step label"/>
          <p:cNvSpPr txBox="1"/>
          <p:nvPr/>
        </p:nvSpPr>
        <p:spPr>
          <a:xfrm>
            <a:off x="5123566" y="2880360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STEP 3</a:t>
            </a:r>
            <a:endParaRPr lang="en-US" sz="1050" dirty="0"/>
          </a:p>
        </p:txBody>
      </p:sp>
      <p:sp>
        <p:nvSpPr>
          <p:cNvPr id="18" name="Step title"/>
          <p:cNvSpPr txBox="1"/>
          <p:nvPr/>
        </p:nvSpPr>
        <p:spPr>
          <a:xfrm>
            <a:off x="5123566" y="3154680"/>
            <a:ext cx="19445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Listen to 2 to 4 calls</a:t>
            </a:r>
            <a:endParaRPr lang="en-US" sz="1600" dirty="0"/>
          </a:p>
        </p:txBody>
      </p:sp>
      <p:sp>
        <p:nvSpPr>
          <p:cNvPr id="19" name="Step detail"/>
          <p:cNvSpPr txBox="1"/>
          <p:nvPr/>
        </p:nvSpPr>
        <p:spPr>
          <a:xfrm>
            <a:off x="5123566" y="3749040"/>
            <a:ext cx="19445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I mark the exact moment the behavior breaks</a:t>
            </a:r>
            <a:endParaRPr lang="en-US" sz="1250" dirty="0"/>
          </a:p>
        </p:txBody>
      </p:sp>
      <p:sp>
        <p:nvSpPr>
          <p:cNvPr id="20" name="Icon circle"/>
          <p:cNvSpPr/>
          <p:nvPr/>
        </p:nvSpPr>
        <p:spPr>
          <a:xfrm>
            <a:off x="7880391" y="1805940"/>
            <a:ext cx="868680" cy="868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874" y="2014423"/>
            <a:ext cx="451714" cy="451714"/>
          </a:xfrm>
          <a:prstGeom prst="rect">
            <a:avLst/>
          </a:prstGeom>
        </p:spPr>
      </p:pic>
      <p:sp>
        <p:nvSpPr>
          <p:cNvPr id="22" name="Step label"/>
          <p:cNvSpPr txBox="1"/>
          <p:nvPr/>
        </p:nvSpPr>
        <p:spPr>
          <a:xfrm>
            <a:off x="7342449" y="2880360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STEP 4</a:t>
            </a:r>
            <a:endParaRPr lang="en-US" sz="1050" dirty="0"/>
          </a:p>
        </p:txBody>
      </p:sp>
      <p:sp>
        <p:nvSpPr>
          <p:cNvPr id="23" name="Step title"/>
          <p:cNvSpPr txBox="1"/>
          <p:nvPr/>
        </p:nvSpPr>
        <p:spPr>
          <a:xfrm>
            <a:off x="7342449" y="3154680"/>
            <a:ext cx="19445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Find the root cause</a:t>
            </a:r>
            <a:endParaRPr lang="en-US" sz="1600" dirty="0"/>
          </a:p>
        </p:txBody>
      </p:sp>
      <p:sp>
        <p:nvSpPr>
          <p:cNvPr id="24" name="Step detail"/>
          <p:cNvSpPr txBox="1"/>
          <p:nvPr/>
        </p:nvSpPr>
        <p:spPr>
          <a:xfrm>
            <a:off x="7342449" y="3749040"/>
            <a:ext cx="19445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Knowledge, skill, or will. The fix is different for each</a:t>
            </a:r>
            <a:endParaRPr lang="en-US" sz="1250" dirty="0"/>
          </a:p>
        </p:txBody>
      </p:sp>
      <p:sp>
        <p:nvSpPr>
          <p:cNvPr id="25" name="Icon circle"/>
          <p:cNvSpPr/>
          <p:nvPr/>
        </p:nvSpPr>
        <p:spPr>
          <a:xfrm>
            <a:off x="10099274" y="1805940"/>
            <a:ext cx="868680" cy="86868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7757" y="2014423"/>
            <a:ext cx="451714" cy="451714"/>
          </a:xfrm>
          <a:prstGeom prst="rect">
            <a:avLst/>
          </a:prstGeom>
        </p:spPr>
      </p:pic>
      <p:sp>
        <p:nvSpPr>
          <p:cNvPr id="27" name="Step label"/>
          <p:cNvSpPr txBox="1"/>
          <p:nvPr/>
        </p:nvSpPr>
        <p:spPr>
          <a:xfrm>
            <a:off x="9561332" y="2880360"/>
            <a:ext cx="1944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STEP 5</a:t>
            </a:r>
            <a:endParaRPr lang="en-US" sz="1050" dirty="0"/>
          </a:p>
        </p:txBody>
      </p:sp>
      <p:sp>
        <p:nvSpPr>
          <p:cNvPr id="28" name="Step title"/>
          <p:cNvSpPr txBox="1"/>
          <p:nvPr/>
        </p:nvSpPr>
        <p:spPr>
          <a:xfrm>
            <a:off x="9561332" y="3154680"/>
            <a:ext cx="19445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Write the plan</a:t>
            </a:r>
            <a:endParaRPr lang="en-US" sz="1600" dirty="0"/>
          </a:p>
        </p:txBody>
      </p:sp>
      <p:sp>
        <p:nvSpPr>
          <p:cNvPr id="29" name="Step detail"/>
          <p:cNvSpPr txBox="1"/>
          <p:nvPr/>
        </p:nvSpPr>
        <p:spPr>
          <a:xfrm>
            <a:off x="9561332" y="3749040"/>
            <a:ext cx="19445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One or two behaviors, a KPI target and a follow-up date, in my Coaching Intelligence toolkit</a:t>
            </a:r>
            <a:endParaRPr lang="en-US" sz="1250" dirty="0"/>
          </a:p>
        </p:txBody>
      </p:sp>
      <p:sp>
        <p:nvSpPr>
          <p:cNvPr id="30" name="Prep band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13043"/>
            </a:avLst>
          </a:prstGeom>
          <a:solidFill>
            <a:srgbClr val="121826"/>
          </a:solidFill>
          <a:ln/>
        </p:spPr>
      </p:sp>
      <p:sp>
        <p:nvSpPr>
          <p:cNvPr id="31" name="Icon circle"/>
          <p:cNvSpPr/>
          <p:nvPr/>
        </p:nvSpPr>
        <p:spPr>
          <a:xfrm>
            <a:off x="822960" y="537210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481828"/>
            <a:ext cx="237744" cy="237744"/>
          </a:xfrm>
          <a:prstGeom prst="rect">
            <a:avLst/>
          </a:prstGeom>
        </p:spPr>
      </p:pic>
      <p:sp>
        <p:nvSpPr>
          <p:cNvPr id="33" name="Prep band text"/>
          <p:cNvSpPr txBox="1"/>
          <p:nvPr/>
        </p:nvSpPr>
        <p:spPr>
          <a:xfrm>
            <a:off x="1508760" y="507492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DE6"/>
                </a:solidFill>
              </a:rPr>
              <a:t>I walk in knowing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gap, the calls that show it, and the one or two behaviors we will work on.</a:t>
            </a:r>
            <a:endParaRPr lang="en-US" sz="17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grpId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grpId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grpId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grpId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grpId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grpId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grpId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grpId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grpId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grpId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7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7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grpId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grpId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entr" presetSubtype="0" grpId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grpId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grpId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53" presetClass="entr" presetSubtype="16" grpId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grpId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grpId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grpId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grpId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8" grpId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grpId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grpId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grpId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THE SESSION, 15 TO 30 MINUTES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deliver it, and the techniques I use</a:t>
            </a:r>
            <a:endParaRPr lang="en-US" sz="3200" dirty="0"/>
          </a:p>
        </p:txBody>
      </p:sp>
      <p:sp>
        <p:nvSpPr>
          <p:cNvPr id="4" name="Session step card"/>
          <p:cNvSpPr/>
          <p:nvPr/>
        </p:nvSpPr>
        <p:spPr>
          <a:xfrm>
            <a:off x="548640" y="1691640"/>
            <a:ext cx="2346960" cy="2125980"/>
          </a:xfrm>
          <a:prstGeom prst="roundRect">
            <a:avLst>
              <a:gd name="adj" fmla="val 6452"/>
            </a:avLst>
          </a:prstGeom>
          <a:solidFill>
            <a:srgbClr val="F6F3EE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31520" y="1874520"/>
            <a:ext cx="512064" cy="512064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1997415"/>
            <a:ext cx="266273" cy="266273"/>
          </a:xfrm>
          <a:prstGeom prst="rect">
            <a:avLst/>
          </a:prstGeom>
        </p:spPr>
      </p:pic>
      <p:sp>
        <p:nvSpPr>
          <p:cNvPr id="7" name="Step number"/>
          <p:cNvSpPr txBox="1"/>
          <p:nvPr/>
        </p:nvSpPr>
        <p:spPr>
          <a:xfrm>
            <a:off x="2301240" y="18562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26522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Session step title"/>
          <p:cNvSpPr txBox="1"/>
          <p:nvPr/>
        </p:nvSpPr>
        <p:spPr>
          <a:xfrm>
            <a:off x="749808" y="2532888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Open with purpose</a:t>
            </a:r>
            <a:endParaRPr lang="en-US" sz="1500" dirty="0"/>
          </a:p>
        </p:txBody>
      </p:sp>
      <p:sp>
        <p:nvSpPr>
          <p:cNvPr id="9" name="Session step detail"/>
          <p:cNvSpPr txBox="1"/>
          <p:nvPr/>
        </p:nvSpPr>
        <p:spPr>
          <a:xfrm>
            <a:off x="749808" y="2880360"/>
            <a:ext cx="1944624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A positive start, then the one or two behaviors we work on today</a:t>
            </a:r>
            <a:endParaRPr lang="en-US" sz="1250" dirty="0"/>
          </a:p>
        </p:txBody>
      </p:sp>
      <p:sp>
        <p:nvSpPr>
          <p:cNvPr id="10" name="Session step card"/>
          <p:cNvSpPr/>
          <p:nvPr/>
        </p:nvSpPr>
        <p:spPr>
          <a:xfrm>
            <a:off x="3078480" y="1691640"/>
            <a:ext cx="2346960" cy="2125980"/>
          </a:xfrm>
          <a:prstGeom prst="roundRect">
            <a:avLst>
              <a:gd name="adj" fmla="val 6452"/>
            </a:avLst>
          </a:prstGeom>
          <a:solidFill>
            <a:srgbClr val="F6F3EE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261360" y="1874520"/>
            <a:ext cx="512064" cy="512064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255" y="1997415"/>
            <a:ext cx="266273" cy="266273"/>
          </a:xfrm>
          <a:prstGeom prst="rect">
            <a:avLst/>
          </a:prstGeom>
        </p:spPr>
      </p:pic>
      <p:sp>
        <p:nvSpPr>
          <p:cNvPr id="13" name="Step number"/>
          <p:cNvSpPr txBox="1"/>
          <p:nvPr/>
        </p:nvSpPr>
        <p:spPr>
          <a:xfrm>
            <a:off x="4831080" y="18562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26522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Session step title"/>
          <p:cNvSpPr txBox="1"/>
          <p:nvPr/>
        </p:nvSpPr>
        <p:spPr>
          <a:xfrm>
            <a:off x="3279648" y="2532888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Ask first</a:t>
            </a:r>
            <a:endParaRPr lang="en-US" sz="1500" dirty="0"/>
          </a:p>
        </p:txBody>
      </p:sp>
      <p:sp>
        <p:nvSpPr>
          <p:cNvPr id="15" name="Session step detail"/>
          <p:cNvSpPr txBox="1"/>
          <p:nvPr/>
        </p:nvSpPr>
        <p:spPr>
          <a:xfrm>
            <a:off x="3279648" y="2880360"/>
            <a:ext cx="1944624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D4453"/>
                </a:solidFill>
              </a:rPr>
              <a:t>“What was going through your mind at that moment?”</a:t>
            </a:r>
            <a:endParaRPr lang="en-US" sz="1250" dirty="0"/>
          </a:p>
        </p:txBody>
      </p:sp>
      <p:sp>
        <p:nvSpPr>
          <p:cNvPr id="16" name="Session step card"/>
          <p:cNvSpPr/>
          <p:nvPr/>
        </p:nvSpPr>
        <p:spPr>
          <a:xfrm>
            <a:off x="5608320" y="1691640"/>
            <a:ext cx="2346960" cy="2125980"/>
          </a:xfrm>
          <a:prstGeom prst="roundRect">
            <a:avLst>
              <a:gd name="adj" fmla="val 6452"/>
            </a:avLst>
          </a:prstGeom>
          <a:solidFill>
            <a:srgbClr val="F6F3EE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5791200" y="1874520"/>
            <a:ext cx="512064" cy="512064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095" y="1997415"/>
            <a:ext cx="266273" cy="266273"/>
          </a:xfrm>
          <a:prstGeom prst="rect">
            <a:avLst/>
          </a:prstGeom>
        </p:spPr>
      </p:pic>
      <p:sp>
        <p:nvSpPr>
          <p:cNvPr id="19" name="Step number"/>
          <p:cNvSpPr txBox="1"/>
          <p:nvPr/>
        </p:nvSpPr>
        <p:spPr>
          <a:xfrm>
            <a:off x="7360920" y="18562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26522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Session step title"/>
          <p:cNvSpPr txBox="1"/>
          <p:nvPr/>
        </p:nvSpPr>
        <p:spPr>
          <a:xfrm>
            <a:off x="5809488" y="2532888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Agent names the gap</a:t>
            </a:r>
            <a:endParaRPr lang="en-US" sz="1500" dirty="0"/>
          </a:p>
        </p:txBody>
      </p:sp>
      <p:sp>
        <p:nvSpPr>
          <p:cNvPr id="21" name="Session step detail"/>
          <p:cNvSpPr txBox="1"/>
          <p:nvPr/>
        </p:nvSpPr>
        <p:spPr>
          <a:xfrm>
            <a:off x="5809488" y="2880360"/>
            <a:ext cx="1944624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In their own words, before I say it</a:t>
            </a:r>
            <a:endParaRPr lang="en-US" sz="1250" dirty="0"/>
          </a:p>
        </p:txBody>
      </p:sp>
      <p:sp>
        <p:nvSpPr>
          <p:cNvPr id="22" name="Session step card"/>
          <p:cNvSpPr/>
          <p:nvPr/>
        </p:nvSpPr>
        <p:spPr>
          <a:xfrm>
            <a:off x="548640" y="4000500"/>
            <a:ext cx="2346960" cy="2125980"/>
          </a:xfrm>
          <a:prstGeom prst="roundRect">
            <a:avLst>
              <a:gd name="adj" fmla="val 6452"/>
            </a:avLst>
          </a:prstGeom>
          <a:solidFill>
            <a:srgbClr val="F6F3EE"/>
          </a:solidFill>
          <a:ln/>
        </p:spPr>
      </p:sp>
      <p:sp>
        <p:nvSpPr>
          <p:cNvPr id="23" name="Icon circle"/>
          <p:cNvSpPr/>
          <p:nvPr/>
        </p:nvSpPr>
        <p:spPr>
          <a:xfrm>
            <a:off x="731520" y="4183380"/>
            <a:ext cx="512064" cy="512064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4306275"/>
            <a:ext cx="266273" cy="266273"/>
          </a:xfrm>
          <a:prstGeom prst="rect">
            <a:avLst/>
          </a:prstGeom>
        </p:spPr>
      </p:pic>
      <p:sp>
        <p:nvSpPr>
          <p:cNvPr id="25" name="Step number"/>
          <p:cNvSpPr txBox="1"/>
          <p:nvPr/>
        </p:nvSpPr>
        <p:spPr>
          <a:xfrm>
            <a:off x="2301240" y="41650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26522"/>
                </a:solidFill>
              </a:rPr>
              <a:t>4</a:t>
            </a:r>
            <a:endParaRPr lang="en-US" sz="2800" dirty="0"/>
          </a:p>
        </p:txBody>
      </p:sp>
      <p:sp>
        <p:nvSpPr>
          <p:cNvPr id="26" name="Session step title"/>
          <p:cNvSpPr txBox="1"/>
          <p:nvPr/>
        </p:nvSpPr>
        <p:spPr>
          <a:xfrm>
            <a:off x="749808" y="4841748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I model it</a:t>
            </a:r>
            <a:endParaRPr lang="en-US" sz="1500" dirty="0"/>
          </a:p>
        </p:txBody>
      </p:sp>
      <p:sp>
        <p:nvSpPr>
          <p:cNvPr id="27" name="Session step detail"/>
          <p:cNvSpPr txBox="1"/>
          <p:nvPr/>
        </p:nvSpPr>
        <p:spPr>
          <a:xfrm>
            <a:off x="749808" y="5189220"/>
            <a:ext cx="1944624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We play the call, and I show the exact line that works</a:t>
            </a:r>
            <a:endParaRPr lang="en-US" sz="1250" dirty="0"/>
          </a:p>
        </p:txBody>
      </p:sp>
      <p:sp>
        <p:nvSpPr>
          <p:cNvPr id="28" name="Session step card"/>
          <p:cNvSpPr/>
          <p:nvPr/>
        </p:nvSpPr>
        <p:spPr>
          <a:xfrm>
            <a:off x="3078480" y="4000500"/>
            <a:ext cx="2346960" cy="2125980"/>
          </a:xfrm>
          <a:prstGeom prst="roundRect">
            <a:avLst>
              <a:gd name="adj" fmla="val 6452"/>
            </a:avLst>
          </a:prstGeom>
          <a:solidFill>
            <a:srgbClr val="F6F3EE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3261360" y="4183380"/>
            <a:ext cx="512064" cy="512064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255" y="4306275"/>
            <a:ext cx="266273" cy="266273"/>
          </a:xfrm>
          <a:prstGeom prst="rect">
            <a:avLst/>
          </a:prstGeom>
        </p:spPr>
      </p:pic>
      <p:sp>
        <p:nvSpPr>
          <p:cNvPr id="31" name="Step number"/>
          <p:cNvSpPr txBox="1"/>
          <p:nvPr/>
        </p:nvSpPr>
        <p:spPr>
          <a:xfrm>
            <a:off x="4831080" y="41650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26522"/>
                </a:solidFill>
              </a:rPr>
              <a:t>5</a:t>
            </a:r>
            <a:endParaRPr lang="en-US" sz="2800" dirty="0"/>
          </a:p>
        </p:txBody>
      </p:sp>
      <p:sp>
        <p:nvSpPr>
          <p:cNvPr id="32" name="Session step title"/>
          <p:cNvSpPr txBox="1"/>
          <p:nvPr/>
        </p:nvSpPr>
        <p:spPr>
          <a:xfrm>
            <a:off x="3279648" y="4841748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Role play</a:t>
            </a:r>
            <a:endParaRPr lang="en-US" sz="1500" dirty="0"/>
          </a:p>
        </p:txBody>
      </p:sp>
      <p:sp>
        <p:nvSpPr>
          <p:cNvPr id="33" name="Session step detail"/>
          <p:cNvSpPr txBox="1"/>
          <p:nvPr/>
        </p:nvSpPr>
        <p:spPr>
          <a:xfrm>
            <a:off x="3279648" y="5189220"/>
            <a:ext cx="1944624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We practice the line until it sounds natural</a:t>
            </a:r>
            <a:endParaRPr lang="en-US" sz="1250" dirty="0"/>
          </a:p>
        </p:txBody>
      </p:sp>
      <p:sp>
        <p:nvSpPr>
          <p:cNvPr id="34" name="Session step card"/>
          <p:cNvSpPr/>
          <p:nvPr/>
        </p:nvSpPr>
        <p:spPr>
          <a:xfrm>
            <a:off x="5608320" y="4000500"/>
            <a:ext cx="2346960" cy="2125980"/>
          </a:xfrm>
          <a:prstGeom prst="roundRect">
            <a:avLst>
              <a:gd name="adj" fmla="val 6452"/>
            </a:avLst>
          </a:prstGeom>
          <a:solidFill>
            <a:srgbClr val="F6F3EE"/>
          </a:solidFill>
          <a:ln/>
        </p:spPr>
      </p:sp>
      <p:sp>
        <p:nvSpPr>
          <p:cNvPr id="35" name="Icon circle"/>
          <p:cNvSpPr/>
          <p:nvPr/>
        </p:nvSpPr>
        <p:spPr>
          <a:xfrm>
            <a:off x="5791200" y="4183380"/>
            <a:ext cx="512064" cy="512064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3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4095" y="4306275"/>
            <a:ext cx="266273" cy="266273"/>
          </a:xfrm>
          <a:prstGeom prst="rect">
            <a:avLst/>
          </a:prstGeom>
        </p:spPr>
      </p:pic>
      <p:sp>
        <p:nvSpPr>
          <p:cNvPr id="37" name="Step number"/>
          <p:cNvSpPr txBox="1"/>
          <p:nvPr/>
        </p:nvSpPr>
        <p:spPr>
          <a:xfrm>
            <a:off x="7360920" y="41650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26522"/>
                </a:solidFill>
              </a:rPr>
              <a:t>6</a:t>
            </a:r>
            <a:endParaRPr lang="en-US" sz="2800" dirty="0"/>
          </a:p>
        </p:txBody>
      </p:sp>
      <p:sp>
        <p:nvSpPr>
          <p:cNvPr id="38" name="Session step title"/>
          <p:cNvSpPr txBox="1"/>
          <p:nvPr/>
        </p:nvSpPr>
        <p:spPr>
          <a:xfrm>
            <a:off x="5809488" y="4841748"/>
            <a:ext cx="1944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</a:rPr>
              <a:t>Commit and follow up</a:t>
            </a:r>
            <a:endParaRPr lang="en-US" sz="1500" dirty="0"/>
          </a:p>
        </p:txBody>
      </p:sp>
      <p:sp>
        <p:nvSpPr>
          <p:cNvPr id="39" name="Session step detail"/>
          <p:cNvSpPr txBox="1"/>
          <p:nvPr/>
        </p:nvSpPr>
        <p:spPr>
          <a:xfrm>
            <a:off x="5809488" y="5189220"/>
            <a:ext cx="1944624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The agent commits, I commit, and we set the follow-up date</a:t>
            </a:r>
            <a:endParaRPr lang="en-US" sz="1250" dirty="0"/>
          </a:p>
        </p:txBody>
      </p:sp>
      <p:sp>
        <p:nvSpPr>
          <p:cNvPr id="40" name="Techniques card"/>
          <p:cNvSpPr/>
          <p:nvPr/>
        </p:nvSpPr>
        <p:spPr>
          <a:xfrm>
            <a:off x="8229600" y="1691640"/>
            <a:ext cx="3413455" cy="4434840"/>
          </a:xfrm>
          <a:prstGeom prst="roundRect">
            <a:avLst>
              <a:gd name="adj" fmla="val 4018"/>
            </a:avLst>
          </a:prstGeom>
          <a:solidFill>
            <a:srgbClr val="121826"/>
          </a:solidFill>
          <a:ln/>
        </p:spPr>
      </p:sp>
      <p:sp>
        <p:nvSpPr>
          <p:cNvPr id="41" name="Icon circle"/>
          <p:cNvSpPr/>
          <p:nvPr/>
        </p:nvSpPr>
        <p:spPr>
          <a:xfrm>
            <a:off x="8476488" y="1911096"/>
            <a:ext cx="512064" cy="51206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42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383" y="2033991"/>
            <a:ext cx="266273" cy="266273"/>
          </a:xfrm>
          <a:prstGeom prst="rect">
            <a:avLst/>
          </a:prstGeom>
        </p:spPr>
      </p:pic>
      <p:sp>
        <p:nvSpPr>
          <p:cNvPr id="43" name="Techniques heading"/>
          <p:cNvSpPr txBox="1"/>
          <p:nvPr/>
        </p:nvSpPr>
        <p:spPr>
          <a:xfrm>
            <a:off x="9144000" y="1984248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Techniques I use</a:t>
            </a:r>
            <a:endParaRPr lang="en-US" sz="1700" dirty="0"/>
          </a:p>
        </p:txBody>
      </p:sp>
      <p:sp>
        <p:nvSpPr>
          <p:cNvPr id="44" name="Techniques list"/>
          <p:cNvSpPr txBox="1"/>
          <p:nvPr/>
        </p:nvSpPr>
        <p:spPr>
          <a:xfrm>
            <a:off x="8549640" y="2651760"/>
            <a:ext cx="28648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DE6"/>
                </a:solidFill>
              </a:rPr>
              <a:t>Open questions before I give answers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DE6"/>
                </a:solidFill>
              </a:rPr>
              <a:t>Self-assessment: the agent names the gap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DE6"/>
                </a:solidFill>
              </a:rPr>
              <a:t>I do, we do, you do: model, practice, apply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DE6"/>
                </a:solidFill>
              </a:rPr>
              <a:t>Role play until it sounds natural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DE6"/>
                </a:solidFill>
              </a:rPr>
              <a:t>Side by side listening on live calls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DE6"/>
                </a:solidFill>
              </a:rPr>
              <a:t>Model calls from top performers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9DDE6"/>
                </a:solidFill>
              </a:rPr>
              <a:t>A self-check log for the first three days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grpId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grpId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grpId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grpId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grpId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grpId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grpId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grpId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grpId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grpId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grpId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grpId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grpId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grpId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grpId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grpId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grpId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grpId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grpId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grpId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grpId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grpId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grpId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grpId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7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7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7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10" presetClass="entr" presetSubtype="0" grpId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A REAL EXAMPLE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Ammar: what I found and what I told him to do</a:t>
            </a:r>
            <a:endParaRPr lang="en-US" sz="3200" dirty="0"/>
          </a:p>
        </p:txBody>
      </p:sp>
      <p:sp>
        <p:nvSpPr>
          <p:cNvPr id="4" name="Example card"/>
          <p:cNvSpPr/>
          <p:nvPr/>
        </p:nvSpPr>
        <p:spPr>
          <a:xfrm>
            <a:off x="548640" y="1691640"/>
            <a:ext cx="6858000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Label"/>
          <p:cNvSpPr txBox="1"/>
          <p:nvPr/>
        </p:nvSpPr>
        <p:spPr>
          <a:xfrm>
            <a:off x="868680" y="193852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WHAT I FOUND ON HIS CALLS</a:t>
            </a:r>
            <a:endParaRPr lang="en-US" sz="1050" dirty="0"/>
          </a:p>
        </p:txBody>
      </p:sp>
      <p:sp>
        <p:nvSpPr>
          <p:cNvPr id="6" name="Found chip"/>
          <p:cNvSpPr/>
          <p:nvPr/>
        </p:nvSpPr>
        <p:spPr>
          <a:xfrm>
            <a:off x="868680" y="2258568"/>
            <a:ext cx="1010412" cy="329184"/>
          </a:xfrm>
          <a:prstGeom prst="roundRect">
            <a:avLst>
              <a:gd name="adj" fmla="val 22222"/>
            </a:avLst>
          </a:prstGeom>
          <a:solidFill>
            <a:srgbClr val="FDE9DF"/>
          </a:solidFill>
          <a:ln/>
        </p:spPr>
      </p:sp>
      <p:sp>
        <p:nvSpPr>
          <p:cNvPr id="7" name="Found chip text"/>
          <p:cNvSpPr txBox="1"/>
          <p:nvPr/>
        </p:nvSpPr>
        <p:spPr>
          <a:xfrm>
            <a:off x="868680" y="2258568"/>
            <a:ext cx="10104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4A10"/>
                </a:solidFill>
              </a:rPr>
              <a:t>Assurance</a:t>
            </a:r>
            <a:endParaRPr lang="en-US" sz="1200" dirty="0"/>
          </a:p>
        </p:txBody>
      </p:sp>
      <p:sp>
        <p:nvSpPr>
          <p:cNvPr id="8" name="Found chip"/>
          <p:cNvSpPr/>
          <p:nvPr/>
        </p:nvSpPr>
        <p:spPr>
          <a:xfrm>
            <a:off x="1988820" y="2258568"/>
            <a:ext cx="854964" cy="329184"/>
          </a:xfrm>
          <a:prstGeom prst="roundRect">
            <a:avLst>
              <a:gd name="adj" fmla="val 22222"/>
            </a:avLst>
          </a:prstGeom>
          <a:solidFill>
            <a:srgbClr val="FDE9DF"/>
          </a:solidFill>
          <a:ln/>
        </p:spPr>
      </p:sp>
      <p:sp>
        <p:nvSpPr>
          <p:cNvPr id="9" name="Found chip text"/>
          <p:cNvSpPr txBox="1"/>
          <p:nvPr/>
        </p:nvSpPr>
        <p:spPr>
          <a:xfrm>
            <a:off x="1988820" y="2258568"/>
            <a:ext cx="8549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4A10"/>
                </a:solidFill>
              </a:rPr>
              <a:t>Empathy</a:t>
            </a:r>
            <a:endParaRPr lang="en-US" sz="1200" dirty="0"/>
          </a:p>
        </p:txBody>
      </p:sp>
      <p:sp>
        <p:nvSpPr>
          <p:cNvPr id="10" name="Found chip"/>
          <p:cNvSpPr/>
          <p:nvPr/>
        </p:nvSpPr>
        <p:spPr>
          <a:xfrm>
            <a:off x="2953512" y="2258568"/>
            <a:ext cx="1476756" cy="329184"/>
          </a:xfrm>
          <a:prstGeom prst="roundRect">
            <a:avLst>
              <a:gd name="adj" fmla="val 22222"/>
            </a:avLst>
          </a:prstGeom>
          <a:solidFill>
            <a:srgbClr val="FDE9DF"/>
          </a:solidFill>
          <a:ln/>
        </p:spPr>
      </p:sp>
      <p:sp>
        <p:nvSpPr>
          <p:cNvPr id="11" name="Found chip text"/>
          <p:cNvSpPr txBox="1"/>
          <p:nvPr/>
        </p:nvSpPr>
        <p:spPr>
          <a:xfrm>
            <a:off x="2953512" y="2258568"/>
            <a:ext cx="1476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4A10"/>
                </a:solidFill>
              </a:rPr>
              <a:t>Acknowledgement</a:t>
            </a:r>
            <a:endParaRPr lang="en-US" sz="1200" dirty="0"/>
          </a:p>
        </p:txBody>
      </p:sp>
      <p:sp>
        <p:nvSpPr>
          <p:cNvPr id="12" name="Found chip"/>
          <p:cNvSpPr/>
          <p:nvPr/>
        </p:nvSpPr>
        <p:spPr>
          <a:xfrm>
            <a:off x="4539996" y="2258568"/>
            <a:ext cx="854964" cy="329184"/>
          </a:xfrm>
          <a:prstGeom prst="roundRect">
            <a:avLst>
              <a:gd name="adj" fmla="val 22222"/>
            </a:avLst>
          </a:prstGeom>
          <a:solidFill>
            <a:srgbClr val="FDE9DF"/>
          </a:solidFill>
          <a:ln/>
        </p:spPr>
      </p:sp>
      <p:sp>
        <p:nvSpPr>
          <p:cNvPr id="13" name="Found chip text"/>
          <p:cNvSpPr txBox="1"/>
          <p:nvPr/>
        </p:nvSpPr>
        <p:spPr>
          <a:xfrm>
            <a:off x="4539996" y="2258568"/>
            <a:ext cx="8549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4A10"/>
                </a:solidFill>
              </a:rPr>
              <a:t>Rapport</a:t>
            </a:r>
            <a:endParaRPr lang="en-US" sz="1200" dirty="0"/>
          </a:p>
        </p:txBody>
      </p:sp>
      <p:sp>
        <p:nvSpPr>
          <p:cNvPr id="14" name="Found chip"/>
          <p:cNvSpPr/>
          <p:nvPr/>
        </p:nvSpPr>
        <p:spPr>
          <a:xfrm>
            <a:off x="5504688" y="2258568"/>
            <a:ext cx="1321308" cy="329184"/>
          </a:xfrm>
          <a:prstGeom prst="roundRect">
            <a:avLst>
              <a:gd name="adj" fmla="val 22222"/>
            </a:avLst>
          </a:prstGeom>
          <a:solidFill>
            <a:srgbClr val="FDE9DF"/>
          </a:solidFill>
          <a:ln/>
        </p:spPr>
      </p:sp>
      <p:sp>
        <p:nvSpPr>
          <p:cNvPr id="15" name="Found chip text"/>
          <p:cNvSpPr txBox="1"/>
          <p:nvPr/>
        </p:nvSpPr>
        <p:spPr>
          <a:xfrm>
            <a:off x="5504688" y="2258568"/>
            <a:ext cx="1321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4A10"/>
                </a:solidFill>
              </a:rPr>
              <a:t>Tone of voice</a:t>
            </a:r>
            <a:endParaRPr lang="en-US" sz="1200" dirty="0"/>
          </a:p>
        </p:txBody>
      </p:sp>
      <p:sp>
        <p:nvSpPr>
          <p:cNvPr id="16" name="Found chip"/>
          <p:cNvSpPr/>
          <p:nvPr/>
        </p:nvSpPr>
        <p:spPr>
          <a:xfrm>
            <a:off x="868680" y="2679192"/>
            <a:ext cx="2487168" cy="329184"/>
          </a:xfrm>
          <a:prstGeom prst="roundRect">
            <a:avLst>
              <a:gd name="adj" fmla="val 22222"/>
            </a:avLst>
          </a:prstGeom>
          <a:solidFill>
            <a:srgbClr val="FDE9DF"/>
          </a:solidFill>
          <a:ln/>
        </p:spPr>
      </p:sp>
      <p:sp>
        <p:nvSpPr>
          <p:cNvPr id="17" name="Found chip text"/>
          <p:cNvSpPr txBox="1"/>
          <p:nvPr/>
        </p:nvSpPr>
        <p:spPr>
          <a:xfrm>
            <a:off x="868680" y="26791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4A10"/>
                </a:solidFill>
              </a:rPr>
              <a:t>Unexplained mute and silence</a:t>
            </a:r>
            <a:endParaRPr lang="en-US" sz="1200" dirty="0"/>
          </a:p>
        </p:txBody>
      </p:sp>
      <p:sp>
        <p:nvSpPr>
          <p:cNvPr id="18" name="Label"/>
          <p:cNvSpPr txBox="1"/>
          <p:nvPr/>
        </p:nvSpPr>
        <p:spPr>
          <a:xfrm>
            <a:off x="868680" y="322783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WHAT I TOLD HIM TO DO</a:t>
            </a:r>
            <a:endParaRPr lang="en-US" sz="1050" dirty="0"/>
          </a:p>
        </p:txBody>
      </p:sp>
      <p:sp>
        <p:nvSpPr>
          <p:cNvPr id="19" name="Told number"/>
          <p:cNvSpPr txBox="1"/>
          <p:nvPr/>
        </p:nvSpPr>
        <p:spPr>
          <a:xfrm>
            <a:off x="868680" y="35387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522"/>
                </a:solidFill>
              </a:rPr>
              <a:t>1</a:t>
            </a:r>
            <a:endParaRPr lang="en-US" sz="1800" dirty="0"/>
          </a:p>
        </p:txBody>
      </p:sp>
      <p:sp>
        <p:nvSpPr>
          <p:cNvPr id="20" name="Told item"/>
          <p:cNvSpPr txBox="1"/>
          <p:nvPr/>
        </p:nvSpPr>
        <p:spPr>
          <a:xfrm>
            <a:off x="1234440" y="35661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826"/>
                </a:solidFill>
              </a:rPr>
              <a:t>Acknowledge, show empathy, then say you will take care of it and name your first step</a:t>
            </a:r>
            <a:endParaRPr lang="en-US" sz="1300" dirty="0"/>
          </a:p>
        </p:txBody>
      </p:sp>
      <p:sp>
        <p:nvSpPr>
          <p:cNvPr id="21" name="Told number"/>
          <p:cNvSpPr txBox="1"/>
          <p:nvPr/>
        </p:nvSpPr>
        <p:spPr>
          <a:xfrm>
            <a:off x="868680" y="40416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522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Told item"/>
          <p:cNvSpPr txBox="1"/>
          <p:nvPr/>
        </p:nvSpPr>
        <p:spPr>
          <a:xfrm>
            <a:off x="1234440" y="4069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826"/>
                </a:solidFill>
              </a:rPr>
              <a:t>Build rapport and keep a warm, confident tone</a:t>
            </a:r>
            <a:endParaRPr lang="en-US" sz="1300" dirty="0"/>
          </a:p>
        </p:txBody>
      </p:sp>
      <p:sp>
        <p:nvSpPr>
          <p:cNvPr id="23" name="Told number"/>
          <p:cNvSpPr txBox="1"/>
          <p:nvPr/>
        </p:nvSpPr>
        <p:spPr>
          <a:xfrm>
            <a:off x="868680" y="45445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522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old item"/>
          <p:cNvSpPr txBox="1"/>
          <p:nvPr/>
        </p:nvSpPr>
        <p:spPr>
          <a:xfrm>
            <a:off x="1234440" y="4572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826"/>
                </a:solidFill>
              </a:rPr>
              <a:t>Never go silent: say what you are doing, or use hold instead of mute</a:t>
            </a:r>
            <a:endParaRPr lang="en-US" sz="1300" dirty="0"/>
          </a:p>
        </p:txBody>
      </p:sp>
      <p:sp>
        <p:nvSpPr>
          <p:cNvPr id="25" name="Told number"/>
          <p:cNvSpPr txBox="1"/>
          <p:nvPr/>
        </p:nvSpPr>
        <p:spPr>
          <a:xfrm>
            <a:off x="868680" y="50474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522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old item"/>
          <p:cNvSpPr txBox="1"/>
          <p:nvPr/>
        </p:nvSpPr>
        <p:spPr>
          <a:xfrm>
            <a:off x="1234440" y="5074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826"/>
                </a:solidFill>
              </a:rPr>
              <a:t>Share a short plan for the call and finish one topic before the next</a:t>
            </a:r>
            <a:endParaRPr lang="en-US" sz="1300" dirty="0"/>
          </a:p>
        </p:txBody>
      </p:sp>
      <p:sp>
        <p:nvSpPr>
          <p:cNvPr id="27" name="Told number"/>
          <p:cNvSpPr txBox="1"/>
          <p:nvPr/>
        </p:nvSpPr>
        <p:spPr>
          <a:xfrm>
            <a:off x="868680" y="55504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522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old item"/>
          <p:cNvSpPr txBox="1"/>
          <p:nvPr/>
        </p:nvSpPr>
        <p:spPr>
          <a:xfrm>
            <a:off x="1234440" y="5577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826"/>
                </a:solidFill>
              </a:rPr>
              <a:t>After each call for three days, one line in a self-check log: did I do it, yes or no</a:t>
            </a:r>
            <a:endParaRPr lang="en-US" sz="1300" dirty="0"/>
          </a:p>
        </p:txBody>
      </p:sp>
      <p:sp>
        <p:nvSpPr>
          <p:cNvPr id="29" name="Result card"/>
          <p:cNvSpPr/>
          <p:nvPr/>
        </p:nvSpPr>
        <p:spPr>
          <a:xfrm>
            <a:off x="7680960" y="1691640"/>
            <a:ext cx="3962095" cy="4434840"/>
          </a:xfrm>
          <a:prstGeom prst="roundRect">
            <a:avLst>
              <a:gd name="adj" fmla="val 3462"/>
            </a:avLst>
          </a:prstGeom>
          <a:solidFill>
            <a:srgbClr val="F6F3EE"/>
          </a:solidFill>
          <a:ln/>
        </p:spPr>
      </p:sp>
      <p:sp>
        <p:nvSpPr>
          <p:cNvPr id="30" name="Result heading"/>
          <p:cNvSpPr txBox="1"/>
          <p:nvPr/>
        </p:nvSpPr>
        <p:spPr>
          <a:xfrm>
            <a:off x="7955280" y="1892808"/>
            <a:ext cx="3413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What changed</a:t>
            </a:r>
            <a:endParaRPr lang="en-US" sz="1600" dirty="0"/>
          </a:p>
        </p:txBody>
      </p:sp>
      <p:sp>
        <p:nvSpPr>
          <p:cNvPr id="31" name="Week label"/>
          <p:cNvSpPr txBox="1"/>
          <p:nvPr/>
        </p:nvSpPr>
        <p:spPr>
          <a:xfrm>
            <a:off x="7955280" y="2468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</a:rPr>
              <a:t>WEEK BEFORE</a:t>
            </a:r>
            <a:endParaRPr lang="en-US" sz="1050" dirty="0"/>
          </a:p>
        </p:txBody>
      </p:sp>
      <p:sp>
        <p:nvSpPr>
          <p:cNvPr id="32" name="Week tNPS"/>
          <p:cNvSpPr txBox="1"/>
          <p:nvPr/>
        </p:nvSpPr>
        <p:spPr>
          <a:xfrm>
            <a:off x="9722815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42318"/>
                </a:solidFill>
              </a:rPr>
              <a:t>−66.7</a:t>
            </a:r>
            <a:endParaRPr lang="en-US" sz="2800" dirty="0"/>
          </a:p>
        </p:txBody>
      </p:sp>
      <p:sp>
        <p:nvSpPr>
          <p:cNvPr id="33" name="Promoter"/>
          <p:cNvSpPr/>
          <p:nvPr/>
        </p:nvSpPr>
        <p:spPr>
          <a:xfrm>
            <a:off x="7955280" y="2852928"/>
            <a:ext cx="365760" cy="365760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34" name="Detractor"/>
          <p:cNvSpPr/>
          <p:nvPr/>
        </p:nvSpPr>
        <p:spPr>
          <a:xfrm>
            <a:off x="8430768" y="2852928"/>
            <a:ext cx="365760" cy="36576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35" name="Detractor"/>
          <p:cNvSpPr/>
          <p:nvPr/>
        </p:nvSpPr>
        <p:spPr>
          <a:xfrm>
            <a:off x="8906256" y="2852928"/>
            <a:ext cx="365760" cy="36576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36" name="Detractor"/>
          <p:cNvSpPr/>
          <p:nvPr/>
        </p:nvSpPr>
        <p:spPr>
          <a:xfrm>
            <a:off x="9381744" y="2852928"/>
            <a:ext cx="365760" cy="36576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37" name="Detractor"/>
          <p:cNvSpPr/>
          <p:nvPr/>
        </p:nvSpPr>
        <p:spPr>
          <a:xfrm>
            <a:off x="9857232" y="2852928"/>
            <a:ext cx="365760" cy="36576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38" name="Detractor"/>
          <p:cNvSpPr/>
          <p:nvPr/>
        </p:nvSpPr>
        <p:spPr>
          <a:xfrm>
            <a:off x="10332720" y="2852928"/>
            <a:ext cx="365760" cy="36576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39" name="Week split"/>
          <p:cNvSpPr txBox="1"/>
          <p:nvPr/>
        </p:nvSpPr>
        <p:spPr>
          <a:xfrm>
            <a:off x="7955280" y="3273552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3"/>
                </a:solidFill>
              </a:rPr>
              <a:t>1 promoter · 5 detractors</a:t>
            </a:r>
            <a:endParaRPr lang="en-US" sz="1150" dirty="0"/>
          </a:p>
        </p:txBody>
      </p:sp>
      <p:sp>
        <p:nvSpPr>
          <p:cNvPr id="40" name="Week label"/>
          <p:cNvSpPr txBox="1"/>
          <p:nvPr/>
        </p:nvSpPr>
        <p:spPr>
          <a:xfrm>
            <a:off x="795528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7F5C"/>
                </a:solidFill>
              </a:rPr>
              <a:t>LAST WEEK</a:t>
            </a:r>
            <a:endParaRPr lang="en-US" sz="1050" dirty="0"/>
          </a:p>
        </p:txBody>
      </p:sp>
      <p:sp>
        <p:nvSpPr>
          <p:cNvPr id="41" name="Week tNPS"/>
          <p:cNvSpPr txBox="1"/>
          <p:nvPr/>
        </p:nvSpPr>
        <p:spPr>
          <a:xfrm>
            <a:off x="9722815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7F5C"/>
                </a:solidFill>
              </a:rPr>
              <a:t>33.3</a:t>
            </a:r>
            <a:endParaRPr lang="en-US" sz="2800" dirty="0"/>
          </a:p>
        </p:txBody>
      </p:sp>
      <p:sp>
        <p:nvSpPr>
          <p:cNvPr id="42" name="Promoter"/>
          <p:cNvSpPr/>
          <p:nvPr/>
        </p:nvSpPr>
        <p:spPr>
          <a:xfrm>
            <a:off x="7955280" y="4087368"/>
            <a:ext cx="365760" cy="365760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43" name="Promoter"/>
          <p:cNvSpPr/>
          <p:nvPr/>
        </p:nvSpPr>
        <p:spPr>
          <a:xfrm>
            <a:off x="8430768" y="4087368"/>
            <a:ext cx="365760" cy="365760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44" name="Promoter"/>
          <p:cNvSpPr/>
          <p:nvPr/>
        </p:nvSpPr>
        <p:spPr>
          <a:xfrm>
            <a:off x="8906256" y="4087368"/>
            <a:ext cx="365760" cy="365760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45" name="Promoter"/>
          <p:cNvSpPr/>
          <p:nvPr/>
        </p:nvSpPr>
        <p:spPr>
          <a:xfrm>
            <a:off x="9381744" y="4087368"/>
            <a:ext cx="365760" cy="365760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46" name="Detractor"/>
          <p:cNvSpPr/>
          <p:nvPr/>
        </p:nvSpPr>
        <p:spPr>
          <a:xfrm>
            <a:off x="9857232" y="4087368"/>
            <a:ext cx="365760" cy="36576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47" name="Detractor"/>
          <p:cNvSpPr/>
          <p:nvPr/>
        </p:nvSpPr>
        <p:spPr>
          <a:xfrm>
            <a:off x="10332720" y="4087368"/>
            <a:ext cx="365760" cy="36576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48" name="Week split"/>
          <p:cNvSpPr txBox="1"/>
          <p:nvPr/>
        </p:nvSpPr>
        <p:spPr>
          <a:xfrm>
            <a:off x="7955280" y="4507992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3"/>
                </a:solidFill>
              </a:rPr>
              <a:t>4 promoters · 2 detractors</a:t>
            </a:r>
            <a:endParaRPr lang="en-US" sz="1150" dirty="0"/>
          </a:p>
        </p:txBody>
      </p:sp>
      <p:sp>
        <p:nvSpPr>
          <p:cNvPr id="49" name="Win band"/>
          <p:cNvSpPr/>
          <p:nvPr/>
        </p:nvSpPr>
        <p:spPr>
          <a:xfrm>
            <a:off x="7955280" y="4800600"/>
            <a:ext cx="3413455" cy="731520"/>
          </a:xfrm>
          <a:prstGeom prst="roundRect">
            <a:avLst>
              <a:gd name="adj" fmla="val 15000"/>
            </a:avLst>
          </a:prstGeom>
          <a:solidFill>
            <a:srgbClr val="E3F2EC"/>
          </a:solidFill>
          <a:ln/>
        </p:spPr>
      </p:sp>
      <p:sp>
        <p:nvSpPr>
          <p:cNvPr id="50" name="Win text"/>
          <p:cNvSpPr txBox="1"/>
          <p:nvPr/>
        </p:nvSpPr>
        <p:spPr>
          <a:xfrm>
            <a:off x="8138160" y="4800600"/>
            <a:ext cx="3047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F5C"/>
                </a:solidFill>
              </a:rPr>
              <a:t>+100 points </a:t>
            </a:r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in one week, and at the 33 target</a:t>
            </a:r>
            <a:endParaRPr lang="en-US" sz="1400" dirty="0"/>
          </a:p>
        </p:txBody>
      </p:sp>
      <p:sp>
        <p:nvSpPr>
          <p:cNvPr id="51" name="Next step"/>
          <p:cNvSpPr txBox="1"/>
          <p:nvPr/>
        </p:nvSpPr>
        <p:spPr>
          <a:xfrm>
            <a:off x="7955280" y="5696712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A10"/>
                </a:solidFill>
              </a:rPr>
              <a:t>Next: </a:t>
            </a:r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</a:rPr>
              <a:t>2 calls a week, side by side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grpId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grpId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grpId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grpId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grpId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grpId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grpId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grpId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grpId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grpId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grpId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entr" presetSubtype="0" grpId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grpId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grpId="0" fill="hold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7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grpId="0" fill="hold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grpId="0" fill="hold" nodeType="with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grpId="0" fill="hold" nodeType="with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grpId="0" fill="hold" nodeType="withEffect">
                                  <p:stCondLst>
                                    <p:cond delay="22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7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grpId="0" fill="hold" nodeType="withEffect">
                                  <p:stCondLst>
                                    <p:cond delay="22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7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grpId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grpId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grpId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grpId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grpId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grpId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grpId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grpId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grpId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grpId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grpId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grpId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grpId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grpId="0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3" presetClass="entr" presetSubtype="16" grpId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53" presetClass="entr" presetSubtype="16" grpId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16" grpId="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3" presetClass="entr" presetSubtype="16" grpId="0" fill="hold" nodeType="with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grpId="0" fill="hold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53" presetClass="entr" presetSubtype="16" grpId="0" fill="hold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53" presetClass="entr" presetSubtype="16" grpId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grpId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6" presetClass="emph" presetSubtype="0" grpId="1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animScale>
                                      <p:cBhvr>
                                        <p:cTn id="226" dur="3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30" presetID="22" presetClass="entr" presetSubtype="8" grpId="0" fill="hold" nodeType="withEffect">
                                  <p:stCondLst>
                                    <p:cond delay="54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grpId="0" fill="hold" nodeType="withEffect">
                                  <p:stCondLst>
                                    <p:cond delay="54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grpId="0" fill="hold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41" grpId="1" animBg="1"/>
    </p:bldLst>
  </p:timing>
</p:sld>
</file>

<file path=ppt/theme/theme1.xml><?xml version="1.0" encoding="utf-8"?>
<a:theme xmlns:a="http://schemas.openxmlformats.org/drawingml/2006/main" name="VXI Team Standing">
  <a:themeElements>
    <a:clrScheme name="VXI Team Standing">
      <a:dk1>
        <a:srgbClr val="121826"/>
      </a:dk1>
      <a:lt1>
        <a:srgbClr val="FFFFFF"/>
      </a:lt1>
      <a:dk2>
        <a:srgbClr val="3D4453"/>
      </a:dk2>
      <a:lt2>
        <a:srgbClr val="F6F3EE"/>
      </a:lt2>
      <a:accent1>
        <a:srgbClr val="F26522"/>
      </a:accent1>
      <a:accent2>
        <a:srgbClr val="C94A10"/>
      </a:accent2>
      <a:accent3>
        <a:srgbClr val="1E7F5C"/>
      </a:accent3>
      <a:accent4>
        <a:srgbClr val="B42318"/>
      </a:accent4>
      <a:accent5>
        <a:srgbClr val="FDE9DF"/>
      </a:accent5>
      <a:accent6>
        <a:srgbClr val="8C96AC"/>
      </a:accent6>
      <a:hlink>
        <a:srgbClr val="C94A10"/>
      </a:hlink>
      <a:folHlink>
        <a:srgbClr val="C94A10"/>
      </a:folHlink>
    </a:clrScheme>
    <a:fontScheme name="VXI Team Stand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Prepare and Deliver Coaching: Omar Mansour</dc:title>
  <dc:subject>PptxGenJS Presentation</dc:subject>
  <dc:creator>Omar Mansour</dc:creator>
  <cp:lastModifiedBy>Omar Mansour</cp:lastModifiedBy>
  <cp:revision>1</cp:revision>
  <dcterms:created xsi:type="dcterms:W3CDTF">2026-10-19T15:30:41Z</dcterms:created>
  <dcterms:modified xsi:type="dcterms:W3CDTF">2026-10-19T15:30:41Z</dcterms:modified>
</cp:coreProperties>
</file>