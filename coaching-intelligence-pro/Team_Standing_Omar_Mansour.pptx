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d2283334-512e-543b-fab2-1da780bb104b}">
          <p14:sldIdLst>
            <p14:sldId id="256"/>
          </p14:sldIdLst>
        </p14:section>
        <p14:section name="Where the team stands" id="{231599e5-8bf7-ecca-da21-4bd99bd979fe}">
          <p14:sldIdLst>
            <p14:sldId id="257"/>
          </p14:sldIdLst>
        </p14:section>
        <p14:section name="The offenders" id="{8369a339-98e9-0cee-5f49-3119000b73f8}">
          <p14:sldIdLst>
            <p14:sldId id="258"/>
          </p14:sldIdLst>
        </p14:section>
        <p14:section name="How I coach" id="{efe86785-5697-b859-c307-a78b5d5a4bab}">
          <p14:sldIdLst>
            <p14:sldId id="259"/>
          </p14:sldIdLst>
        </p14:section>
        <p14:section name="Next 30 days" id="{0f23bdb2-59d3-4e60-6fcd-93f2bb253527}">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Leader KPI score</c:v>
                </c:pt>
              </c:strCache>
            </c:strRef>
          </c:tx>
          <c:spPr>
            <a:solidFill>
              <a:srgbClr val="C9CED8"/>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dPt>
            <c:idx val="0"/>
            <c:invertIfNegative val="0"/>
            <c:bubble3D val="0"/>
            <c:spPr>
              <a:solidFill>
                <a:srgbClr val="C9CED8"/>
              </a:solidFill>
              <a:effectLst/>
            </c:spPr>
          </c:dPt>
          <c:dPt>
            <c:idx val="1"/>
            <c:invertIfNegative val="0"/>
            <c:bubble3D val="0"/>
            <c:spPr>
              <a:solidFill>
                <a:srgbClr val="C9CED8"/>
              </a:solidFill>
              <a:effectLst/>
            </c:spPr>
          </c:dPt>
          <c:dPt>
            <c:idx val="2"/>
            <c:invertIfNegative val="0"/>
            <c:bubble3D val="0"/>
            <c:spPr>
              <a:solidFill>
                <a:srgbClr val="C9CED8"/>
              </a:solidFill>
              <a:effectLst/>
            </c:spPr>
          </c:dPt>
          <c:dPt>
            <c:idx val="3"/>
            <c:invertIfNegative val="0"/>
            <c:bubble3D val="0"/>
            <c:spPr>
              <a:solidFill>
                <a:srgbClr val="C9CED8"/>
              </a:solidFill>
              <a:effectLst/>
            </c:spPr>
          </c:dPt>
          <c:dPt>
            <c:idx val="4"/>
            <c:invertIfNegative val="0"/>
            <c:bubble3D val="0"/>
            <c:spPr>
              <a:solidFill>
                <a:srgbClr val="C9CED8"/>
              </a:solidFill>
              <a:effectLst/>
            </c:spPr>
          </c:dPt>
          <c:dPt>
            <c:idx val="5"/>
            <c:invertIfNegative val="0"/>
            <c:bubble3D val="0"/>
            <c:spPr>
              <a:solidFill>
                <a:srgbClr val="C9CED8"/>
              </a:solidFill>
              <a:effectLst/>
            </c:spPr>
          </c:dPt>
          <c:dPt>
            <c:idx val="6"/>
            <c:invertIfNegative val="0"/>
            <c:bubble3D val="0"/>
            <c:spPr>
              <a:solidFill>
                <a:srgbClr val="C9CED8"/>
              </a:solidFill>
              <a:effectLst/>
            </c:spPr>
          </c:dPt>
          <c:dPt>
            <c:idx val="7"/>
            <c:invertIfNegative val="0"/>
            <c:bubble3D val="0"/>
            <c:spPr>
              <a:solidFill>
                <a:srgbClr val="C9CED8"/>
              </a:solidFill>
              <a:effectLst/>
            </c:spPr>
          </c:dPt>
          <c:dPt>
            <c:idx val="8"/>
            <c:invertIfNegative val="0"/>
            <c:bubble3D val="0"/>
            <c:spPr>
              <a:solidFill>
                <a:srgbClr val="C9CED8"/>
              </a:solidFill>
              <a:effectLst/>
            </c:spPr>
          </c:dPt>
          <c:dPt>
            <c:idx val="9"/>
            <c:invertIfNegative val="0"/>
            <c:bubble3D val="0"/>
            <c:spPr>
              <a:solidFill>
                <a:srgbClr val="F26522"/>
              </a:solidFill>
              <a:effectLst/>
            </c:spPr>
          </c:dPt>
          <c:dPt>
            <c:idx val="10"/>
            <c:invertIfNegative val="0"/>
            <c:bubble3D val="0"/>
            <c:spPr>
              <a:solidFill>
                <a:srgbClr val="C9CED8"/>
              </a:solidFill>
              <a:effectLst/>
            </c:spPr>
          </c:dPt>
          <c:dPt>
            <c:idx val="11"/>
            <c:invertIfNegative val="0"/>
            <c:bubble3D val="0"/>
            <c:spPr>
              <a:solidFill>
                <a:srgbClr val="C9CED8"/>
              </a:solidFill>
              <a:effectLst/>
            </c:spPr>
          </c:dPt>
          <c:dPt>
            <c:idx val="12"/>
            <c:invertIfNegative val="0"/>
            <c:bubble3D val="0"/>
            <c:spPr>
              <a:solidFill>
                <a:srgbClr val="C9CED8"/>
              </a:solidFill>
              <a:effectLst/>
            </c:spPr>
          </c:dPt>
          <c:dPt>
            <c:idx val="13"/>
            <c:invertIfNegative val="0"/>
            <c:bubble3D val="0"/>
            <c:spPr>
              <a:solidFill>
                <a:srgbClr val="C9CED8"/>
              </a:solidFill>
              <a:effectLst/>
            </c:spPr>
          </c:dPt>
          <c:dPt>
            <c:idx val="14"/>
            <c:invertIfNegative val="0"/>
            <c:bubble3D val="0"/>
            <c:spPr>
              <a:solidFill>
                <a:srgbClr val="C9CED8"/>
              </a:solidFill>
              <a:effectLst/>
            </c:spPr>
          </c:dPt>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91.8</c:v>
                </c:pt>
                <c:pt idx="1">
                  <c:v>91</c:v>
                </c:pt>
                <c:pt idx="2">
                  <c:v>86.7</c:v>
                </c:pt>
                <c:pt idx="3">
                  <c:v>86.3</c:v>
                </c:pt>
                <c:pt idx="4">
                  <c:v>82.1</c:v>
                </c:pt>
                <c:pt idx="5">
                  <c:v>81.4</c:v>
                </c:pt>
                <c:pt idx="6">
                  <c:v>81.2</c:v>
                </c:pt>
                <c:pt idx="7">
                  <c:v>79.7</c:v>
                </c:pt>
                <c:pt idx="8">
                  <c:v>78.9</c:v>
                </c:pt>
                <c:pt idx="9">
                  <c:v>77.5</c:v>
                </c:pt>
                <c:pt idx="10">
                  <c:v>71.7</c:v>
                </c:pt>
                <c:pt idx="11">
                  <c:v>70.2</c:v>
                </c:pt>
                <c:pt idx="12">
                  <c:v>67.6</c:v>
                </c:pt>
                <c:pt idx="13">
                  <c:v>65</c:v>
                </c:pt>
                <c:pt idx="14">
                  <c:v>65</c:v>
                </c:pt>
              </c:numCache>
            </c:numRef>
          </c:val>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7280"/>
                    </a:solidFill>
                    <a:latin typeface="+mn-lt"/>
                  </a:defRPr>
                </a:pPr>
                <a:r>
                  <a:rPr sz="1000" b="0" i="0" u="none" strike="noStrike">
                    <a:solidFill>
                      <a:srgbClr val="6B7280"/>
                    </a:solidFill>
                    <a:latin typeface="+mn-lt"/>
                  </a:rPr>
                  <a:t>Rank on the floor</a:t>
                </a:r>
              </a:p>
            </c:rich>
          </c:tx>
          <c:layout/>
          <c:overlay val="0"/>
        </c:title>
        <c:numFmt formatCode="General" sourceLinked="1"/>
        <c:majorTickMark val="out"/>
        <c:minorTickMark val="none"/>
        <c:tickLblPos val="low"/>
        <c:spPr>
          <a:ln w="12700" cap="flat">
            <a:solidFill>
              <a:srgbClr val="E3DED7"/>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3DED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team as it stands today. 13 agents, all new hires between 0 and 30 days. Most of them are Wave Temp 1, still in training and nesting, and one agent is from Wave 29. All the numbers are October month to date, September 22 to October 14, from the TSX dashboard. I will go through four things: where we stand, the agents pulling us down and what I am doing with each one, how I prepare and coach, and my plan for the next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current 13 agents, aiCR is on target at 62 percent. GSR is 7.3 against 8, so it is close. XM is at 41 lines and 6 of 13 agents already have 4 or more. tNPS is the real gap. We are at 11 against 33, and only 3 agents are on target. On the right is the floor. My leader score is 77.5, rank 10 of 15. That ranking is the published dashboard from October 14, so it is a bit different from the roster numbers on the left. aiCR and GSR are rank 4 and XM is rank 5. tNPS is rank 11, and that is where most of my time is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I am working on first. Ammar is the clearest case. He resolves and he sells, rank 54 of 220, but he is at minus 37.5 on 16 surveys. I already know his gap is how he handles the call, setting expectations and the close, not knowledge. So he gets one focus, clear next steps and timeframes before he closes, and I sit with him on 2 calls a week. Jana is at minus 42.9 with aiCR at 58.3. With her it is resolution first and the right ITG from start to finish. Mohamed Mahmoud resolves fine, so the work is ownership and assurance, then the mobile offer after the fix. Ahmed Elbanna has the lowest aiCR on the team, so it is discovery and confirming the fix before he closes. Rashwan is the opposite case. He is at 100 on tNPS but has no XM lines yet, so we work on earning the offer once the fix is done. Ahmed Ali, Abdelwahab and Omar Kamel are at zero, and they are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prepare and coach, following the five focus areas from the calibration email. Before every session I check Tableau, Power BI and i3, I pick one KPI gap, and I listen to 2 to 4 calls. In the session I ask what was going through their mind at that moment, so I get to the cause and not only the symptom. On this team the causes so far have been mute instead of hold, the opening, empathy, assurance, tone, not resolving, low confidence and not setting expectations. The agent says the gap in their own words, I model it, and we role play. Every plan has one or two behaviors, a KPI target with the surveys behind it, and a follow-up date. Then I follow up on calls every week. The dark row is Ammar, so you can see the five steps on one real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math is simple. Four agents are negative on 51 of our 172 surveys. If those four only get to zero, team tNPS goes from 11 to about 19, and that is before we add a single new promoter. The three agents at zero are next after that. For the next 30 days the goals are tNPS at 19 or better, aiCR held at 62, GSR up to 8, and every agent at 4 XM lines. The cadence stays the same every week: a session with every agent, 2 calls a week side by side with Ammar, a huddle on the behavior we miss most, and the calibration pack. Two things would help me. Detractor comments every week, so I can coach the exact moment on the call. And protected time off the phones for side-by-side coaching while the team is in nesting.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4415" cy="640080"/>
          </a:xfrm>
          <a:prstGeom prst="rect">
            <a:avLst/>
          </a:prstGeom>
          <a:noFill/>
          <a:ln/>
        </p:spPr>
        <p:txBody>
          <a:bodyPr wrap="square" rtlCol="0"/>
          <a:lstStyle>
            <a:lvl1pPr algn="l" indent="0" marL="0">
              <a:buNone/>
              <a:defRPr lang="en-US" sz="32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Team standing and coaching plan · TSX Cairo</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218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1280160"/>
            <a:ext cx="9144000" cy="274320"/>
          </a:xfrm>
          <a:prstGeom prst="rect">
            <a:avLst/>
          </a:prstGeom>
          <a:noFill/>
          <a:ln/>
        </p:spPr>
        <p:txBody>
          <a:bodyPr wrap="square" lIns="0" tIns="0" rIns="0" bIns="0" rtlCol="0" anchor="ctr"/>
          <a:lstStyle/>
          <a:p>
            <a:pPr indent="0" marL="0">
              <a:buNone/>
            </a:pPr>
            <a:r>
              <a:rPr lang="en-US" sz="1200" b="1" spc="300" kern="0" dirty="0">
                <a:solidFill>
                  <a:srgbClr val="F26522"/>
                </a:solidFill>
              </a:rPr>
              <a:t>VXI · TSX CAIRO · COMCAST REPAIR</a:t>
            </a:r>
            <a:endParaRPr lang="en-US" sz="1200" dirty="0"/>
          </a:p>
        </p:txBody>
      </p:sp>
      <p:sp>
        <p:nvSpPr>
          <p:cNvPr id="3" name="Deck title"/>
          <p:cNvSpPr txBox="1"/>
          <p:nvPr/>
        </p:nvSpPr>
        <p:spPr>
          <a:xfrm>
            <a:off x="548640" y="1737360"/>
            <a:ext cx="6766560" cy="1828800"/>
          </a:xfrm>
          <a:prstGeom prst="rect">
            <a:avLst/>
          </a:prstGeom>
          <a:noFill/>
          <a:ln/>
        </p:spPr>
        <p:txBody>
          <a:bodyPr wrap="square" lIns="0" tIns="0" rIns="0" bIns="0" rtlCol="0" anchor="t"/>
          <a:lstStyle/>
          <a:p>
            <a:pPr indent="0" marL="0">
              <a:buNone/>
            </a:pPr>
            <a:r>
              <a:rPr lang="en-US" sz="5400" b="1" spc="-100" kern="0" dirty="0">
                <a:solidFill>
                  <a:srgbClr val="FFFFFF"/>
                </a:solidFill>
              </a:rPr>
              <a:t>Team standing and coaching plan</a:t>
            </a:r>
            <a:endParaRPr lang="en-US" sz="5400" dirty="0"/>
          </a:p>
        </p:txBody>
      </p:sp>
      <p:sp>
        <p:nvSpPr>
          <p:cNvPr id="4" name="Subtitle"/>
          <p:cNvSpPr txBox="1"/>
          <p:nvPr/>
        </p:nvSpPr>
        <p:spPr>
          <a:xfrm>
            <a:off x="548640" y="3657600"/>
            <a:ext cx="6400800" cy="822960"/>
          </a:xfrm>
          <a:prstGeom prst="rect">
            <a:avLst/>
          </a:prstGeom>
          <a:noFill/>
          <a:ln/>
        </p:spPr>
        <p:txBody>
          <a:bodyPr wrap="square" lIns="0" tIns="0" rIns="0" bIns="0" rtlCol="0" anchor="t"/>
          <a:lstStyle/>
          <a:p>
            <a:pPr indent="0" marL="0">
              <a:buNone/>
            </a:pPr>
            <a:r>
              <a:rPr lang="en-US" sz="1900" dirty="0">
                <a:solidFill>
                  <a:srgbClr val="D9DDE6"/>
                </a:solidFill>
              </a:rPr>
              <a:t>Where my team stands, who I am working on first, and how I prepare and coach.</a:t>
            </a:r>
            <a:endParaRPr lang="en-US" sz="1900" dirty="0"/>
          </a:p>
        </p:txBody>
      </p:sp>
      <p:sp>
        <p:nvSpPr>
          <p:cNvPr id="5" name="Agenda card"/>
          <p:cNvSpPr/>
          <p:nvPr/>
        </p:nvSpPr>
        <p:spPr>
          <a:xfrm>
            <a:off x="7818120" y="1371600"/>
            <a:ext cx="3824935" cy="3291840"/>
          </a:xfrm>
          <a:prstGeom prst="roundRect">
            <a:avLst>
              <a:gd name="adj" fmla="val 5556"/>
            </a:avLst>
          </a:prstGeom>
          <a:solidFill>
            <a:srgbClr val="1C2437"/>
          </a:solidFill>
          <a:ln/>
        </p:spPr>
      </p:sp>
      <p:sp>
        <p:nvSpPr>
          <p:cNvPr id="6" name="Icon circle"/>
          <p:cNvSpPr/>
          <p:nvPr/>
        </p:nvSpPr>
        <p:spPr>
          <a:xfrm>
            <a:off x="8119872" y="1645920"/>
            <a:ext cx="493776" cy="493776"/>
          </a:xfrm>
          <a:prstGeom prst="ellipse">
            <a:avLst/>
          </a:prstGeom>
          <a:solidFill>
            <a:srgbClr val="F26522"/>
          </a:solidFill>
          <a:ln/>
        </p:spPr>
      </p:sp>
      <p:pic>
        <p:nvPicPr>
          <p:cNvPr id="7" name="Icon" descr="preencoded.png">    </p:cNvPr>
          <p:cNvPicPr>
            <a:picLocks noChangeAspect="1"/>
          </p:cNvPicPr>
          <p:nvPr/>
        </p:nvPicPr>
        <p:blipFill>
          <a:blip r:embed="rId1"/>
          <a:stretch>
            <a:fillRect/>
          </a:stretch>
        </p:blipFill>
        <p:spPr>
          <a:xfrm>
            <a:off x="8238378" y="1764426"/>
            <a:ext cx="256764" cy="256764"/>
          </a:xfrm>
          <a:prstGeom prst="rect">
            <a:avLst/>
          </a:prstGeom>
        </p:spPr>
      </p:pic>
      <p:sp>
        <p:nvSpPr>
          <p:cNvPr id="8" name="Agenda item"/>
          <p:cNvSpPr txBox="1"/>
          <p:nvPr/>
        </p:nvSpPr>
        <p:spPr>
          <a:xfrm>
            <a:off x="8778240" y="1691640"/>
            <a:ext cx="2636215" cy="402336"/>
          </a:xfrm>
          <a:prstGeom prst="rect">
            <a:avLst/>
          </a:prstGeom>
          <a:noFill/>
          <a:ln/>
        </p:spPr>
        <p:txBody>
          <a:bodyPr wrap="square" lIns="0" tIns="0" rIns="0" bIns="0" rtlCol="0" anchor="ctr"/>
          <a:lstStyle/>
          <a:p>
            <a:pPr indent="0" marL="0">
              <a:buNone/>
            </a:pPr>
            <a:r>
              <a:rPr lang="en-US" sz="1700" b="1" dirty="0">
                <a:solidFill>
                  <a:srgbClr val="F26522"/>
                </a:solidFill>
              </a:rPr>
              <a:t>2  </a:t>
            </a:r>
            <a:pPr indent="0" marL="0">
              <a:buNone/>
            </a:pPr>
            <a:r>
              <a:rPr lang="en-US" sz="1700" b="1" dirty="0">
                <a:solidFill>
                  <a:srgbClr val="FFFFFF"/>
                </a:solidFill>
              </a:rPr>
              <a:t>Where the team stands</a:t>
            </a:r>
            <a:endParaRPr lang="en-US" sz="1700" dirty="0"/>
          </a:p>
        </p:txBody>
      </p:sp>
      <p:sp>
        <p:nvSpPr>
          <p:cNvPr id="9" name="Icon circle"/>
          <p:cNvSpPr/>
          <p:nvPr/>
        </p:nvSpPr>
        <p:spPr>
          <a:xfrm>
            <a:off x="8119872" y="2350008"/>
            <a:ext cx="493776" cy="493776"/>
          </a:xfrm>
          <a:prstGeom prst="ellipse">
            <a:avLst/>
          </a:prstGeom>
          <a:solidFill>
            <a:srgbClr val="F26522"/>
          </a:solidFill>
          <a:ln/>
        </p:spPr>
      </p:sp>
      <p:pic>
        <p:nvPicPr>
          <p:cNvPr id="10" name="Icon" descr="preencoded.png">    </p:cNvPr>
          <p:cNvPicPr>
            <a:picLocks noChangeAspect="1"/>
          </p:cNvPicPr>
          <p:nvPr/>
        </p:nvPicPr>
        <p:blipFill>
          <a:blip r:embed="rId2"/>
          <a:stretch>
            <a:fillRect/>
          </a:stretch>
        </p:blipFill>
        <p:spPr>
          <a:xfrm>
            <a:off x="8238378" y="2468514"/>
            <a:ext cx="256764" cy="256764"/>
          </a:xfrm>
          <a:prstGeom prst="rect">
            <a:avLst/>
          </a:prstGeom>
        </p:spPr>
      </p:pic>
      <p:sp>
        <p:nvSpPr>
          <p:cNvPr id="11" name="Agenda item"/>
          <p:cNvSpPr txBox="1"/>
          <p:nvPr/>
        </p:nvSpPr>
        <p:spPr>
          <a:xfrm>
            <a:off x="8778240" y="2395728"/>
            <a:ext cx="2636215" cy="402336"/>
          </a:xfrm>
          <a:prstGeom prst="rect">
            <a:avLst/>
          </a:prstGeom>
          <a:noFill/>
          <a:ln/>
        </p:spPr>
        <p:txBody>
          <a:bodyPr wrap="square" lIns="0" tIns="0" rIns="0" bIns="0" rtlCol="0" anchor="ctr"/>
          <a:lstStyle/>
          <a:p>
            <a:pPr indent="0" marL="0">
              <a:buNone/>
            </a:pPr>
            <a:r>
              <a:rPr lang="en-US" sz="1700" b="1" dirty="0">
                <a:solidFill>
                  <a:srgbClr val="F26522"/>
                </a:solidFill>
              </a:rPr>
              <a:t>3  </a:t>
            </a:r>
            <a:pPr indent="0" marL="0">
              <a:buNone/>
            </a:pPr>
            <a:r>
              <a:rPr lang="en-US" sz="1700" b="1" dirty="0">
                <a:solidFill>
                  <a:srgbClr val="FFFFFF"/>
                </a:solidFill>
              </a:rPr>
              <a:t>The offenders and my plan</a:t>
            </a:r>
            <a:endParaRPr lang="en-US" sz="1700" dirty="0"/>
          </a:p>
        </p:txBody>
      </p:sp>
      <p:sp>
        <p:nvSpPr>
          <p:cNvPr id="12" name="Icon circle"/>
          <p:cNvSpPr/>
          <p:nvPr/>
        </p:nvSpPr>
        <p:spPr>
          <a:xfrm>
            <a:off x="8119872" y="3054096"/>
            <a:ext cx="493776" cy="493776"/>
          </a:xfrm>
          <a:prstGeom prst="ellipse">
            <a:avLst/>
          </a:prstGeom>
          <a:solidFill>
            <a:srgbClr val="F26522"/>
          </a:solidFill>
          <a:ln/>
        </p:spPr>
      </p:sp>
      <p:pic>
        <p:nvPicPr>
          <p:cNvPr id="13" name="Icon" descr="preencoded.png">    </p:cNvPr>
          <p:cNvPicPr>
            <a:picLocks noChangeAspect="1"/>
          </p:cNvPicPr>
          <p:nvPr/>
        </p:nvPicPr>
        <p:blipFill>
          <a:blip r:embed="rId3"/>
          <a:stretch>
            <a:fillRect/>
          </a:stretch>
        </p:blipFill>
        <p:spPr>
          <a:xfrm>
            <a:off x="8238378" y="3172602"/>
            <a:ext cx="256764" cy="256764"/>
          </a:xfrm>
          <a:prstGeom prst="rect">
            <a:avLst/>
          </a:prstGeom>
        </p:spPr>
      </p:pic>
      <p:sp>
        <p:nvSpPr>
          <p:cNvPr id="14" name="Agenda item"/>
          <p:cNvSpPr txBox="1"/>
          <p:nvPr/>
        </p:nvSpPr>
        <p:spPr>
          <a:xfrm>
            <a:off x="8778240" y="3099816"/>
            <a:ext cx="2636215" cy="402336"/>
          </a:xfrm>
          <a:prstGeom prst="rect">
            <a:avLst/>
          </a:prstGeom>
          <a:noFill/>
          <a:ln/>
        </p:spPr>
        <p:txBody>
          <a:bodyPr wrap="square" lIns="0" tIns="0" rIns="0" bIns="0" rtlCol="0" anchor="ctr"/>
          <a:lstStyle/>
          <a:p>
            <a:pPr indent="0" marL="0">
              <a:buNone/>
            </a:pPr>
            <a:r>
              <a:rPr lang="en-US" sz="1700" b="1" dirty="0">
                <a:solidFill>
                  <a:srgbClr val="F26522"/>
                </a:solidFill>
              </a:rPr>
              <a:t>4  </a:t>
            </a:r>
            <a:pPr indent="0" marL="0">
              <a:buNone/>
            </a:pPr>
            <a:r>
              <a:rPr lang="en-US" sz="1700" b="1" dirty="0">
                <a:solidFill>
                  <a:srgbClr val="FFFFFF"/>
                </a:solidFill>
              </a:rPr>
              <a:t>How I prepare and coach</a:t>
            </a:r>
            <a:endParaRPr lang="en-US" sz="1700" dirty="0"/>
          </a:p>
        </p:txBody>
      </p:sp>
      <p:sp>
        <p:nvSpPr>
          <p:cNvPr id="15" name="Icon circle"/>
          <p:cNvSpPr/>
          <p:nvPr/>
        </p:nvSpPr>
        <p:spPr>
          <a:xfrm>
            <a:off x="8119872" y="3758184"/>
            <a:ext cx="493776" cy="493776"/>
          </a:xfrm>
          <a:prstGeom prst="ellipse">
            <a:avLst/>
          </a:prstGeom>
          <a:solidFill>
            <a:srgbClr val="F26522"/>
          </a:solidFill>
          <a:ln/>
        </p:spPr>
      </p:sp>
      <p:pic>
        <p:nvPicPr>
          <p:cNvPr id="16" name="Icon" descr="preencoded.png">    </p:cNvPr>
          <p:cNvPicPr>
            <a:picLocks noChangeAspect="1"/>
          </p:cNvPicPr>
          <p:nvPr/>
        </p:nvPicPr>
        <p:blipFill>
          <a:blip r:embed="rId4"/>
          <a:stretch>
            <a:fillRect/>
          </a:stretch>
        </p:blipFill>
        <p:spPr>
          <a:xfrm>
            <a:off x="8238378" y="3876690"/>
            <a:ext cx="256764" cy="256764"/>
          </a:xfrm>
          <a:prstGeom prst="rect">
            <a:avLst/>
          </a:prstGeom>
        </p:spPr>
      </p:pic>
      <p:sp>
        <p:nvSpPr>
          <p:cNvPr id="17" name="Agenda item"/>
          <p:cNvSpPr txBox="1"/>
          <p:nvPr/>
        </p:nvSpPr>
        <p:spPr>
          <a:xfrm>
            <a:off x="8778240" y="3803904"/>
            <a:ext cx="2636215" cy="402336"/>
          </a:xfrm>
          <a:prstGeom prst="rect">
            <a:avLst/>
          </a:prstGeom>
          <a:noFill/>
          <a:ln/>
        </p:spPr>
        <p:txBody>
          <a:bodyPr wrap="square" lIns="0" tIns="0" rIns="0" bIns="0" rtlCol="0" anchor="ctr"/>
          <a:lstStyle/>
          <a:p>
            <a:pPr indent="0" marL="0">
              <a:buNone/>
            </a:pPr>
            <a:r>
              <a:rPr lang="en-US" sz="1700" b="1" dirty="0">
                <a:solidFill>
                  <a:srgbClr val="F26522"/>
                </a:solidFill>
              </a:rPr>
              <a:t>5  </a:t>
            </a:r>
            <a:pPr indent="0" marL="0">
              <a:buNone/>
            </a:pPr>
            <a:r>
              <a:rPr lang="en-US" sz="1700" b="1" dirty="0">
                <a:solidFill>
                  <a:srgbClr val="FFFFFF"/>
                </a:solidFill>
              </a:rPr>
              <a:t>The next 30 days</a:t>
            </a:r>
            <a:endParaRPr lang="en-US" sz="1700" dirty="0"/>
          </a:p>
        </p:txBody>
      </p:sp>
      <p:sp>
        <p:nvSpPr>
          <p:cNvPr id="18" name="Label"/>
          <p:cNvSpPr txBox="1"/>
          <p:nvPr/>
        </p:nvSpPr>
        <p:spPr>
          <a:xfrm>
            <a:off x="548640" y="5257800"/>
            <a:ext cx="3474720" cy="237744"/>
          </a:xfrm>
          <a:prstGeom prst="rect">
            <a:avLst/>
          </a:prstGeom>
          <a:noFill/>
          <a:ln/>
        </p:spPr>
        <p:txBody>
          <a:bodyPr wrap="square" lIns="0" tIns="0" rIns="0" bIns="0" rtlCol="0" anchor="ctr"/>
          <a:lstStyle/>
          <a:p>
            <a:pPr indent="0" marL="0">
              <a:buNone/>
            </a:pPr>
            <a:r>
              <a:rPr lang="en-US" sz="1050" b="1" spc="200" kern="0" dirty="0">
                <a:solidFill>
                  <a:srgbClr val="8C96AC"/>
                </a:solidFill>
              </a:rPr>
              <a:t>PRESENTED BY</a:t>
            </a:r>
            <a:endParaRPr lang="en-US" sz="1050" dirty="0"/>
          </a:p>
        </p:txBody>
      </p:sp>
      <p:sp>
        <p:nvSpPr>
          <p:cNvPr id="19" name="Cover detail"/>
          <p:cNvSpPr txBox="1"/>
          <p:nvPr/>
        </p:nvSpPr>
        <p:spPr>
          <a:xfrm>
            <a:off x="548640" y="5532120"/>
            <a:ext cx="3566160" cy="365760"/>
          </a:xfrm>
          <a:prstGeom prst="rect">
            <a:avLst/>
          </a:prstGeom>
          <a:noFill/>
          <a:ln/>
        </p:spPr>
        <p:txBody>
          <a:bodyPr wrap="square" lIns="0" tIns="0" rIns="0" bIns="0" rtlCol="0" anchor="ctr"/>
          <a:lstStyle/>
          <a:p>
            <a:pPr indent="0" marL="0">
              <a:buNone/>
            </a:pPr>
            <a:r>
              <a:rPr lang="en-US" sz="1700" b="1" dirty="0">
                <a:solidFill>
                  <a:srgbClr val="FFFFFF"/>
                </a:solidFill>
              </a:rPr>
              <a:t>Omar Mansour, Supervisor</a:t>
            </a:r>
            <a:endParaRPr lang="en-US" sz="1700" dirty="0"/>
          </a:p>
        </p:txBody>
      </p:sp>
      <p:sp>
        <p:nvSpPr>
          <p:cNvPr id="20" name="Label"/>
          <p:cNvSpPr txBox="1"/>
          <p:nvPr/>
        </p:nvSpPr>
        <p:spPr>
          <a:xfrm>
            <a:off x="4251960" y="5257800"/>
            <a:ext cx="3474720" cy="237744"/>
          </a:xfrm>
          <a:prstGeom prst="rect">
            <a:avLst/>
          </a:prstGeom>
          <a:noFill/>
          <a:ln/>
        </p:spPr>
        <p:txBody>
          <a:bodyPr wrap="square" lIns="0" tIns="0" rIns="0" bIns="0" rtlCol="0" anchor="ctr"/>
          <a:lstStyle/>
          <a:p>
            <a:pPr indent="0" marL="0">
              <a:buNone/>
            </a:pPr>
            <a:r>
              <a:rPr lang="en-US" sz="1050" b="1" spc="200" kern="0" dirty="0">
                <a:solidFill>
                  <a:srgbClr val="8C96AC"/>
                </a:solidFill>
              </a:rPr>
              <a:t>TEAM</a:t>
            </a:r>
            <a:endParaRPr lang="en-US" sz="1050" dirty="0"/>
          </a:p>
        </p:txBody>
      </p:sp>
      <p:sp>
        <p:nvSpPr>
          <p:cNvPr id="21" name="Cover detail"/>
          <p:cNvSpPr txBox="1"/>
          <p:nvPr/>
        </p:nvSpPr>
        <p:spPr>
          <a:xfrm>
            <a:off x="4251960" y="5532120"/>
            <a:ext cx="3566160" cy="365760"/>
          </a:xfrm>
          <a:prstGeom prst="rect">
            <a:avLst/>
          </a:prstGeom>
          <a:noFill/>
          <a:ln/>
        </p:spPr>
        <p:txBody>
          <a:bodyPr wrap="square" lIns="0" tIns="0" rIns="0" bIns="0" rtlCol="0" anchor="ctr"/>
          <a:lstStyle/>
          <a:p>
            <a:pPr indent="0" marL="0">
              <a:buNone/>
            </a:pPr>
            <a:r>
              <a:rPr lang="en-US" sz="1700" b="1" dirty="0">
                <a:solidFill>
                  <a:srgbClr val="FFFFFF"/>
                </a:solidFill>
              </a:rPr>
              <a:t>13 agents, 0 to 30 days</a:t>
            </a:r>
            <a:endParaRPr lang="en-US" sz="1700" dirty="0"/>
          </a:p>
        </p:txBody>
      </p:sp>
      <p:sp>
        <p:nvSpPr>
          <p:cNvPr id="22" name="Label"/>
          <p:cNvSpPr txBox="1"/>
          <p:nvPr/>
        </p:nvSpPr>
        <p:spPr>
          <a:xfrm>
            <a:off x="7955280" y="5257800"/>
            <a:ext cx="3474720" cy="237744"/>
          </a:xfrm>
          <a:prstGeom prst="rect">
            <a:avLst/>
          </a:prstGeom>
          <a:noFill/>
          <a:ln/>
        </p:spPr>
        <p:txBody>
          <a:bodyPr wrap="square" lIns="0" tIns="0" rIns="0" bIns="0" rtlCol="0" anchor="ctr"/>
          <a:lstStyle/>
          <a:p>
            <a:pPr indent="0" marL="0">
              <a:buNone/>
            </a:pPr>
            <a:r>
              <a:rPr lang="en-US" sz="1050" b="1" spc="200" kern="0" dirty="0">
                <a:solidFill>
                  <a:srgbClr val="8C96AC"/>
                </a:solidFill>
              </a:rPr>
              <a:t>SESSION</a:t>
            </a:r>
            <a:endParaRPr lang="en-US" sz="1050" dirty="0"/>
          </a:p>
        </p:txBody>
      </p:sp>
      <p:sp>
        <p:nvSpPr>
          <p:cNvPr id="23" name="Cover detail"/>
          <p:cNvSpPr txBox="1"/>
          <p:nvPr/>
        </p:nvSpPr>
        <p:spPr>
          <a:xfrm>
            <a:off x="7955280" y="5532120"/>
            <a:ext cx="3566160" cy="365760"/>
          </a:xfrm>
          <a:prstGeom prst="rect">
            <a:avLst/>
          </a:prstGeom>
          <a:noFill/>
          <a:ln/>
        </p:spPr>
        <p:txBody>
          <a:bodyPr wrap="square" lIns="0" tIns="0" rIns="0" bIns="0" rtlCol="0" anchor="ctr"/>
          <a:lstStyle/>
          <a:p>
            <a:pPr indent="0" marL="0">
              <a:buNone/>
            </a:pPr>
            <a:r>
              <a:rPr lang="en-US" sz="1700" b="1" dirty="0">
                <a:solidFill>
                  <a:srgbClr val="FFFFFF"/>
                </a:solidFill>
              </a:rPr>
              <a:t>Week of October 19, 2026</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C94A10"/>
                </a:solidFill>
              </a:rPr>
              <a:t>WHERE THE TEAM STANDS · OCTOBER MONTH TO DATE</a:t>
            </a:r>
            <a:endParaRPr lang="en-US" sz="1200" dirty="0"/>
          </a:p>
        </p:txBody>
      </p:sp>
      <p:sp>
        <p:nvSpPr>
          <p:cNvPr id="3" name="Text 0"/>
          <p:cNvSpPr/>
          <p:nvPr>
            <p:ph idx="100" type="title" hasCustomPrompt="1"/>
          </p:nvPr>
        </p:nvSpPr>
        <p:spPr>
          <a:xfrm>
            <a:off x="548640" y="74980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latin typeface="Calibri" pitchFamily="34" charset="0"/>
                <a:ea typeface="Calibri" pitchFamily="34" charset="-122"/>
                <a:cs typeface="Calibri" pitchFamily="34" charset="-120"/>
              </a:rPr>
              <a:t>tNPS is the gap. aiCR is on target and GSR is close</a:t>
            </a:r>
            <a:endParaRPr lang="en-US" sz="3200" dirty="0"/>
          </a:p>
        </p:txBody>
      </p:sp>
      <p:sp>
        <p:nvSpPr>
          <p:cNvPr id="4" name="KPI tile"/>
          <p:cNvSpPr/>
          <p:nvPr/>
        </p:nvSpPr>
        <p:spPr>
          <a:xfrm>
            <a:off x="548640" y="1691640"/>
            <a:ext cx="2491740" cy="1783080"/>
          </a:xfrm>
          <a:prstGeom prst="roundRect">
            <a:avLst>
              <a:gd name="adj" fmla="val 7692"/>
            </a:avLst>
          </a:prstGeom>
          <a:solidFill>
            <a:srgbClr val="FDE9DF"/>
          </a:solidFill>
          <a:ln/>
        </p:spPr>
      </p:sp>
      <p:sp>
        <p:nvSpPr>
          <p:cNvPr id="5" name="Tile label"/>
          <p:cNvSpPr txBox="1"/>
          <p:nvPr/>
        </p:nvSpPr>
        <p:spPr>
          <a:xfrm>
            <a:off x="777240" y="1892808"/>
            <a:ext cx="2034540" cy="237744"/>
          </a:xfrm>
          <a:prstGeom prst="rect">
            <a:avLst/>
          </a:prstGeom>
          <a:noFill/>
          <a:ln/>
        </p:spPr>
        <p:txBody>
          <a:bodyPr wrap="square" lIns="0" tIns="0" rIns="0" bIns="0" rtlCol="0" anchor="ctr"/>
          <a:lstStyle/>
          <a:p>
            <a:pPr indent="0" marL="0">
              <a:buNone/>
            </a:pPr>
            <a:r>
              <a:rPr lang="en-US" sz="1050" b="1" spc="200" kern="0" dirty="0">
                <a:solidFill>
                  <a:srgbClr val="C94A10"/>
                </a:solidFill>
              </a:rPr>
              <a:t>TNPS</a:t>
            </a:r>
            <a:endParaRPr lang="en-US" sz="1050" dirty="0"/>
          </a:p>
        </p:txBody>
      </p:sp>
      <p:sp>
        <p:nvSpPr>
          <p:cNvPr id="6" name="Tile number"/>
          <p:cNvSpPr txBox="1"/>
          <p:nvPr/>
        </p:nvSpPr>
        <p:spPr>
          <a:xfrm>
            <a:off x="777240" y="2148840"/>
            <a:ext cx="2034540" cy="658368"/>
          </a:xfrm>
          <a:prstGeom prst="rect">
            <a:avLst/>
          </a:prstGeom>
          <a:noFill/>
          <a:ln/>
        </p:spPr>
        <p:txBody>
          <a:bodyPr wrap="square" lIns="0" tIns="0" rIns="0" bIns="0" rtlCol="0" anchor="ctr"/>
          <a:lstStyle/>
          <a:p>
            <a:pPr indent="0" marL="0">
              <a:buNone/>
            </a:pPr>
            <a:r>
              <a:rPr lang="en-US" sz="4000" b="1" dirty="0">
                <a:solidFill>
                  <a:srgbClr val="B42318"/>
                </a:solidFill>
              </a:rPr>
              <a:t>11.0</a:t>
            </a:r>
            <a:endParaRPr lang="en-US" sz="4000" dirty="0"/>
          </a:p>
        </p:txBody>
      </p:sp>
      <p:sp>
        <p:nvSpPr>
          <p:cNvPr id="7" name="Tile target"/>
          <p:cNvSpPr txBox="1"/>
          <p:nvPr/>
        </p:nvSpPr>
        <p:spPr>
          <a:xfrm>
            <a:off x="777240" y="2825496"/>
            <a:ext cx="2034540" cy="237744"/>
          </a:xfrm>
          <a:prstGeom prst="rect">
            <a:avLst/>
          </a:prstGeom>
          <a:noFill/>
          <a:ln/>
        </p:spPr>
        <p:txBody>
          <a:bodyPr wrap="square" lIns="0" tIns="0" rIns="0" bIns="0" rtlCol="0" anchor="ctr"/>
          <a:lstStyle/>
          <a:p>
            <a:pPr indent="0" marL="0">
              <a:buNone/>
            </a:pPr>
            <a:r>
              <a:rPr lang="en-US" sz="1200" dirty="0">
                <a:solidFill>
                  <a:srgbClr val="3D4453"/>
                </a:solidFill>
              </a:rPr>
              <a:t>Target 33 · leader 35</a:t>
            </a:r>
            <a:endParaRPr lang="en-US" sz="1200" dirty="0"/>
          </a:p>
        </p:txBody>
      </p:sp>
      <p:sp>
        <p:nvSpPr>
          <p:cNvPr id="8" name="Tile status"/>
          <p:cNvSpPr txBox="1"/>
          <p:nvPr/>
        </p:nvSpPr>
        <p:spPr>
          <a:xfrm>
            <a:off x="777240" y="3081528"/>
            <a:ext cx="2034540" cy="237744"/>
          </a:xfrm>
          <a:prstGeom prst="rect">
            <a:avLst/>
          </a:prstGeom>
          <a:noFill/>
          <a:ln/>
        </p:spPr>
        <p:txBody>
          <a:bodyPr wrap="square" lIns="0" tIns="0" rIns="0" bIns="0" rtlCol="0" anchor="ctr"/>
          <a:lstStyle/>
          <a:p>
            <a:pPr indent="0" marL="0">
              <a:buNone/>
            </a:pPr>
            <a:r>
              <a:rPr lang="en-US" sz="1200" b="1" dirty="0">
                <a:solidFill>
                  <a:srgbClr val="B42318"/>
                </a:solidFill>
              </a:rPr>
              <a:t>3 of 13 on target</a:t>
            </a:r>
            <a:endParaRPr lang="en-US" sz="1200" dirty="0"/>
          </a:p>
        </p:txBody>
      </p:sp>
      <p:sp>
        <p:nvSpPr>
          <p:cNvPr id="9" name="KPI tile"/>
          <p:cNvSpPr/>
          <p:nvPr/>
        </p:nvSpPr>
        <p:spPr>
          <a:xfrm>
            <a:off x="3314700" y="1691640"/>
            <a:ext cx="2491740" cy="1783080"/>
          </a:xfrm>
          <a:prstGeom prst="roundRect">
            <a:avLst>
              <a:gd name="adj" fmla="val 7692"/>
            </a:avLst>
          </a:prstGeom>
          <a:solidFill>
            <a:srgbClr val="F6F3EE"/>
          </a:solidFill>
          <a:ln/>
        </p:spPr>
      </p:sp>
      <p:sp>
        <p:nvSpPr>
          <p:cNvPr id="10" name="Tile label"/>
          <p:cNvSpPr txBox="1"/>
          <p:nvPr/>
        </p:nvSpPr>
        <p:spPr>
          <a:xfrm>
            <a:off x="3543300" y="1892808"/>
            <a:ext cx="2034540" cy="237744"/>
          </a:xfrm>
          <a:prstGeom prst="rect">
            <a:avLst/>
          </a:prstGeom>
          <a:noFill/>
          <a:ln/>
        </p:spPr>
        <p:txBody>
          <a:bodyPr wrap="square" lIns="0" tIns="0" rIns="0" bIns="0" rtlCol="0" anchor="ctr"/>
          <a:lstStyle/>
          <a:p>
            <a:pPr indent="0" marL="0">
              <a:buNone/>
            </a:pPr>
            <a:r>
              <a:rPr lang="en-US" sz="1050" b="1" spc="200" kern="0" dirty="0">
                <a:solidFill>
                  <a:srgbClr val="6B7280"/>
                </a:solidFill>
              </a:rPr>
              <a:t>AICR</a:t>
            </a:r>
            <a:endParaRPr lang="en-US" sz="1050" dirty="0"/>
          </a:p>
        </p:txBody>
      </p:sp>
      <p:sp>
        <p:nvSpPr>
          <p:cNvPr id="11" name="Tile number"/>
          <p:cNvSpPr txBox="1"/>
          <p:nvPr/>
        </p:nvSpPr>
        <p:spPr>
          <a:xfrm>
            <a:off x="3543300" y="2148840"/>
            <a:ext cx="2034540" cy="658368"/>
          </a:xfrm>
          <a:prstGeom prst="rect">
            <a:avLst/>
          </a:prstGeom>
          <a:noFill/>
          <a:ln/>
        </p:spPr>
        <p:txBody>
          <a:bodyPr wrap="square" lIns="0" tIns="0" rIns="0" bIns="0" rtlCol="0" anchor="ctr"/>
          <a:lstStyle/>
          <a:p>
            <a:pPr indent="0" marL="0">
              <a:buNone/>
            </a:pPr>
            <a:r>
              <a:rPr lang="en-US" sz="4000" b="1" dirty="0">
                <a:solidFill>
                  <a:srgbClr val="1E7F5C"/>
                </a:solidFill>
              </a:rPr>
              <a:t>62.0%</a:t>
            </a:r>
            <a:endParaRPr lang="en-US" sz="4000" dirty="0"/>
          </a:p>
        </p:txBody>
      </p:sp>
      <p:sp>
        <p:nvSpPr>
          <p:cNvPr id="12" name="Tile target"/>
          <p:cNvSpPr txBox="1"/>
          <p:nvPr/>
        </p:nvSpPr>
        <p:spPr>
          <a:xfrm>
            <a:off x="3543300" y="2825496"/>
            <a:ext cx="2034540" cy="237744"/>
          </a:xfrm>
          <a:prstGeom prst="rect">
            <a:avLst/>
          </a:prstGeom>
          <a:noFill/>
          <a:ln/>
        </p:spPr>
        <p:txBody>
          <a:bodyPr wrap="square" lIns="0" tIns="0" rIns="0" bIns="0" rtlCol="0" anchor="ctr"/>
          <a:lstStyle/>
          <a:p>
            <a:pPr indent="0" marL="0">
              <a:buNone/>
            </a:pPr>
            <a:r>
              <a:rPr lang="en-US" sz="1200" dirty="0">
                <a:solidFill>
                  <a:srgbClr val="3D4453"/>
                </a:solidFill>
              </a:rPr>
              <a:t>Target 62%</a:t>
            </a:r>
            <a:endParaRPr lang="en-US" sz="1200" dirty="0"/>
          </a:p>
        </p:txBody>
      </p:sp>
      <p:sp>
        <p:nvSpPr>
          <p:cNvPr id="13" name="Tile status"/>
          <p:cNvSpPr txBox="1"/>
          <p:nvPr/>
        </p:nvSpPr>
        <p:spPr>
          <a:xfrm>
            <a:off x="3543300" y="3081528"/>
            <a:ext cx="2034540" cy="237744"/>
          </a:xfrm>
          <a:prstGeom prst="rect">
            <a:avLst/>
          </a:prstGeom>
          <a:noFill/>
          <a:ln/>
        </p:spPr>
        <p:txBody>
          <a:bodyPr wrap="square" lIns="0" tIns="0" rIns="0" bIns="0" rtlCol="0" anchor="ctr"/>
          <a:lstStyle/>
          <a:p>
            <a:pPr indent="0" marL="0">
              <a:buNone/>
            </a:pPr>
            <a:r>
              <a:rPr lang="en-US" sz="1200" b="1" dirty="0">
                <a:solidFill>
                  <a:srgbClr val="1E7F5C"/>
                </a:solidFill>
              </a:rPr>
              <a:t>6 of 13 on target</a:t>
            </a:r>
            <a:endParaRPr lang="en-US" sz="1200" dirty="0"/>
          </a:p>
        </p:txBody>
      </p:sp>
      <p:sp>
        <p:nvSpPr>
          <p:cNvPr id="14" name="KPI tile"/>
          <p:cNvSpPr/>
          <p:nvPr/>
        </p:nvSpPr>
        <p:spPr>
          <a:xfrm>
            <a:off x="548640" y="3749040"/>
            <a:ext cx="2491740" cy="1783080"/>
          </a:xfrm>
          <a:prstGeom prst="roundRect">
            <a:avLst>
              <a:gd name="adj" fmla="val 7692"/>
            </a:avLst>
          </a:prstGeom>
          <a:solidFill>
            <a:srgbClr val="F6F3EE"/>
          </a:solidFill>
          <a:ln/>
        </p:spPr>
      </p:sp>
      <p:sp>
        <p:nvSpPr>
          <p:cNvPr id="15" name="Tile label"/>
          <p:cNvSpPr txBox="1"/>
          <p:nvPr/>
        </p:nvSpPr>
        <p:spPr>
          <a:xfrm>
            <a:off x="777240" y="3950208"/>
            <a:ext cx="2034540" cy="237744"/>
          </a:xfrm>
          <a:prstGeom prst="rect">
            <a:avLst/>
          </a:prstGeom>
          <a:noFill/>
          <a:ln/>
        </p:spPr>
        <p:txBody>
          <a:bodyPr wrap="square" lIns="0" tIns="0" rIns="0" bIns="0" rtlCol="0" anchor="ctr"/>
          <a:lstStyle/>
          <a:p>
            <a:pPr indent="0" marL="0">
              <a:buNone/>
            </a:pPr>
            <a:r>
              <a:rPr lang="en-US" sz="1050" b="1" spc="200" kern="0" dirty="0">
                <a:solidFill>
                  <a:srgbClr val="6B7280"/>
                </a:solidFill>
              </a:rPr>
              <a:t>GSR 2026</a:t>
            </a:r>
            <a:endParaRPr lang="en-US" sz="1050" dirty="0"/>
          </a:p>
        </p:txBody>
      </p:sp>
      <p:sp>
        <p:nvSpPr>
          <p:cNvPr id="16" name="Tile number"/>
          <p:cNvSpPr txBox="1"/>
          <p:nvPr/>
        </p:nvSpPr>
        <p:spPr>
          <a:xfrm>
            <a:off x="777240" y="4206240"/>
            <a:ext cx="2034540" cy="658368"/>
          </a:xfrm>
          <a:prstGeom prst="rect">
            <a:avLst/>
          </a:prstGeom>
          <a:noFill/>
          <a:ln/>
        </p:spPr>
        <p:txBody>
          <a:bodyPr wrap="square" lIns="0" tIns="0" rIns="0" bIns="0" rtlCol="0" anchor="ctr"/>
          <a:lstStyle/>
          <a:p>
            <a:pPr indent="0" marL="0">
              <a:buNone/>
            </a:pPr>
            <a:r>
              <a:rPr lang="en-US" sz="4000" b="1" dirty="0">
                <a:solidFill>
                  <a:srgbClr val="B42318"/>
                </a:solidFill>
              </a:rPr>
              <a:t>7.3%</a:t>
            </a:r>
            <a:endParaRPr lang="en-US" sz="4000" dirty="0"/>
          </a:p>
        </p:txBody>
      </p:sp>
      <p:sp>
        <p:nvSpPr>
          <p:cNvPr id="17" name="Tile target"/>
          <p:cNvSpPr txBox="1"/>
          <p:nvPr/>
        </p:nvSpPr>
        <p:spPr>
          <a:xfrm>
            <a:off x="777240" y="4882896"/>
            <a:ext cx="2034540" cy="237744"/>
          </a:xfrm>
          <a:prstGeom prst="rect">
            <a:avLst/>
          </a:prstGeom>
          <a:noFill/>
          <a:ln/>
        </p:spPr>
        <p:txBody>
          <a:bodyPr wrap="square" lIns="0" tIns="0" rIns="0" bIns="0" rtlCol="0" anchor="ctr"/>
          <a:lstStyle/>
          <a:p>
            <a:pPr indent="0" marL="0">
              <a:buNone/>
            </a:pPr>
            <a:r>
              <a:rPr lang="en-US" sz="1200" dirty="0">
                <a:solidFill>
                  <a:srgbClr val="3D4453"/>
                </a:solidFill>
              </a:rPr>
              <a:t>Target 8% · leader 9%</a:t>
            </a:r>
            <a:endParaRPr lang="en-US" sz="1200" dirty="0"/>
          </a:p>
        </p:txBody>
      </p:sp>
      <p:sp>
        <p:nvSpPr>
          <p:cNvPr id="18" name="Tile status"/>
          <p:cNvSpPr txBox="1"/>
          <p:nvPr/>
        </p:nvSpPr>
        <p:spPr>
          <a:xfrm>
            <a:off x="777240" y="5138928"/>
            <a:ext cx="2034540" cy="237744"/>
          </a:xfrm>
          <a:prstGeom prst="rect">
            <a:avLst/>
          </a:prstGeom>
          <a:noFill/>
          <a:ln/>
        </p:spPr>
        <p:txBody>
          <a:bodyPr wrap="square" lIns="0" tIns="0" rIns="0" bIns="0" rtlCol="0" anchor="ctr"/>
          <a:lstStyle/>
          <a:p>
            <a:pPr indent="0" marL="0">
              <a:buNone/>
            </a:pPr>
            <a:r>
              <a:rPr lang="en-US" sz="1200" b="1" dirty="0">
                <a:solidFill>
                  <a:srgbClr val="B42318"/>
                </a:solidFill>
              </a:rPr>
              <a:t>4 of 13 on target</a:t>
            </a:r>
            <a:endParaRPr lang="en-US" sz="1200" dirty="0"/>
          </a:p>
        </p:txBody>
      </p:sp>
      <p:sp>
        <p:nvSpPr>
          <p:cNvPr id="19" name="KPI tile"/>
          <p:cNvSpPr/>
          <p:nvPr/>
        </p:nvSpPr>
        <p:spPr>
          <a:xfrm>
            <a:off x="3314700" y="3749040"/>
            <a:ext cx="2491740" cy="1783080"/>
          </a:xfrm>
          <a:prstGeom prst="roundRect">
            <a:avLst>
              <a:gd name="adj" fmla="val 7692"/>
            </a:avLst>
          </a:prstGeom>
          <a:solidFill>
            <a:srgbClr val="F6F3EE"/>
          </a:solidFill>
          <a:ln/>
        </p:spPr>
      </p:sp>
      <p:sp>
        <p:nvSpPr>
          <p:cNvPr id="20" name="Tile label"/>
          <p:cNvSpPr txBox="1"/>
          <p:nvPr/>
        </p:nvSpPr>
        <p:spPr>
          <a:xfrm>
            <a:off x="3543300" y="3950208"/>
            <a:ext cx="2034540" cy="237744"/>
          </a:xfrm>
          <a:prstGeom prst="rect">
            <a:avLst/>
          </a:prstGeom>
          <a:noFill/>
          <a:ln/>
        </p:spPr>
        <p:txBody>
          <a:bodyPr wrap="square" lIns="0" tIns="0" rIns="0" bIns="0" rtlCol="0" anchor="ctr"/>
          <a:lstStyle/>
          <a:p>
            <a:pPr indent="0" marL="0">
              <a:buNone/>
            </a:pPr>
            <a:r>
              <a:rPr lang="en-US" sz="1050" b="1" spc="200" kern="0" dirty="0">
                <a:solidFill>
                  <a:srgbClr val="6B7280"/>
                </a:solidFill>
              </a:rPr>
              <a:t>XM LINES</a:t>
            </a:r>
            <a:endParaRPr lang="en-US" sz="1050" dirty="0"/>
          </a:p>
        </p:txBody>
      </p:sp>
      <p:sp>
        <p:nvSpPr>
          <p:cNvPr id="21" name="Tile number"/>
          <p:cNvSpPr txBox="1"/>
          <p:nvPr/>
        </p:nvSpPr>
        <p:spPr>
          <a:xfrm>
            <a:off x="3543300" y="4206240"/>
            <a:ext cx="2034540" cy="658368"/>
          </a:xfrm>
          <a:prstGeom prst="rect">
            <a:avLst/>
          </a:prstGeom>
          <a:noFill/>
          <a:ln/>
        </p:spPr>
        <p:txBody>
          <a:bodyPr wrap="square" lIns="0" tIns="0" rIns="0" bIns="0" rtlCol="0" anchor="ctr"/>
          <a:lstStyle/>
          <a:p>
            <a:pPr indent="0" marL="0">
              <a:buNone/>
            </a:pPr>
            <a:r>
              <a:rPr lang="en-US" sz="4000" b="1" dirty="0">
                <a:solidFill>
                  <a:srgbClr val="B42318"/>
                </a:solidFill>
              </a:rPr>
              <a:t>41</a:t>
            </a:r>
            <a:endParaRPr lang="en-US" sz="4000" dirty="0"/>
          </a:p>
        </p:txBody>
      </p:sp>
      <p:sp>
        <p:nvSpPr>
          <p:cNvPr id="22" name="Tile target"/>
          <p:cNvSpPr txBox="1"/>
          <p:nvPr/>
        </p:nvSpPr>
        <p:spPr>
          <a:xfrm>
            <a:off x="3543300" y="4882896"/>
            <a:ext cx="2034540" cy="237744"/>
          </a:xfrm>
          <a:prstGeom prst="rect">
            <a:avLst/>
          </a:prstGeom>
          <a:noFill/>
          <a:ln/>
        </p:spPr>
        <p:txBody>
          <a:bodyPr wrap="square" lIns="0" tIns="0" rIns="0" bIns="0" rtlCol="0" anchor="ctr"/>
          <a:lstStyle/>
          <a:p>
            <a:pPr indent="0" marL="0">
              <a:buNone/>
            </a:pPr>
            <a:r>
              <a:rPr lang="en-US" sz="1200" dirty="0">
                <a:solidFill>
                  <a:srgbClr val="3D4453"/>
                </a:solidFill>
              </a:rPr>
              <a:t>Target 4 lines per agent</a:t>
            </a:r>
            <a:endParaRPr lang="en-US" sz="1200" dirty="0"/>
          </a:p>
        </p:txBody>
      </p:sp>
      <p:sp>
        <p:nvSpPr>
          <p:cNvPr id="23" name="Tile status"/>
          <p:cNvSpPr txBox="1"/>
          <p:nvPr/>
        </p:nvSpPr>
        <p:spPr>
          <a:xfrm>
            <a:off x="3543300" y="5138928"/>
            <a:ext cx="2034540" cy="237744"/>
          </a:xfrm>
          <a:prstGeom prst="rect">
            <a:avLst/>
          </a:prstGeom>
          <a:noFill/>
          <a:ln/>
        </p:spPr>
        <p:txBody>
          <a:bodyPr wrap="square" lIns="0" tIns="0" rIns="0" bIns="0" rtlCol="0" anchor="ctr"/>
          <a:lstStyle/>
          <a:p>
            <a:pPr indent="0" marL="0">
              <a:buNone/>
            </a:pPr>
            <a:r>
              <a:rPr lang="en-US" sz="1200" b="1" dirty="0">
                <a:solidFill>
                  <a:srgbClr val="B42318"/>
                </a:solidFill>
              </a:rPr>
              <a:t>6 of 13 at 4 or more</a:t>
            </a:r>
            <a:endParaRPr lang="en-US" sz="1200" dirty="0"/>
          </a:p>
        </p:txBody>
      </p:sp>
      <p:sp>
        <p:nvSpPr>
          <p:cNvPr id="24" name="Paragraph"/>
          <p:cNvSpPr txBox="1"/>
          <p:nvPr/>
        </p:nvSpPr>
        <p:spPr>
          <a:xfrm>
            <a:off x="548640" y="5669280"/>
            <a:ext cx="5257800" cy="457200"/>
          </a:xfrm>
          <a:prstGeom prst="rect">
            <a:avLst/>
          </a:prstGeom>
          <a:noFill/>
          <a:ln/>
        </p:spPr>
        <p:txBody>
          <a:bodyPr wrap="square" lIns="0" tIns="0" rIns="0" bIns="0" rtlCol="0" anchor="t"/>
          <a:lstStyle/>
          <a:p>
            <a:pPr indent="0" marL="0">
              <a:spcAft>
                <a:spcPts val="400"/>
              </a:spcAft>
              <a:buNone/>
            </a:pPr>
            <a:r>
              <a:rPr lang="en-US" sz="1100" dirty="0">
                <a:solidFill>
                  <a:srgbClr val="6B7280"/>
                </a:solidFill>
              </a:rPr>
              <a:t>Current roster, 13 agents, September 22 to October 14, TSX dashboard. tNPS is survey-weighted on 172 surveys, 2,317 calls.</a:t>
            </a:r>
            <a:endParaRPr lang="en-US" sz="1100" dirty="0"/>
          </a:p>
        </p:txBody>
      </p:sp>
      <p:sp>
        <p:nvSpPr>
          <p:cNvPr id="25" name="Chart card"/>
          <p:cNvSpPr/>
          <p:nvPr/>
        </p:nvSpPr>
        <p:spPr>
          <a:xfrm>
            <a:off x="6172200" y="1691640"/>
            <a:ext cx="5470855" cy="4434840"/>
          </a:xfrm>
          <a:prstGeom prst="roundRect">
            <a:avLst>
              <a:gd name="adj" fmla="val 3093"/>
            </a:avLst>
          </a:prstGeom>
          <a:solidFill>
            <a:srgbClr val="FFFFFF"/>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26" name="Chart heading"/>
          <p:cNvSpPr txBox="1"/>
          <p:nvPr/>
        </p:nvSpPr>
        <p:spPr>
          <a:xfrm>
            <a:off x="6446520" y="1892808"/>
            <a:ext cx="4922215" cy="292608"/>
          </a:xfrm>
          <a:prstGeom prst="rect">
            <a:avLst/>
          </a:prstGeom>
          <a:noFill/>
          <a:ln/>
        </p:spPr>
        <p:txBody>
          <a:bodyPr wrap="square" lIns="0" tIns="0" rIns="0" bIns="0" rtlCol="0" anchor="ctr"/>
          <a:lstStyle/>
          <a:p>
            <a:pPr indent="0" marL="0">
              <a:buNone/>
            </a:pPr>
            <a:r>
              <a:rPr lang="en-US" sz="1500" b="1" dirty="0">
                <a:solidFill>
                  <a:srgbClr val="121826"/>
                </a:solidFill>
              </a:rPr>
              <a:t>Leader KPI score, all 15 team leaders on the floor</a:t>
            </a:r>
            <a:endParaRPr lang="en-US" sz="1500" dirty="0"/>
          </a:p>
        </p:txBody>
      </p:sp>
      <p:sp>
        <p:nvSpPr>
          <p:cNvPr id="27" name="Chart caption"/>
          <p:cNvSpPr txBox="1"/>
          <p:nvPr/>
        </p:nvSpPr>
        <p:spPr>
          <a:xfrm>
            <a:off x="6446520" y="2203704"/>
            <a:ext cx="4922215" cy="256032"/>
          </a:xfrm>
          <a:prstGeom prst="rect">
            <a:avLst/>
          </a:prstGeom>
          <a:noFill/>
          <a:ln/>
        </p:spPr>
        <p:txBody>
          <a:bodyPr wrap="square" lIns="0" tIns="0" rIns="0" bIns="0" rtlCol="0" anchor="ctr"/>
          <a:lstStyle/>
          <a:p>
            <a:pPr indent="0" marL="0">
              <a:buNone/>
            </a:pPr>
            <a:r>
              <a:rPr lang="en-US" sz="1200" b="1" dirty="0">
                <a:solidFill>
                  <a:srgbClr val="C94A10"/>
                </a:solidFill>
              </a:rPr>
              <a:t>My team in orange: 77.5, rank 10 of 15. </a:t>
            </a:r>
            <a:pPr indent="0" marL="0">
              <a:buNone/>
            </a:pPr>
            <a:r>
              <a:rPr lang="en-US" sz="1200" dirty="0">
                <a:solidFill>
                  <a:srgbClr val="6B7280"/>
                </a:solidFill>
              </a:rPr>
              <a:t>Published October 14.</a:t>
            </a:r>
            <a:endParaRPr lang="en-US" sz="1200" dirty="0"/>
          </a:p>
        </p:txBody>
      </p:sp>
      <p:graphicFrame>
        <p:nvGraphicFramePr>
          <p:cNvPr id="28" name="Floor ranking chart" descr=""/>
          <p:cNvGraphicFramePr/>
          <p:nvPr/>
        </p:nvGraphicFramePr>
        <p:xfrm>
          <a:off x="6309360" y="2560320"/>
          <a:ext cx="5196535" cy="2331720"/>
        </p:xfrm>
        <a:graphic xmlns:a="http://schemas.openxmlformats.org/drawingml/2006/main">
          <a:graphicData uri="http://schemas.openxmlformats.org/drawingml/2006/chart">
            <c:chart xmlns:c="http://schemas.openxmlformats.org/drawingml/2006/chart" r:id="rId1"/>
          </a:graphicData>
        </a:graphic>
      </p:graphicFrame>
      <p:sp>
        <p:nvSpPr>
          <p:cNvPr id="29" name="Label"/>
          <p:cNvSpPr txBox="1"/>
          <p:nvPr/>
        </p:nvSpPr>
        <p:spPr>
          <a:xfrm>
            <a:off x="6446520" y="5029200"/>
            <a:ext cx="4922215" cy="237744"/>
          </a:xfrm>
          <a:prstGeom prst="rect">
            <a:avLst/>
          </a:prstGeom>
          <a:noFill/>
          <a:ln/>
        </p:spPr>
        <p:txBody>
          <a:bodyPr wrap="square" lIns="0" tIns="0" rIns="0" bIns="0" rtlCol="0" anchor="ctr"/>
          <a:lstStyle/>
          <a:p>
            <a:pPr indent="0" marL="0">
              <a:buNone/>
            </a:pPr>
            <a:r>
              <a:rPr lang="en-US" sz="1050" b="1" spc="200" kern="0" dirty="0">
                <a:solidFill>
                  <a:srgbClr val="6B7280"/>
                </a:solidFill>
              </a:rPr>
              <a:t>TEAM RANK OF 15 BY KPI, PUBLISHED OCTOBER 14</a:t>
            </a:r>
            <a:endParaRPr lang="en-US" sz="1050" dirty="0"/>
          </a:p>
        </p:txBody>
      </p:sp>
      <p:sp>
        <p:nvSpPr>
          <p:cNvPr id="30" name="Rank chip"/>
          <p:cNvSpPr/>
          <p:nvPr/>
        </p:nvSpPr>
        <p:spPr>
          <a:xfrm>
            <a:off x="6446520" y="5349240"/>
            <a:ext cx="1127684" cy="566928"/>
          </a:xfrm>
          <a:prstGeom prst="roundRect">
            <a:avLst>
              <a:gd name="adj" fmla="val 16129"/>
            </a:avLst>
          </a:prstGeom>
          <a:solidFill>
            <a:srgbClr val="FDE9DF"/>
          </a:solidFill>
          <a:ln/>
        </p:spPr>
      </p:sp>
      <p:sp>
        <p:nvSpPr>
          <p:cNvPr id="31" name="Rank chip text"/>
          <p:cNvSpPr txBox="1"/>
          <p:nvPr/>
        </p:nvSpPr>
        <p:spPr>
          <a:xfrm>
            <a:off x="6492240" y="5349240"/>
            <a:ext cx="1036244" cy="566928"/>
          </a:xfrm>
          <a:prstGeom prst="rect">
            <a:avLst/>
          </a:prstGeom>
          <a:noFill/>
          <a:ln/>
        </p:spPr>
        <p:txBody>
          <a:bodyPr wrap="square" lIns="0" tIns="0" rIns="0" bIns="0" rtlCol="0" anchor="ctr"/>
          <a:lstStyle/>
          <a:p>
            <a:pPr algn="ctr" indent="0" marL="0">
              <a:buNone/>
            </a:pPr>
            <a:r>
              <a:rPr lang="en-US" sz="1800" b="1" dirty="0">
                <a:solidFill>
                  <a:srgbClr val="B42318"/>
                </a:solidFill>
              </a:rPr>
              <a:t>#11</a:t>
            </a:r>
            <a:pPr algn="ctr" indent="0" marL="0">
              <a:buNone/>
            </a:pPr>
            <a:r>
              <a:rPr lang="en-US" sz="1200" dirty="0">
                <a:solidFill>
                  <a:srgbClr val="3D4453"/>
                </a:solidFill>
              </a:rPr>
              <a:t>  tNPS</a:t>
            </a:r>
            <a:endParaRPr lang="en-US" sz="1800" dirty="0"/>
          </a:p>
        </p:txBody>
      </p:sp>
      <p:sp>
        <p:nvSpPr>
          <p:cNvPr id="32" name="Rank chip"/>
          <p:cNvSpPr/>
          <p:nvPr/>
        </p:nvSpPr>
        <p:spPr>
          <a:xfrm>
            <a:off x="7711364" y="5349240"/>
            <a:ext cx="1127684" cy="566928"/>
          </a:xfrm>
          <a:prstGeom prst="roundRect">
            <a:avLst>
              <a:gd name="adj" fmla="val 16129"/>
            </a:avLst>
          </a:prstGeom>
          <a:solidFill>
            <a:srgbClr val="F6F3EE"/>
          </a:solidFill>
          <a:ln/>
        </p:spPr>
      </p:sp>
      <p:sp>
        <p:nvSpPr>
          <p:cNvPr id="33" name="Rank chip text"/>
          <p:cNvSpPr txBox="1"/>
          <p:nvPr/>
        </p:nvSpPr>
        <p:spPr>
          <a:xfrm>
            <a:off x="7757084" y="5349240"/>
            <a:ext cx="1036244" cy="566928"/>
          </a:xfrm>
          <a:prstGeom prst="rect">
            <a:avLst/>
          </a:prstGeom>
          <a:noFill/>
          <a:ln/>
        </p:spPr>
        <p:txBody>
          <a:bodyPr wrap="square" lIns="0" tIns="0" rIns="0" bIns="0" rtlCol="0" anchor="ctr"/>
          <a:lstStyle/>
          <a:p>
            <a:pPr algn="ctr" indent="0" marL="0">
              <a:buNone/>
            </a:pPr>
            <a:r>
              <a:rPr lang="en-US" sz="1800" b="1" dirty="0">
                <a:solidFill>
                  <a:srgbClr val="1E7F5C"/>
                </a:solidFill>
              </a:rPr>
              <a:t>#4</a:t>
            </a:r>
            <a:pPr algn="ctr" indent="0" marL="0">
              <a:buNone/>
            </a:pPr>
            <a:r>
              <a:rPr lang="en-US" sz="1200" dirty="0">
                <a:solidFill>
                  <a:srgbClr val="3D4453"/>
                </a:solidFill>
              </a:rPr>
              <a:t>  aiCR</a:t>
            </a:r>
            <a:endParaRPr lang="en-US" sz="1800" dirty="0"/>
          </a:p>
        </p:txBody>
      </p:sp>
      <p:sp>
        <p:nvSpPr>
          <p:cNvPr id="34" name="Rank chip"/>
          <p:cNvSpPr/>
          <p:nvPr/>
        </p:nvSpPr>
        <p:spPr>
          <a:xfrm>
            <a:off x="8976208" y="5349240"/>
            <a:ext cx="1127684" cy="566928"/>
          </a:xfrm>
          <a:prstGeom prst="roundRect">
            <a:avLst>
              <a:gd name="adj" fmla="val 16129"/>
            </a:avLst>
          </a:prstGeom>
          <a:solidFill>
            <a:srgbClr val="F6F3EE"/>
          </a:solidFill>
          <a:ln/>
        </p:spPr>
      </p:sp>
      <p:sp>
        <p:nvSpPr>
          <p:cNvPr id="35" name="Rank chip text"/>
          <p:cNvSpPr txBox="1"/>
          <p:nvPr/>
        </p:nvSpPr>
        <p:spPr>
          <a:xfrm>
            <a:off x="9021928" y="5349240"/>
            <a:ext cx="1036244" cy="566928"/>
          </a:xfrm>
          <a:prstGeom prst="rect">
            <a:avLst/>
          </a:prstGeom>
          <a:noFill/>
          <a:ln/>
        </p:spPr>
        <p:txBody>
          <a:bodyPr wrap="square" lIns="0" tIns="0" rIns="0" bIns="0" rtlCol="0" anchor="ctr"/>
          <a:lstStyle/>
          <a:p>
            <a:pPr algn="ctr" indent="0" marL="0">
              <a:buNone/>
            </a:pPr>
            <a:r>
              <a:rPr lang="en-US" sz="1800" b="1" dirty="0">
                <a:solidFill>
                  <a:srgbClr val="1E7F5C"/>
                </a:solidFill>
              </a:rPr>
              <a:t>#4</a:t>
            </a:r>
            <a:pPr algn="ctr" indent="0" marL="0">
              <a:buNone/>
            </a:pPr>
            <a:r>
              <a:rPr lang="en-US" sz="1200" dirty="0">
                <a:solidFill>
                  <a:srgbClr val="3D4453"/>
                </a:solidFill>
              </a:rPr>
              <a:t>  GSR</a:t>
            </a:r>
            <a:endParaRPr lang="en-US" sz="1800" dirty="0"/>
          </a:p>
        </p:txBody>
      </p:sp>
      <p:sp>
        <p:nvSpPr>
          <p:cNvPr id="36" name="Rank chip"/>
          <p:cNvSpPr/>
          <p:nvPr/>
        </p:nvSpPr>
        <p:spPr>
          <a:xfrm>
            <a:off x="10241051" y="5349240"/>
            <a:ext cx="1127684" cy="566928"/>
          </a:xfrm>
          <a:prstGeom prst="roundRect">
            <a:avLst>
              <a:gd name="adj" fmla="val 16129"/>
            </a:avLst>
          </a:prstGeom>
          <a:solidFill>
            <a:srgbClr val="F6F3EE"/>
          </a:solidFill>
          <a:ln/>
        </p:spPr>
      </p:sp>
      <p:sp>
        <p:nvSpPr>
          <p:cNvPr id="37" name="Rank chip text"/>
          <p:cNvSpPr txBox="1"/>
          <p:nvPr/>
        </p:nvSpPr>
        <p:spPr>
          <a:xfrm>
            <a:off x="10286771" y="5349240"/>
            <a:ext cx="1036244" cy="566928"/>
          </a:xfrm>
          <a:prstGeom prst="rect">
            <a:avLst/>
          </a:prstGeom>
          <a:noFill/>
          <a:ln/>
        </p:spPr>
        <p:txBody>
          <a:bodyPr wrap="square" lIns="0" tIns="0" rIns="0" bIns="0" rtlCol="0" anchor="ctr"/>
          <a:lstStyle/>
          <a:p>
            <a:pPr algn="ctr" indent="0" marL="0">
              <a:buNone/>
            </a:pPr>
            <a:r>
              <a:rPr lang="en-US" sz="1800" b="1" dirty="0">
                <a:solidFill>
                  <a:srgbClr val="1E7F5C"/>
                </a:solidFill>
              </a:rPr>
              <a:t>#5</a:t>
            </a:r>
            <a:pPr algn="ctr" indent="0" marL="0">
              <a:buNone/>
            </a:pPr>
            <a:r>
              <a:rPr lang="en-US" sz="1200" dirty="0">
                <a:solidFill>
                  <a:srgbClr val="3D4453"/>
                </a:solidFill>
              </a:rPr>
              <a:t>  XM 3+</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C94A10"/>
                </a:solidFill>
              </a:rPr>
              <a:t>THE OFFENDERS AND WHAT I AM DOING</a:t>
            </a:r>
            <a:endParaRPr lang="en-US" sz="1200" dirty="0"/>
          </a:p>
        </p:txBody>
      </p:sp>
      <p:sp>
        <p:nvSpPr>
          <p:cNvPr id="3" name="Text 0"/>
          <p:cNvSpPr/>
          <p:nvPr>
            <p:ph idx="100" type="title" hasCustomPrompt="1"/>
          </p:nvPr>
        </p:nvSpPr>
        <p:spPr>
          <a:xfrm>
            <a:off x="548640" y="74980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latin typeface="Calibri" pitchFamily="34" charset="0"/>
                <a:ea typeface="Calibri" pitchFamily="34" charset="-122"/>
                <a:cs typeface="Calibri" pitchFamily="34" charset="-120"/>
              </a:rPr>
              <a:t>Five agents first, each with one focus and a follow-up</a:t>
            </a:r>
            <a:endParaRPr lang="en-US" sz="3200" dirty="0"/>
          </a:p>
        </p:txBody>
      </p:sp>
      <p:graphicFrame>
        <p:nvGraphicFramePr>
          <p:cNvPr id="4" name="Offenders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783080"/>
                <a:gridCol w="2971800"/>
                <a:gridCol w="2194560"/>
                <a:gridCol w="2240280"/>
                <a:gridCol w="1904695"/>
              </a:tblGrid>
              <a:tr h="40233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Agent</a:t>
                      </a:r>
                      <a:endParaRPr lang="en-US" sz="1250" dirty="0">
                        <a:latin typeface="Calibri" charset="0"/>
                        <a:ea typeface="Calibri" charset="0"/>
                        <a:cs typeface="Calibri" charset="0"/>
                      </a:endParaRPr>
                    </a:p>
                  </a:txBody>
                  <a:tcPr marL="109728" marR="109728" marT="64008" marB="64008" anchor="ctr">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gap</a:t>
                      </a:r>
                      <a:endParaRPr lang="en-US" sz="1250" dirty="0">
                        <a:latin typeface="Calibri" charset="0"/>
                        <a:ea typeface="Calibri" charset="0"/>
                        <a:cs typeface="Calibri" charset="0"/>
                      </a:endParaRPr>
                    </a:p>
                  </a:txBody>
                  <a:tcPr marL="109728" marR="109728" marT="64008" marB="64008" anchor="ctr">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Focus behavior</a:t>
                      </a:r>
                      <a:endParaRPr lang="en-US" sz="1250" dirty="0">
                        <a:latin typeface="Calibri" charset="0"/>
                        <a:ea typeface="Calibri" charset="0"/>
                        <a:cs typeface="Calibri" charset="0"/>
                      </a:endParaRPr>
                    </a:p>
                  </a:txBody>
                  <a:tcPr marL="109728" marR="109728" marT="64008" marB="64008" anchor="ctr">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Action</a:t>
                      </a:r>
                      <a:endParaRPr lang="en-US" sz="1250" dirty="0">
                        <a:latin typeface="Calibri" charset="0"/>
                        <a:ea typeface="Calibri" charset="0"/>
                        <a:cs typeface="Calibri" charset="0"/>
                      </a:endParaRPr>
                    </a:p>
                  </a:txBody>
                  <a:tcPr marL="109728" marR="109728" marT="64008" marB="64008" anchor="ctr">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Follow-up</a:t>
                      </a:r>
                      <a:endParaRPr lang="en-US" sz="1250" dirty="0">
                        <a:latin typeface="Calibri" charset="0"/>
                        <a:ea typeface="Calibri" charset="0"/>
                        <a:cs typeface="Calibri" charset="0"/>
                      </a:endParaRPr>
                    </a:p>
                  </a:txBody>
                  <a:tcPr marL="109728" marR="109728" marT="64008" marB="64008" anchor="ctr">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r>
              <a:tr h="603504">
                <a:tc>
                  <a:txBody>
                    <a:bodyPr/>
                    <a:lstStyle/>
                    <a:p>
                      <a:pPr indent="0" marL="0">
                        <a:buNone/>
                      </a:pPr>
                      <a:r>
                        <a:rPr lang="en-US" sz="1300" b="1" dirty="0">
                          <a:solidFill>
                            <a:srgbClr val="121826"/>
                          </a:solidFill>
                          <a:latin typeface="Calibri" pitchFamily="34" charset="0"/>
                          <a:ea typeface="Calibri" pitchFamily="34" charset="-122"/>
                          <a:cs typeface="Calibri" pitchFamily="34" charset="-120"/>
                        </a:rPr>
                        <a:t>Mohammed Ammar</a:t>
                      </a:r>
                      <a:endParaRPr lang="en-US" sz="1200" dirty="0">
                        <a:latin typeface="Calibri" charset="0"/>
                        <a:ea typeface="Calibri" charset="0"/>
                        <a:cs typeface="Calibri" charset="0"/>
                      </a:endParaRPr>
                    </a:p>
                    <a:p>
                      <a:pPr indent="0" marL="0">
                        <a:buNone/>
                      </a:pPr>
                      <a:r>
                        <a:rPr lang="en-US" sz="1050" b="1" dirty="0">
                          <a:solidFill>
                            <a:srgbClr val="C94A10"/>
                          </a:solidFill>
                          <a:latin typeface="Calibri" pitchFamily="34" charset="0"/>
                          <a:ea typeface="Calibri" pitchFamily="34" charset="-122"/>
                          <a:cs typeface="Calibri" pitchFamily="34" charset="-120"/>
                        </a:rPr>
                        <a:t>CAUSE KNOWN</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tNPS −37.5 on 16 surveys</a:t>
                      </a:r>
                      <a:endParaRPr lang="en-US" sz="1200" dirty="0">
                        <a:latin typeface="Calibri" charset="0"/>
                        <a:ea typeface="Calibri" charset="0"/>
                        <a:cs typeface="Calibri" charset="0"/>
                      </a:endParaRPr>
                    </a:p>
                    <a:p>
                      <a:pPr indent="0" marL="0">
                        <a:buNone/>
                      </a:pPr>
                      <a:r>
                        <a:rPr lang="en-US" sz="1200" dirty="0">
                          <a:solidFill>
                            <a:srgbClr val="3D4453"/>
                          </a:solidFill>
                          <a:latin typeface="Calibri" pitchFamily="34" charset="0"/>
                          <a:ea typeface="Calibri" pitchFamily="34" charset="-122"/>
                          <a:cs typeface="Calibri" pitchFamily="34" charset="-120"/>
                        </a:rPr>
                        <a:t>aiCR 61.3%, 5 XM lines, rank 54 of 220</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Behavior, not knowledge: expectations and the close</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One focus: clear next steps and timeframes before the close</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I listen to 2 calls a week, side by side</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r>
              <a:tr h="676656">
                <a:tc>
                  <a:txBody>
                    <a:bodyPr/>
                    <a:lstStyle/>
                    <a:p>
                      <a:pPr indent="0" marL="0">
                        <a:buNone/>
                      </a:pPr>
                      <a:r>
                        <a:rPr lang="en-US" sz="1300" b="1" dirty="0">
                          <a:solidFill>
                            <a:srgbClr val="121826"/>
                          </a:solidFill>
                          <a:latin typeface="Calibri" pitchFamily="34" charset="0"/>
                          <a:ea typeface="Calibri" pitchFamily="34" charset="-122"/>
                          <a:cs typeface="Calibri" pitchFamily="34" charset="-120"/>
                        </a:rPr>
                        <a:t>Jana Soliman</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tNPS −42.9 on 7 surveys</a:t>
                      </a:r>
                      <a:endParaRPr lang="en-US" sz="1200" dirty="0">
                        <a:latin typeface="Calibri" charset="0"/>
                        <a:ea typeface="Calibri" charset="0"/>
                        <a:cs typeface="Calibri" charset="0"/>
                      </a:endParaRPr>
                    </a:p>
                    <a:p>
                      <a:pPr indent="0" marL="0">
                        <a:buNone/>
                      </a:pPr>
                      <a:r>
                        <a:rPr lang="en-US" sz="1200" dirty="0">
                          <a:solidFill>
                            <a:srgbClr val="3D4453"/>
                          </a:solidFill>
                          <a:latin typeface="Calibri" pitchFamily="34" charset="0"/>
                          <a:ea typeface="Calibri" pitchFamily="34" charset="-122"/>
                          <a:cs typeface="Calibri" pitchFamily="34" charset="-120"/>
                        </a:rPr>
                        <a:t>aiCR 58.3%, GSR 4.2%</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Resolution first: the right ITG, end to end</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Call review, then side by side with an ITG checklist</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ITG checked on every call I review</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r>
              <a:tr h="603504">
                <a:tc>
                  <a:txBody>
                    <a:bodyPr/>
                    <a:lstStyle/>
                    <a:p>
                      <a:pPr indent="0" marL="0">
                        <a:buNone/>
                      </a:pPr>
                      <a:r>
                        <a:rPr lang="en-US" sz="1300" b="1" dirty="0">
                          <a:solidFill>
                            <a:srgbClr val="121826"/>
                          </a:solidFill>
                          <a:latin typeface="Calibri" pitchFamily="34" charset="0"/>
                          <a:ea typeface="Calibri" pitchFamily="34" charset="-122"/>
                          <a:cs typeface="Calibri" pitchFamily="34" charset="-120"/>
                        </a:rPr>
                        <a:t>Mohamed Mahmoud</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tNPS −20 on 15 surveys</a:t>
                      </a:r>
                      <a:endParaRPr lang="en-US" sz="1200" dirty="0">
                        <a:latin typeface="Calibri" charset="0"/>
                        <a:ea typeface="Calibri" charset="0"/>
                        <a:cs typeface="Calibri" charset="0"/>
                      </a:endParaRPr>
                    </a:p>
                    <a:p>
                      <a:pPr indent="0" marL="0">
                        <a:buNone/>
                      </a:pPr>
                      <a:r>
                        <a:rPr lang="en-US" sz="1200" dirty="0">
                          <a:solidFill>
                            <a:srgbClr val="3D4453"/>
                          </a:solidFill>
                          <a:latin typeface="Calibri" pitchFamily="34" charset="0"/>
                          <a:ea typeface="Calibri" pitchFamily="34" charset="-122"/>
                          <a:cs typeface="Calibri" pitchFamily="34" charset="-120"/>
                        </a:rPr>
                        <a:t>1 XM line. aiCR is fine at 65.4%</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Ownership language and assurance</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Then plant the mobile offer after the fix</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2 to 4 calls before each weekly session</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r>
              <a:tr h="603504">
                <a:tc>
                  <a:txBody>
                    <a:bodyPr/>
                    <a:lstStyle/>
                    <a:p>
                      <a:pPr indent="0" marL="0">
                        <a:buNone/>
                      </a:pPr>
                      <a:r>
                        <a:rPr lang="en-US" sz="1300" b="1" dirty="0">
                          <a:solidFill>
                            <a:srgbClr val="121826"/>
                          </a:solidFill>
                          <a:latin typeface="Calibri" pitchFamily="34" charset="0"/>
                          <a:ea typeface="Calibri" pitchFamily="34" charset="-122"/>
                          <a:cs typeface="Calibri" pitchFamily="34" charset="-120"/>
                        </a:rPr>
                        <a:t>Ahmed Elbanna</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tNPS −15.4 on 13 surveys</a:t>
                      </a:r>
                      <a:endParaRPr lang="en-US" sz="1200" dirty="0">
                        <a:latin typeface="Calibri" charset="0"/>
                        <a:ea typeface="Calibri" charset="0"/>
                        <a:cs typeface="Calibri" charset="0"/>
                      </a:endParaRPr>
                    </a:p>
                    <a:p>
                      <a:pPr indent="0" marL="0">
                        <a:buNone/>
                      </a:pPr>
                      <a:r>
                        <a:rPr lang="en-US" sz="1200" dirty="0">
                          <a:solidFill>
                            <a:srgbClr val="3D4453"/>
                          </a:solidFill>
                          <a:latin typeface="Calibri" pitchFamily="34" charset="0"/>
                          <a:ea typeface="Calibri" pitchFamily="34" charset="-122"/>
                          <a:cs typeface="Calibri" pitchFamily="34" charset="-120"/>
                        </a:rPr>
                        <a:t>aiCR 58.1%, lowest on the team, 1 XM line</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Discovery, and confirming the fix before closing</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Coach the confirm step to cut the repeat-call risk</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Fix confirmed on every call I review</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r>
              <a:tr h="603504">
                <a:tc>
                  <a:txBody>
                    <a:bodyPr/>
                    <a:lstStyle/>
                    <a:p>
                      <a:pPr indent="0" marL="0">
                        <a:buNone/>
                      </a:pPr>
                      <a:r>
                        <a:rPr lang="en-US" sz="1300" b="1" dirty="0">
                          <a:solidFill>
                            <a:srgbClr val="121826"/>
                          </a:solidFill>
                          <a:latin typeface="Calibri" pitchFamily="34" charset="0"/>
                          <a:ea typeface="Calibri" pitchFamily="34" charset="-122"/>
                          <a:cs typeface="Calibri" pitchFamily="34" charset="-120"/>
                        </a:rPr>
                        <a:t>Mohamed Rashwan</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0 XM lines, GSR 2.5%</a:t>
                      </a:r>
                      <a:endParaRPr lang="en-US" sz="1200" dirty="0">
                        <a:latin typeface="Calibri" charset="0"/>
                        <a:ea typeface="Calibri" charset="0"/>
                        <a:cs typeface="Calibri" charset="0"/>
                      </a:endParaRPr>
                    </a:p>
                    <a:p>
                      <a:pPr indent="0" marL="0">
                        <a:buNone/>
                      </a:pPr>
                      <a:r>
                        <a:rPr lang="en-US" sz="1200" dirty="0">
                          <a:solidFill>
                            <a:srgbClr val="3D4453"/>
                          </a:solidFill>
                          <a:latin typeface="Calibri" pitchFamily="34" charset="0"/>
                          <a:ea typeface="Calibri" pitchFamily="34" charset="-122"/>
                          <a:cs typeface="Calibri" pitchFamily="34" charset="-120"/>
                        </a:rPr>
                        <a:t>tNPS 100 on 8 surveys</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Earn the offer after the fix</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XM and GSR coaching: model the offer, then role play</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indent="0" marL="0">
                        <a:buNone/>
                      </a:pPr>
                      <a:r>
                        <a:rPr lang="en-US" sz="1200" dirty="0">
                          <a:solidFill>
                            <a:srgbClr val="3D4453"/>
                          </a:solidFill>
                          <a:latin typeface="Calibri" pitchFamily="34" charset="0"/>
                          <a:ea typeface="Calibri" pitchFamily="34" charset="-122"/>
                          <a:cs typeface="Calibri" pitchFamily="34" charset="-120"/>
                        </a:rPr>
                        <a:t>XM lines and GSR on the dashboard each week</a:t>
                      </a:r>
                      <a:endParaRPr lang="en-US" sz="1200" dirty="0">
                        <a:latin typeface="Calibri" charset="0"/>
                        <a:ea typeface="Calibri" charset="0"/>
                        <a:cs typeface="Calibri" charset="0"/>
                      </a:endParaRPr>
                    </a:p>
                  </a:txBody>
                  <a:tcPr marL="109728" marR="109728" marT="64008" marB="64008" anchor="t">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r>
            </a:tbl>
          </a:graphicData>
        </a:graphic>
      </p:graphicFrame>
      <p:sp>
        <p:nvSpPr>
          <p:cNvPr id="5" name="Next in line band"/>
          <p:cNvSpPr/>
          <p:nvPr/>
        </p:nvSpPr>
        <p:spPr>
          <a:xfrm>
            <a:off x="548640" y="5532120"/>
            <a:ext cx="11094415" cy="548640"/>
          </a:xfrm>
          <a:prstGeom prst="roundRect">
            <a:avLst>
              <a:gd name="adj" fmla="val 25000"/>
            </a:avLst>
          </a:prstGeom>
          <a:solidFill>
            <a:srgbClr val="F6F3EE"/>
          </a:solidFill>
          <a:ln/>
        </p:spPr>
      </p:sp>
      <p:sp>
        <p:nvSpPr>
          <p:cNvPr id="6" name="Icon circle"/>
          <p:cNvSpPr/>
          <p:nvPr/>
        </p:nvSpPr>
        <p:spPr>
          <a:xfrm>
            <a:off x="722376" y="5614416"/>
            <a:ext cx="384048" cy="384048"/>
          </a:xfrm>
          <a:prstGeom prst="ellipse">
            <a:avLst/>
          </a:prstGeom>
          <a:solidFill>
            <a:srgbClr val="F26522"/>
          </a:solidFill>
          <a:ln/>
        </p:spPr>
      </p:sp>
      <p:pic>
        <p:nvPicPr>
          <p:cNvPr id="7" name="Icon" descr="preencoded.png">    </p:cNvPr>
          <p:cNvPicPr>
            <a:picLocks noChangeAspect="1"/>
          </p:cNvPicPr>
          <p:nvPr/>
        </p:nvPicPr>
        <p:blipFill>
          <a:blip r:embed="rId1"/>
          <a:stretch>
            <a:fillRect/>
          </a:stretch>
        </p:blipFill>
        <p:spPr>
          <a:xfrm>
            <a:off x="814548" y="5706588"/>
            <a:ext cx="199705" cy="199705"/>
          </a:xfrm>
          <a:prstGeom prst="rect">
            <a:avLst/>
          </a:prstGeom>
        </p:spPr>
      </p:pic>
      <p:sp>
        <p:nvSpPr>
          <p:cNvPr id="8" name="Next in line text"/>
          <p:cNvSpPr txBox="1"/>
          <p:nvPr/>
        </p:nvSpPr>
        <p:spPr>
          <a:xfrm>
            <a:off x="1280160" y="5532120"/>
            <a:ext cx="10180015" cy="548640"/>
          </a:xfrm>
          <a:prstGeom prst="rect">
            <a:avLst/>
          </a:prstGeom>
          <a:noFill/>
          <a:ln/>
        </p:spPr>
        <p:txBody>
          <a:bodyPr wrap="square" lIns="0" tIns="0" rIns="0" bIns="0" rtlCol="0" anchor="ctr"/>
          <a:lstStyle/>
          <a:p>
            <a:pPr indent="0" marL="0">
              <a:buNone/>
            </a:pPr>
            <a:r>
              <a:rPr lang="en-US" sz="1300" b="1" dirty="0">
                <a:solidFill>
                  <a:srgbClr val="121826"/>
                </a:solidFill>
              </a:rPr>
              <a:t>Next in line: </a:t>
            </a:r>
            <a:pPr indent="0" marL="0">
              <a:buNone/>
            </a:pPr>
            <a:r>
              <a:rPr lang="en-US" sz="1300" dirty="0">
                <a:solidFill>
                  <a:srgbClr val="3D4453"/>
                </a:solidFill>
              </a:rPr>
              <a:t>Ahmed Ali, Abdelwahab Elshafaay and Omar Kamel sit at tNPS 0 on 38 surveys.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C94A10"/>
                </a:solidFill>
              </a:rPr>
              <a:t>MAPPED TO THE FIVE COACHING CALIBRATION FOCUS AREAS</a:t>
            </a:r>
            <a:endParaRPr lang="en-US" sz="1200" dirty="0"/>
          </a:p>
        </p:txBody>
      </p:sp>
      <p:sp>
        <p:nvSpPr>
          <p:cNvPr id="3" name="Text 0"/>
          <p:cNvSpPr/>
          <p:nvPr>
            <p:ph idx="100" type="title" hasCustomPrompt="1"/>
          </p:nvPr>
        </p:nvSpPr>
        <p:spPr>
          <a:xfrm>
            <a:off x="548640" y="74980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latin typeface="Calibri" pitchFamily="34" charset="0"/>
                <a:ea typeface="Calibri" pitchFamily="34" charset="-122"/>
                <a:cs typeface="Calibri" pitchFamily="34" charset="-120"/>
              </a:rPr>
              <a:t>How I prepare and coach, one behavior at a time</a:t>
            </a:r>
            <a:endParaRPr lang="en-US" sz="3200" dirty="0"/>
          </a:p>
        </p:txBody>
      </p:sp>
      <p:sp>
        <p:nvSpPr>
          <p:cNvPr id="4" name="Focus area 1 card"/>
          <p:cNvSpPr/>
          <p:nvPr/>
        </p:nvSpPr>
        <p:spPr>
          <a:xfrm>
            <a:off x="548640" y="1691640"/>
            <a:ext cx="2036003" cy="3154680"/>
          </a:xfrm>
          <a:prstGeom prst="roundRect">
            <a:avLst>
              <a:gd name="adj" fmla="val 6737"/>
            </a:avLst>
          </a:prstGeom>
          <a:solidFill>
            <a:srgbClr val="F6F3EE"/>
          </a:solidFill>
          <a:ln/>
        </p:spPr>
      </p:sp>
      <p:sp>
        <p:nvSpPr>
          <p:cNvPr id="5" name="Icon circle"/>
          <p:cNvSpPr/>
          <p:nvPr/>
        </p:nvSpPr>
        <p:spPr>
          <a:xfrm>
            <a:off x="731520" y="1874520"/>
            <a:ext cx="457200" cy="457200"/>
          </a:xfrm>
          <a:prstGeom prst="ellipse">
            <a:avLst/>
          </a:prstGeom>
          <a:solidFill>
            <a:srgbClr val="FDE9DF"/>
          </a:solidFill>
          <a:ln/>
        </p:spPr>
      </p:sp>
      <p:pic>
        <p:nvPicPr>
          <p:cNvPr id="6" name="Icon" descr="preencoded.png">    </p:cNvPr>
          <p:cNvPicPr>
            <a:picLocks noChangeAspect="1"/>
          </p:cNvPicPr>
          <p:nvPr/>
        </p:nvPicPr>
        <p:blipFill>
          <a:blip r:embed="rId1"/>
          <a:stretch>
            <a:fillRect/>
          </a:stretch>
        </p:blipFill>
        <p:spPr>
          <a:xfrm>
            <a:off x="841248" y="1984248"/>
            <a:ext cx="237744" cy="237744"/>
          </a:xfrm>
          <a:prstGeom prst="rect">
            <a:avLst/>
          </a:prstGeom>
        </p:spPr>
      </p:pic>
      <p:sp>
        <p:nvSpPr>
          <p:cNvPr id="7" name="Step number"/>
          <p:cNvSpPr txBox="1"/>
          <p:nvPr/>
        </p:nvSpPr>
        <p:spPr>
          <a:xfrm>
            <a:off x="2036003" y="1874520"/>
            <a:ext cx="365760" cy="457200"/>
          </a:xfrm>
          <a:prstGeom prst="rect">
            <a:avLst/>
          </a:prstGeom>
          <a:noFill/>
          <a:ln/>
        </p:spPr>
        <p:txBody>
          <a:bodyPr wrap="square" lIns="0" tIns="0" rIns="0" bIns="0" rtlCol="0" anchor="ctr"/>
          <a:lstStyle/>
          <a:p>
            <a:pPr algn="r" indent="0" marL="0">
              <a:buNone/>
            </a:pPr>
            <a:r>
              <a:rPr lang="en-US" sz="2600" b="1" dirty="0">
                <a:solidFill>
                  <a:srgbClr val="F26522"/>
                </a:solidFill>
              </a:rPr>
              <a:t>1</a:t>
            </a:r>
            <a:endParaRPr lang="en-US" sz="2600" dirty="0"/>
          </a:p>
        </p:txBody>
      </p:sp>
      <p:sp>
        <p:nvSpPr>
          <p:cNvPr id="8" name="Focus area title"/>
          <p:cNvSpPr txBox="1"/>
          <p:nvPr/>
        </p:nvSpPr>
        <p:spPr>
          <a:xfrm>
            <a:off x="731520" y="2441448"/>
            <a:ext cx="1670243" cy="457200"/>
          </a:xfrm>
          <a:prstGeom prst="rect">
            <a:avLst/>
          </a:prstGeom>
          <a:noFill/>
          <a:ln/>
        </p:spPr>
        <p:txBody>
          <a:bodyPr wrap="square" lIns="0" tIns="0" rIns="0" bIns="0" rtlCol="0" anchor="t"/>
          <a:lstStyle/>
          <a:p>
            <a:pPr indent="0" marL="0">
              <a:buNone/>
            </a:pPr>
            <a:r>
              <a:rPr lang="en-US" sz="1400" b="1" dirty="0">
                <a:solidFill>
                  <a:srgbClr val="121826"/>
                </a:solidFill>
              </a:rPr>
              <a:t>Preparation and data</a:t>
            </a:r>
            <a:endParaRPr lang="en-US" sz="1400" dirty="0"/>
          </a:p>
        </p:txBody>
      </p:sp>
      <p:sp>
        <p:nvSpPr>
          <p:cNvPr id="9" name="Focus area list"/>
          <p:cNvSpPr txBox="1"/>
          <p:nvPr/>
        </p:nvSpPr>
        <p:spPr>
          <a:xfrm>
            <a:off x="731520" y="2935224"/>
            <a:ext cx="1715963" cy="18288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D4453"/>
                </a:solidFill>
              </a:rPr>
              <a:t>Tableau, Power BI and i3 before every session</a:t>
            </a:r>
            <a:endParaRPr lang="en-US" sz="1150" dirty="0"/>
          </a:p>
          <a:p>
            <a:pPr marL="177800" indent="-177800">
              <a:spcAft>
                <a:spcPts val="400"/>
              </a:spcAft>
              <a:buSzPct val="100000"/>
              <a:buChar char="•"/>
            </a:pPr>
            <a:r>
              <a:rPr lang="en-US" sz="1150" dirty="0">
                <a:solidFill>
                  <a:srgbClr val="3D4453"/>
                </a:solidFill>
              </a:rPr>
              <a:t>Pick the one KPI gap</a:t>
            </a:r>
            <a:endParaRPr lang="en-US" sz="1150" dirty="0"/>
          </a:p>
          <a:p>
            <a:pPr marL="177800" indent="-177800">
              <a:spcAft>
                <a:spcPts val="400"/>
              </a:spcAft>
              <a:buSzPct val="100000"/>
              <a:buChar char="•"/>
            </a:pPr>
            <a:r>
              <a:rPr lang="en-US" sz="1150" dirty="0">
                <a:solidFill>
                  <a:srgbClr val="3D4453"/>
                </a:solidFill>
              </a:rPr>
              <a:t>Listen to 2 to 4 calls per agent</a:t>
            </a:r>
            <a:endParaRPr lang="en-US" sz="1150" dirty="0"/>
          </a:p>
          <a:p>
            <a:pPr marL="177800" indent="-177800">
              <a:spcAft>
                <a:spcPts val="400"/>
              </a:spcAft>
              <a:buSzPct val="100000"/>
              <a:buChar char="•"/>
            </a:pPr>
            <a:r>
              <a:rPr lang="en-US" sz="1150" dirty="0">
                <a:solidFill>
                  <a:srgbClr val="3D4453"/>
                </a:solidFill>
              </a:rPr>
              <a:t>Self-check with my Coaching Intelligence toolkit</a:t>
            </a:r>
            <a:endParaRPr lang="en-US" sz="1150" dirty="0"/>
          </a:p>
        </p:txBody>
      </p:sp>
      <p:sp>
        <p:nvSpPr>
          <p:cNvPr id="10" name="Ammar example 1"/>
          <p:cNvSpPr/>
          <p:nvPr/>
        </p:nvSpPr>
        <p:spPr>
          <a:xfrm>
            <a:off x="548640" y="5376672"/>
            <a:ext cx="2036003" cy="749808"/>
          </a:xfrm>
          <a:prstGeom prst="roundRect">
            <a:avLst>
              <a:gd name="adj" fmla="val 18293"/>
            </a:avLst>
          </a:prstGeom>
          <a:solidFill>
            <a:srgbClr val="121826"/>
          </a:solidFill>
          <a:ln/>
        </p:spPr>
      </p:sp>
      <p:sp>
        <p:nvSpPr>
          <p:cNvPr id="11" name="Paragraph"/>
          <p:cNvSpPr txBox="1"/>
          <p:nvPr/>
        </p:nvSpPr>
        <p:spPr>
          <a:xfrm>
            <a:off x="731520" y="5449824"/>
            <a:ext cx="1670243" cy="603504"/>
          </a:xfrm>
          <a:prstGeom prst="rect">
            <a:avLst/>
          </a:prstGeom>
          <a:noFill/>
          <a:ln/>
        </p:spPr>
        <p:txBody>
          <a:bodyPr wrap="square" lIns="0" tIns="0" rIns="0" bIns="0" rtlCol="0" anchor="ctr"/>
          <a:lstStyle/>
          <a:p>
            <a:pPr indent="0" marL="0">
              <a:buNone/>
            </a:pPr>
            <a:r>
              <a:rPr lang="en-US" sz="1150" dirty="0">
                <a:solidFill>
                  <a:srgbClr val="FFFFFF"/>
                </a:solidFill>
              </a:rPr>
              <a:t>tNPS −37.5 on 16 surveys, with aiCR 61.3% and 5 XM lines</a:t>
            </a:r>
            <a:endParaRPr lang="en-US" sz="1150" dirty="0"/>
          </a:p>
        </p:txBody>
      </p:sp>
      <p:sp>
        <p:nvSpPr>
          <p:cNvPr id="12" name="Focus area 2 card"/>
          <p:cNvSpPr/>
          <p:nvPr/>
        </p:nvSpPr>
        <p:spPr>
          <a:xfrm>
            <a:off x="2813243" y="1691640"/>
            <a:ext cx="2036003" cy="3154680"/>
          </a:xfrm>
          <a:prstGeom prst="roundRect">
            <a:avLst>
              <a:gd name="adj" fmla="val 6737"/>
            </a:avLst>
          </a:prstGeom>
          <a:solidFill>
            <a:srgbClr val="F6F3EE"/>
          </a:solidFill>
          <a:ln/>
        </p:spPr>
      </p:sp>
      <p:sp>
        <p:nvSpPr>
          <p:cNvPr id="13" name="Icon circle"/>
          <p:cNvSpPr/>
          <p:nvPr/>
        </p:nvSpPr>
        <p:spPr>
          <a:xfrm>
            <a:off x="2996123" y="1874520"/>
            <a:ext cx="457200" cy="457200"/>
          </a:xfrm>
          <a:prstGeom prst="ellipse">
            <a:avLst/>
          </a:prstGeom>
          <a:solidFill>
            <a:srgbClr val="FDE9DF"/>
          </a:solidFill>
          <a:ln/>
        </p:spPr>
      </p:sp>
      <p:pic>
        <p:nvPicPr>
          <p:cNvPr id="14" name="Icon" descr="preencoded.png">    </p:cNvPr>
          <p:cNvPicPr>
            <a:picLocks noChangeAspect="1"/>
          </p:cNvPicPr>
          <p:nvPr/>
        </p:nvPicPr>
        <p:blipFill>
          <a:blip r:embed="rId2"/>
          <a:stretch>
            <a:fillRect/>
          </a:stretch>
        </p:blipFill>
        <p:spPr>
          <a:xfrm>
            <a:off x="3105851" y="1984248"/>
            <a:ext cx="237744" cy="237744"/>
          </a:xfrm>
          <a:prstGeom prst="rect">
            <a:avLst/>
          </a:prstGeom>
        </p:spPr>
      </p:pic>
      <p:sp>
        <p:nvSpPr>
          <p:cNvPr id="15" name="Step number"/>
          <p:cNvSpPr txBox="1"/>
          <p:nvPr/>
        </p:nvSpPr>
        <p:spPr>
          <a:xfrm>
            <a:off x="4300606" y="1874520"/>
            <a:ext cx="365760" cy="457200"/>
          </a:xfrm>
          <a:prstGeom prst="rect">
            <a:avLst/>
          </a:prstGeom>
          <a:noFill/>
          <a:ln/>
        </p:spPr>
        <p:txBody>
          <a:bodyPr wrap="square" lIns="0" tIns="0" rIns="0" bIns="0" rtlCol="0" anchor="ctr"/>
          <a:lstStyle/>
          <a:p>
            <a:pPr algn="r" indent="0" marL="0">
              <a:buNone/>
            </a:pPr>
            <a:r>
              <a:rPr lang="en-US" sz="2600" b="1" dirty="0">
                <a:solidFill>
                  <a:srgbClr val="F26522"/>
                </a:solidFill>
              </a:rPr>
              <a:t>2</a:t>
            </a:r>
            <a:endParaRPr lang="en-US" sz="2600" dirty="0"/>
          </a:p>
        </p:txBody>
      </p:sp>
      <p:sp>
        <p:nvSpPr>
          <p:cNvPr id="16" name="Focus area title"/>
          <p:cNvSpPr txBox="1"/>
          <p:nvPr/>
        </p:nvSpPr>
        <p:spPr>
          <a:xfrm>
            <a:off x="2996123" y="2441448"/>
            <a:ext cx="1670243" cy="457200"/>
          </a:xfrm>
          <a:prstGeom prst="rect">
            <a:avLst/>
          </a:prstGeom>
          <a:noFill/>
          <a:ln/>
        </p:spPr>
        <p:txBody>
          <a:bodyPr wrap="square" lIns="0" tIns="0" rIns="0" bIns="0" rtlCol="0" anchor="t"/>
          <a:lstStyle/>
          <a:p>
            <a:pPr indent="0" marL="0">
              <a:buNone/>
            </a:pPr>
            <a:r>
              <a:rPr lang="en-US" sz="1400" b="1" dirty="0">
                <a:solidFill>
                  <a:srgbClr val="121826"/>
                </a:solidFill>
              </a:rPr>
              <a:t>Root cause, not symptoms</a:t>
            </a:r>
            <a:endParaRPr lang="en-US" sz="1400" dirty="0"/>
          </a:p>
        </p:txBody>
      </p:sp>
      <p:sp>
        <p:nvSpPr>
          <p:cNvPr id="17" name="Focus area list"/>
          <p:cNvSpPr txBox="1"/>
          <p:nvPr/>
        </p:nvSpPr>
        <p:spPr>
          <a:xfrm>
            <a:off x="2996123" y="2935224"/>
            <a:ext cx="1715963" cy="18288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D4453"/>
                </a:solidFill>
              </a:rPr>
              <a:t>“What was going through your mind at that moment?”</a:t>
            </a:r>
            <a:endParaRPr lang="en-US" sz="1150" dirty="0"/>
          </a:p>
          <a:p>
            <a:pPr marL="177800" indent="-177800">
              <a:spcAft>
                <a:spcPts val="400"/>
              </a:spcAft>
              <a:buSzPct val="100000"/>
              <a:buChar char="•"/>
            </a:pPr>
            <a:r>
              <a:rPr lang="en-US" sz="1150" dirty="0">
                <a:solidFill>
                  <a:srgbClr val="3D4453"/>
                </a:solidFill>
              </a:rPr>
              <a:t>Knowledge or skill, or will</a:t>
            </a:r>
            <a:endParaRPr lang="en-US" sz="1150" dirty="0"/>
          </a:p>
          <a:p>
            <a:pPr marL="177800" indent="-177800">
              <a:spcAft>
                <a:spcPts val="400"/>
              </a:spcAft>
              <a:buSzPct val="100000"/>
              <a:buChar char="•"/>
            </a:pPr>
            <a:r>
              <a:rPr lang="en-US" sz="1150" dirty="0">
                <a:solidFill>
                  <a:srgbClr val="3D4453"/>
                </a:solidFill>
              </a:rPr>
              <a:t>Found here: mute instead of hold, opening, empathy, assurance, tone, resolution, confidence, expectations</a:t>
            </a:r>
            <a:endParaRPr lang="en-US" sz="1150" dirty="0"/>
          </a:p>
        </p:txBody>
      </p:sp>
      <p:sp>
        <p:nvSpPr>
          <p:cNvPr id="18" name="Ammar example 2"/>
          <p:cNvSpPr/>
          <p:nvPr/>
        </p:nvSpPr>
        <p:spPr>
          <a:xfrm>
            <a:off x="2813243" y="5376672"/>
            <a:ext cx="2036003" cy="749808"/>
          </a:xfrm>
          <a:prstGeom prst="roundRect">
            <a:avLst>
              <a:gd name="adj" fmla="val 18293"/>
            </a:avLst>
          </a:prstGeom>
          <a:solidFill>
            <a:srgbClr val="121826"/>
          </a:solidFill>
          <a:ln/>
        </p:spPr>
      </p:sp>
      <p:sp>
        <p:nvSpPr>
          <p:cNvPr id="19" name="Paragraph"/>
          <p:cNvSpPr txBox="1"/>
          <p:nvPr/>
        </p:nvSpPr>
        <p:spPr>
          <a:xfrm>
            <a:off x="2996123" y="5449824"/>
            <a:ext cx="1670243" cy="603504"/>
          </a:xfrm>
          <a:prstGeom prst="rect">
            <a:avLst/>
          </a:prstGeom>
          <a:noFill/>
          <a:ln/>
        </p:spPr>
        <p:txBody>
          <a:bodyPr wrap="square" lIns="0" tIns="0" rIns="0" bIns="0" rtlCol="0" anchor="ctr"/>
          <a:lstStyle/>
          <a:p>
            <a:pPr indent="0" marL="0">
              <a:buNone/>
            </a:pPr>
            <a:r>
              <a:rPr lang="en-US" sz="1150" dirty="0">
                <a:solidFill>
                  <a:srgbClr val="FFFFFF"/>
                </a:solidFill>
              </a:rPr>
              <a:t>Not knowledge: behavior on the call, expectations and the close</a:t>
            </a:r>
            <a:endParaRPr lang="en-US" sz="1150" dirty="0"/>
          </a:p>
        </p:txBody>
      </p:sp>
      <p:sp>
        <p:nvSpPr>
          <p:cNvPr id="20" name="Focus area 3 card"/>
          <p:cNvSpPr/>
          <p:nvPr/>
        </p:nvSpPr>
        <p:spPr>
          <a:xfrm>
            <a:off x="5077846" y="1691640"/>
            <a:ext cx="2036003" cy="3154680"/>
          </a:xfrm>
          <a:prstGeom prst="roundRect">
            <a:avLst>
              <a:gd name="adj" fmla="val 6737"/>
            </a:avLst>
          </a:prstGeom>
          <a:solidFill>
            <a:srgbClr val="F6F3EE"/>
          </a:solidFill>
          <a:ln/>
        </p:spPr>
      </p:sp>
      <p:sp>
        <p:nvSpPr>
          <p:cNvPr id="21" name="Icon circle"/>
          <p:cNvSpPr/>
          <p:nvPr/>
        </p:nvSpPr>
        <p:spPr>
          <a:xfrm>
            <a:off x="5260726" y="1874520"/>
            <a:ext cx="457200" cy="457200"/>
          </a:xfrm>
          <a:prstGeom prst="ellipse">
            <a:avLst/>
          </a:prstGeom>
          <a:solidFill>
            <a:srgbClr val="FDE9DF"/>
          </a:solidFill>
          <a:ln/>
        </p:spPr>
      </p:sp>
      <p:pic>
        <p:nvPicPr>
          <p:cNvPr id="22" name="Icon" descr="preencoded.png">    </p:cNvPr>
          <p:cNvPicPr>
            <a:picLocks noChangeAspect="1"/>
          </p:cNvPicPr>
          <p:nvPr/>
        </p:nvPicPr>
        <p:blipFill>
          <a:blip r:embed="rId3"/>
          <a:stretch>
            <a:fillRect/>
          </a:stretch>
        </p:blipFill>
        <p:spPr>
          <a:xfrm>
            <a:off x="5370454" y="1984248"/>
            <a:ext cx="237744" cy="237744"/>
          </a:xfrm>
          <a:prstGeom prst="rect">
            <a:avLst/>
          </a:prstGeom>
        </p:spPr>
      </p:pic>
      <p:sp>
        <p:nvSpPr>
          <p:cNvPr id="23" name="Step number"/>
          <p:cNvSpPr txBox="1"/>
          <p:nvPr/>
        </p:nvSpPr>
        <p:spPr>
          <a:xfrm>
            <a:off x="6565209" y="1874520"/>
            <a:ext cx="365760" cy="457200"/>
          </a:xfrm>
          <a:prstGeom prst="rect">
            <a:avLst/>
          </a:prstGeom>
          <a:noFill/>
          <a:ln/>
        </p:spPr>
        <p:txBody>
          <a:bodyPr wrap="square" lIns="0" tIns="0" rIns="0" bIns="0" rtlCol="0" anchor="ctr"/>
          <a:lstStyle/>
          <a:p>
            <a:pPr algn="r" indent="0" marL="0">
              <a:buNone/>
            </a:pPr>
            <a:r>
              <a:rPr lang="en-US" sz="2600" b="1" dirty="0">
                <a:solidFill>
                  <a:srgbClr val="F26522"/>
                </a:solidFill>
              </a:rPr>
              <a:t>3</a:t>
            </a:r>
            <a:endParaRPr lang="en-US" sz="2600" dirty="0"/>
          </a:p>
        </p:txBody>
      </p:sp>
      <p:sp>
        <p:nvSpPr>
          <p:cNvPr id="24" name="Focus area title"/>
          <p:cNvSpPr txBox="1"/>
          <p:nvPr/>
        </p:nvSpPr>
        <p:spPr>
          <a:xfrm>
            <a:off x="5260726" y="2441448"/>
            <a:ext cx="1670243" cy="457200"/>
          </a:xfrm>
          <a:prstGeom prst="rect">
            <a:avLst/>
          </a:prstGeom>
          <a:noFill/>
          <a:ln/>
        </p:spPr>
        <p:txBody>
          <a:bodyPr wrap="square" lIns="0" tIns="0" rIns="0" bIns="0" rtlCol="0" anchor="t"/>
          <a:lstStyle/>
          <a:p>
            <a:pPr indent="0" marL="0">
              <a:buNone/>
            </a:pPr>
            <a:r>
              <a:rPr lang="en-US" sz="1400" b="1" dirty="0">
                <a:solidFill>
                  <a:srgbClr val="121826"/>
                </a:solidFill>
              </a:rPr>
              <a:t>Techniques and questions</a:t>
            </a:r>
            <a:endParaRPr lang="en-US" sz="1400" dirty="0"/>
          </a:p>
        </p:txBody>
      </p:sp>
      <p:sp>
        <p:nvSpPr>
          <p:cNvPr id="25" name="Focus area list"/>
          <p:cNvSpPr txBox="1"/>
          <p:nvPr/>
        </p:nvSpPr>
        <p:spPr>
          <a:xfrm>
            <a:off x="5260726" y="2935224"/>
            <a:ext cx="1715963" cy="18288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D4453"/>
                </a:solidFill>
              </a:rPr>
              <a:t>Open questions first</a:t>
            </a:r>
            <a:endParaRPr lang="en-US" sz="1150" dirty="0"/>
          </a:p>
          <a:p>
            <a:pPr marL="177800" indent="-177800">
              <a:spcAft>
                <a:spcPts val="400"/>
              </a:spcAft>
              <a:buSzPct val="100000"/>
              <a:buChar char="•"/>
            </a:pPr>
            <a:r>
              <a:rPr lang="en-US" sz="1150" dirty="0">
                <a:solidFill>
                  <a:srgbClr val="3D4453"/>
                </a:solidFill>
              </a:rPr>
              <a:t>The agent states the gap in their own words</a:t>
            </a:r>
            <a:endParaRPr lang="en-US" sz="1150" dirty="0"/>
          </a:p>
          <a:p>
            <a:pPr marL="177800" indent="-177800">
              <a:spcAft>
                <a:spcPts val="400"/>
              </a:spcAft>
              <a:buSzPct val="100000"/>
              <a:buChar char="•"/>
            </a:pPr>
            <a:r>
              <a:rPr lang="en-US" sz="1150" dirty="0">
                <a:solidFill>
                  <a:srgbClr val="3D4453"/>
                </a:solidFill>
              </a:rPr>
              <a:t>I model the behavior</a:t>
            </a:r>
            <a:endParaRPr lang="en-US" sz="1150" dirty="0"/>
          </a:p>
          <a:p>
            <a:pPr marL="177800" indent="-177800">
              <a:spcAft>
                <a:spcPts val="400"/>
              </a:spcAft>
              <a:buSzPct val="100000"/>
              <a:buChar char="•"/>
            </a:pPr>
            <a:r>
              <a:rPr lang="en-US" sz="1150" dirty="0">
                <a:solidFill>
                  <a:srgbClr val="3D4453"/>
                </a:solidFill>
              </a:rPr>
              <a:t>Role play it</a:t>
            </a:r>
            <a:endParaRPr lang="en-US" sz="1150" dirty="0"/>
          </a:p>
        </p:txBody>
      </p:sp>
      <p:sp>
        <p:nvSpPr>
          <p:cNvPr id="26" name="Ammar example 3"/>
          <p:cNvSpPr/>
          <p:nvPr/>
        </p:nvSpPr>
        <p:spPr>
          <a:xfrm>
            <a:off x="5077846" y="5376672"/>
            <a:ext cx="2036003" cy="749808"/>
          </a:xfrm>
          <a:prstGeom prst="roundRect">
            <a:avLst>
              <a:gd name="adj" fmla="val 18293"/>
            </a:avLst>
          </a:prstGeom>
          <a:solidFill>
            <a:srgbClr val="121826"/>
          </a:solidFill>
          <a:ln/>
        </p:spPr>
      </p:sp>
      <p:sp>
        <p:nvSpPr>
          <p:cNvPr id="27" name="Paragraph"/>
          <p:cNvSpPr txBox="1"/>
          <p:nvPr/>
        </p:nvSpPr>
        <p:spPr>
          <a:xfrm>
            <a:off x="5260726" y="5449824"/>
            <a:ext cx="1670243" cy="603504"/>
          </a:xfrm>
          <a:prstGeom prst="rect">
            <a:avLst/>
          </a:prstGeom>
          <a:noFill/>
          <a:ln/>
        </p:spPr>
        <p:txBody>
          <a:bodyPr wrap="square" lIns="0" tIns="0" rIns="0" bIns="0" rtlCol="0" anchor="ctr"/>
          <a:lstStyle/>
          <a:p>
            <a:pPr indent="0" marL="0">
              <a:buNone/>
            </a:pPr>
            <a:r>
              <a:rPr lang="en-US" sz="1150" dirty="0">
                <a:solidFill>
                  <a:srgbClr val="FFFFFF"/>
                </a:solidFill>
              </a:rPr>
              <a:t>He names the gap in his own words, then we role play the close</a:t>
            </a:r>
            <a:endParaRPr lang="en-US" sz="1150" dirty="0"/>
          </a:p>
        </p:txBody>
      </p:sp>
      <p:sp>
        <p:nvSpPr>
          <p:cNvPr id="28" name="Focus area 4 card"/>
          <p:cNvSpPr/>
          <p:nvPr/>
        </p:nvSpPr>
        <p:spPr>
          <a:xfrm>
            <a:off x="7342449" y="1691640"/>
            <a:ext cx="2036003" cy="3154680"/>
          </a:xfrm>
          <a:prstGeom prst="roundRect">
            <a:avLst>
              <a:gd name="adj" fmla="val 6737"/>
            </a:avLst>
          </a:prstGeom>
          <a:solidFill>
            <a:srgbClr val="F6F3EE"/>
          </a:solidFill>
          <a:ln/>
        </p:spPr>
      </p:sp>
      <p:sp>
        <p:nvSpPr>
          <p:cNvPr id="29" name="Icon circle"/>
          <p:cNvSpPr/>
          <p:nvPr/>
        </p:nvSpPr>
        <p:spPr>
          <a:xfrm>
            <a:off x="7525329" y="1874520"/>
            <a:ext cx="457200" cy="457200"/>
          </a:xfrm>
          <a:prstGeom prst="ellipse">
            <a:avLst/>
          </a:prstGeom>
          <a:solidFill>
            <a:srgbClr val="FDE9DF"/>
          </a:solidFill>
          <a:ln/>
        </p:spPr>
      </p:sp>
      <p:pic>
        <p:nvPicPr>
          <p:cNvPr id="30" name="Icon" descr="preencoded.png">    </p:cNvPr>
          <p:cNvPicPr>
            <a:picLocks noChangeAspect="1"/>
          </p:cNvPicPr>
          <p:nvPr/>
        </p:nvPicPr>
        <p:blipFill>
          <a:blip r:embed="rId4"/>
          <a:stretch>
            <a:fillRect/>
          </a:stretch>
        </p:blipFill>
        <p:spPr>
          <a:xfrm>
            <a:off x="7635057" y="1984248"/>
            <a:ext cx="237744" cy="237744"/>
          </a:xfrm>
          <a:prstGeom prst="rect">
            <a:avLst/>
          </a:prstGeom>
        </p:spPr>
      </p:pic>
      <p:sp>
        <p:nvSpPr>
          <p:cNvPr id="31" name="Step number"/>
          <p:cNvSpPr txBox="1"/>
          <p:nvPr/>
        </p:nvSpPr>
        <p:spPr>
          <a:xfrm>
            <a:off x="8829812" y="1874520"/>
            <a:ext cx="365760" cy="457200"/>
          </a:xfrm>
          <a:prstGeom prst="rect">
            <a:avLst/>
          </a:prstGeom>
          <a:noFill/>
          <a:ln/>
        </p:spPr>
        <p:txBody>
          <a:bodyPr wrap="square" lIns="0" tIns="0" rIns="0" bIns="0" rtlCol="0" anchor="ctr"/>
          <a:lstStyle/>
          <a:p>
            <a:pPr algn="r" indent="0" marL="0">
              <a:buNone/>
            </a:pPr>
            <a:r>
              <a:rPr lang="en-US" sz="2600" b="1" dirty="0">
                <a:solidFill>
                  <a:srgbClr val="F26522"/>
                </a:solidFill>
              </a:rPr>
              <a:t>4</a:t>
            </a:r>
            <a:endParaRPr lang="en-US" sz="2600" dirty="0"/>
          </a:p>
        </p:txBody>
      </p:sp>
      <p:sp>
        <p:nvSpPr>
          <p:cNvPr id="32" name="Focus area title"/>
          <p:cNvSpPr txBox="1"/>
          <p:nvPr/>
        </p:nvSpPr>
        <p:spPr>
          <a:xfrm>
            <a:off x="7525329" y="2441448"/>
            <a:ext cx="1670243" cy="457200"/>
          </a:xfrm>
          <a:prstGeom prst="rect">
            <a:avLst/>
          </a:prstGeom>
          <a:noFill/>
          <a:ln/>
        </p:spPr>
        <p:txBody>
          <a:bodyPr wrap="square" lIns="0" tIns="0" rIns="0" bIns="0" rtlCol="0" anchor="t"/>
          <a:lstStyle/>
          <a:p>
            <a:pPr indent="0" marL="0">
              <a:buNone/>
            </a:pPr>
            <a:r>
              <a:rPr lang="en-US" sz="1400" b="1" dirty="0">
                <a:solidFill>
                  <a:srgbClr val="121826"/>
                </a:solidFill>
              </a:rPr>
              <a:t>Clear, measurable plan</a:t>
            </a:r>
            <a:endParaRPr lang="en-US" sz="1400" dirty="0"/>
          </a:p>
        </p:txBody>
      </p:sp>
      <p:sp>
        <p:nvSpPr>
          <p:cNvPr id="33" name="Focus area list"/>
          <p:cNvSpPr txBox="1"/>
          <p:nvPr/>
        </p:nvSpPr>
        <p:spPr>
          <a:xfrm>
            <a:off x="7525329" y="2935224"/>
            <a:ext cx="1715963" cy="18288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D4453"/>
                </a:solidFill>
              </a:rPr>
              <a:t>One or two behaviors per session, never more</a:t>
            </a:r>
            <a:endParaRPr lang="en-US" sz="1150" dirty="0"/>
          </a:p>
          <a:p>
            <a:pPr marL="177800" indent="-177800">
              <a:spcAft>
                <a:spcPts val="400"/>
              </a:spcAft>
              <a:buSzPct val="100000"/>
              <a:buChar char="•"/>
            </a:pPr>
            <a:r>
              <a:rPr lang="en-US" sz="1150" dirty="0">
                <a:solidFill>
                  <a:srgbClr val="3D4453"/>
                </a:solidFill>
              </a:rPr>
              <a:t>A KPI target with the surveys behind it</a:t>
            </a:r>
            <a:endParaRPr lang="en-US" sz="1150" dirty="0"/>
          </a:p>
          <a:p>
            <a:pPr marL="177800" indent="-177800">
              <a:spcAft>
                <a:spcPts val="400"/>
              </a:spcAft>
              <a:buSzPct val="100000"/>
              <a:buChar char="•"/>
            </a:pPr>
            <a:r>
              <a:rPr lang="en-US" sz="1150" dirty="0">
                <a:solidFill>
                  <a:srgbClr val="3D4453"/>
                </a:solidFill>
              </a:rPr>
              <a:t>A follow-up date on every plan</a:t>
            </a:r>
            <a:endParaRPr lang="en-US" sz="1150" dirty="0"/>
          </a:p>
        </p:txBody>
      </p:sp>
      <p:sp>
        <p:nvSpPr>
          <p:cNvPr id="34" name="Ammar example 4"/>
          <p:cNvSpPr/>
          <p:nvPr/>
        </p:nvSpPr>
        <p:spPr>
          <a:xfrm>
            <a:off x="7342449" y="5376672"/>
            <a:ext cx="2036003" cy="749808"/>
          </a:xfrm>
          <a:prstGeom prst="roundRect">
            <a:avLst>
              <a:gd name="adj" fmla="val 18293"/>
            </a:avLst>
          </a:prstGeom>
          <a:solidFill>
            <a:srgbClr val="121826"/>
          </a:solidFill>
          <a:ln/>
        </p:spPr>
      </p:sp>
      <p:sp>
        <p:nvSpPr>
          <p:cNvPr id="35" name="Paragraph"/>
          <p:cNvSpPr txBox="1"/>
          <p:nvPr/>
        </p:nvSpPr>
        <p:spPr>
          <a:xfrm>
            <a:off x="7525329" y="5449824"/>
            <a:ext cx="1670243" cy="603504"/>
          </a:xfrm>
          <a:prstGeom prst="rect">
            <a:avLst/>
          </a:prstGeom>
          <a:noFill/>
          <a:ln/>
        </p:spPr>
        <p:txBody>
          <a:bodyPr wrap="square" lIns="0" tIns="0" rIns="0" bIns="0" rtlCol="0" anchor="ctr"/>
          <a:lstStyle/>
          <a:p>
            <a:pPr indent="0" marL="0">
              <a:buNone/>
            </a:pPr>
            <a:r>
              <a:rPr lang="en-US" sz="1150" dirty="0">
                <a:solidFill>
                  <a:srgbClr val="FFFFFF"/>
                </a:solidFill>
              </a:rPr>
              <a:t>One focus: next steps and timeframes before the close</a:t>
            </a:r>
            <a:endParaRPr lang="en-US" sz="1150" dirty="0"/>
          </a:p>
        </p:txBody>
      </p:sp>
      <p:sp>
        <p:nvSpPr>
          <p:cNvPr id="36" name="Focus area 5 card"/>
          <p:cNvSpPr/>
          <p:nvPr/>
        </p:nvSpPr>
        <p:spPr>
          <a:xfrm>
            <a:off x="9607052" y="1691640"/>
            <a:ext cx="2036003" cy="3154680"/>
          </a:xfrm>
          <a:prstGeom prst="roundRect">
            <a:avLst>
              <a:gd name="adj" fmla="val 6737"/>
            </a:avLst>
          </a:prstGeom>
          <a:solidFill>
            <a:srgbClr val="F6F3EE"/>
          </a:solidFill>
          <a:ln/>
        </p:spPr>
      </p:sp>
      <p:sp>
        <p:nvSpPr>
          <p:cNvPr id="37" name="Icon circle"/>
          <p:cNvSpPr/>
          <p:nvPr/>
        </p:nvSpPr>
        <p:spPr>
          <a:xfrm>
            <a:off x="9789932" y="1874520"/>
            <a:ext cx="457200" cy="457200"/>
          </a:xfrm>
          <a:prstGeom prst="ellipse">
            <a:avLst/>
          </a:prstGeom>
          <a:solidFill>
            <a:srgbClr val="FDE9DF"/>
          </a:solidFill>
          <a:ln/>
        </p:spPr>
      </p:sp>
      <p:pic>
        <p:nvPicPr>
          <p:cNvPr id="38" name="Icon" descr="preencoded.png">    </p:cNvPr>
          <p:cNvPicPr>
            <a:picLocks noChangeAspect="1"/>
          </p:cNvPicPr>
          <p:nvPr/>
        </p:nvPicPr>
        <p:blipFill>
          <a:blip r:embed="rId5"/>
          <a:stretch>
            <a:fillRect/>
          </a:stretch>
        </p:blipFill>
        <p:spPr>
          <a:xfrm>
            <a:off x="9899660" y="1984248"/>
            <a:ext cx="237744" cy="237744"/>
          </a:xfrm>
          <a:prstGeom prst="rect">
            <a:avLst/>
          </a:prstGeom>
        </p:spPr>
      </p:pic>
      <p:sp>
        <p:nvSpPr>
          <p:cNvPr id="39" name="Step number"/>
          <p:cNvSpPr txBox="1"/>
          <p:nvPr/>
        </p:nvSpPr>
        <p:spPr>
          <a:xfrm>
            <a:off x="11094415" y="1874520"/>
            <a:ext cx="365760" cy="457200"/>
          </a:xfrm>
          <a:prstGeom prst="rect">
            <a:avLst/>
          </a:prstGeom>
          <a:noFill/>
          <a:ln/>
        </p:spPr>
        <p:txBody>
          <a:bodyPr wrap="square" lIns="0" tIns="0" rIns="0" bIns="0" rtlCol="0" anchor="ctr"/>
          <a:lstStyle/>
          <a:p>
            <a:pPr algn="r" indent="0" marL="0">
              <a:buNone/>
            </a:pPr>
            <a:r>
              <a:rPr lang="en-US" sz="2600" b="1" dirty="0">
                <a:solidFill>
                  <a:srgbClr val="F26522"/>
                </a:solidFill>
              </a:rPr>
              <a:t>5</a:t>
            </a:r>
            <a:endParaRPr lang="en-US" sz="2600" dirty="0"/>
          </a:p>
        </p:txBody>
      </p:sp>
      <p:sp>
        <p:nvSpPr>
          <p:cNvPr id="40" name="Focus area title"/>
          <p:cNvSpPr txBox="1"/>
          <p:nvPr/>
        </p:nvSpPr>
        <p:spPr>
          <a:xfrm>
            <a:off x="9789932" y="2441448"/>
            <a:ext cx="1670243" cy="457200"/>
          </a:xfrm>
          <a:prstGeom prst="rect">
            <a:avLst/>
          </a:prstGeom>
          <a:noFill/>
          <a:ln/>
        </p:spPr>
        <p:txBody>
          <a:bodyPr wrap="square" lIns="0" tIns="0" rIns="0" bIns="0" rtlCol="0" anchor="t"/>
          <a:lstStyle/>
          <a:p>
            <a:pPr indent="0" marL="0">
              <a:buNone/>
            </a:pPr>
            <a:r>
              <a:rPr lang="en-US" sz="1400" b="1" dirty="0">
                <a:solidFill>
                  <a:srgbClr val="121826"/>
                </a:solidFill>
              </a:rPr>
              <a:t>Best practice and consistency</a:t>
            </a:r>
            <a:endParaRPr lang="en-US" sz="1400" dirty="0"/>
          </a:p>
        </p:txBody>
      </p:sp>
      <p:sp>
        <p:nvSpPr>
          <p:cNvPr id="41" name="Focus area list"/>
          <p:cNvSpPr txBox="1"/>
          <p:nvPr/>
        </p:nvSpPr>
        <p:spPr>
          <a:xfrm>
            <a:off x="9789932" y="2935224"/>
            <a:ext cx="1715963" cy="18288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D4453"/>
                </a:solidFill>
              </a:rPr>
              <a:t>Weekly session, 15 to 30 minutes</a:t>
            </a:r>
            <a:endParaRPr lang="en-US" sz="1150" dirty="0"/>
          </a:p>
          <a:p>
            <a:pPr marL="177800" indent="-177800">
              <a:spcAft>
                <a:spcPts val="400"/>
              </a:spcAft>
              <a:buSzPct val="100000"/>
              <a:buChar char="•"/>
            </a:pPr>
            <a:r>
              <a:rPr lang="en-US" sz="1150" dirty="0">
                <a:solidFill>
                  <a:srgbClr val="3D4453"/>
                </a:solidFill>
              </a:rPr>
              <a:t>Follow-up by listening to calls</a:t>
            </a:r>
            <a:endParaRPr lang="en-US" sz="1150" dirty="0"/>
          </a:p>
          <a:p>
            <a:pPr marL="177800" indent="-177800">
              <a:spcAft>
                <a:spcPts val="400"/>
              </a:spcAft>
              <a:buSzPct val="100000"/>
              <a:buChar char="•"/>
            </a:pPr>
            <a:r>
              <a:rPr lang="en-US" sz="1150" dirty="0">
                <a:solidFill>
                  <a:srgbClr val="3D4453"/>
                </a:solidFill>
              </a:rPr>
              <a:t>Weekly huddle on the most-missed behavior</a:t>
            </a:r>
            <a:endParaRPr lang="en-US" sz="1150" dirty="0"/>
          </a:p>
          <a:p>
            <a:pPr marL="177800" indent="-177800">
              <a:spcAft>
                <a:spcPts val="400"/>
              </a:spcAft>
              <a:buSzPct val="100000"/>
              <a:buChar char="•"/>
            </a:pPr>
            <a:r>
              <a:rPr lang="en-US" sz="1150" dirty="0">
                <a:solidFill>
                  <a:srgbClr val="3D4453"/>
                </a:solidFill>
              </a:rPr>
              <a:t>Calibration pack every week</a:t>
            </a:r>
            <a:endParaRPr lang="en-US" sz="1150" dirty="0"/>
          </a:p>
        </p:txBody>
      </p:sp>
      <p:sp>
        <p:nvSpPr>
          <p:cNvPr id="42" name="Ammar example 5"/>
          <p:cNvSpPr/>
          <p:nvPr/>
        </p:nvSpPr>
        <p:spPr>
          <a:xfrm>
            <a:off x="9607052" y="5376672"/>
            <a:ext cx="2036003" cy="749808"/>
          </a:xfrm>
          <a:prstGeom prst="roundRect">
            <a:avLst>
              <a:gd name="adj" fmla="val 18293"/>
            </a:avLst>
          </a:prstGeom>
          <a:solidFill>
            <a:srgbClr val="121826"/>
          </a:solidFill>
          <a:ln/>
        </p:spPr>
      </p:sp>
      <p:sp>
        <p:nvSpPr>
          <p:cNvPr id="43" name="Paragraph"/>
          <p:cNvSpPr txBox="1"/>
          <p:nvPr/>
        </p:nvSpPr>
        <p:spPr>
          <a:xfrm>
            <a:off x="9789932" y="5449824"/>
            <a:ext cx="1670243" cy="603504"/>
          </a:xfrm>
          <a:prstGeom prst="rect">
            <a:avLst/>
          </a:prstGeom>
          <a:noFill/>
          <a:ln/>
        </p:spPr>
        <p:txBody>
          <a:bodyPr wrap="square" lIns="0" tIns="0" rIns="0" bIns="0" rtlCol="0" anchor="ctr"/>
          <a:lstStyle/>
          <a:p>
            <a:pPr indent="0" marL="0">
              <a:buNone/>
            </a:pPr>
            <a:r>
              <a:rPr lang="en-US" sz="1150" dirty="0">
                <a:solidFill>
                  <a:srgbClr val="FFFFFF"/>
                </a:solidFill>
              </a:rPr>
              <a:t>2 calls a week, side by side, every week</a:t>
            </a:r>
            <a:endParaRPr lang="en-US" sz="1150" dirty="0"/>
          </a:p>
        </p:txBody>
      </p:sp>
      <p:sp>
        <p:nvSpPr>
          <p:cNvPr id="44" name="Example label"/>
          <p:cNvSpPr txBox="1"/>
          <p:nvPr/>
        </p:nvSpPr>
        <p:spPr>
          <a:xfrm>
            <a:off x="548640" y="4992624"/>
            <a:ext cx="11094415" cy="274320"/>
          </a:xfrm>
          <a:prstGeom prst="rect">
            <a:avLst/>
          </a:prstGeom>
          <a:noFill/>
          <a:ln/>
        </p:spPr>
        <p:txBody>
          <a:bodyPr wrap="square" lIns="0" tIns="0" rIns="0" bIns="0" rtlCol="0" anchor="ctr"/>
          <a:lstStyle/>
          <a:p>
            <a:pPr indent="0" marL="0">
              <a:buNone/>
            </a:pPr>
            <a:r>
              <a:rPr lang="en-US" sz="1250" b="1" dirty="0">
                <a:solidFill>
                  <a:srgbClr val="C94A10"/>
                </a:solidFill>
              </a:rPr>
              <a:t>Live example: </a:t>
            </a:r>
            <a:pPr indent="0" marL="0">
              <a:buNone/>
            </a:pPr>
            <a:r>
              <a:rPr lang="en-US" sz="1250" b="1" dirty="0">
                <a:solidFill>
                  <a:srgbClr val="121826"/>
                </a:solidFill>
              </a:rPr>
              <a:t>Mohammed Ammar, the same five steps on one agent</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C94A10"/>
                </a:solidFill>
              </a:rPr>
              <a:t>THE NEXT 30 DAYS</a:t>
            </a:r>
            <a:endParaRPr lang="en-US" sz="1200" dirty="0"/>
          </a:p>
        </p:txBody>
      </p:sp>
      <p:sp>
        <p:nvSpPr>
          <p:cNvPr id="3" name="Text 0"/>
          <p:cNvSpPr/>
          <p:nvPr>
            <p:ph idx="100" type="title" hasCustomPrompt="1"/>
          </p:nvPr>
        </p:nvSpPr>
        <p:spPr>
          <a:xfrm>
            <a:off x="548640" y="74980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latin typeface="Calibri" pitchFamily="34" charset="0"/>
                <a:ea typeface="Calibri" pitchFamily="34" charset="-122"/>
                <a:cs typeface="Calibri" pitchFamily="34" charset="-120"/>
              </a:rPr>
              <a:t>Four agents at zero would take team tNPS from 11.0 to 19.2</a:t>
            </a:r>
            <a:endParaRPr lang="en-US" sz="3200" dirty="0"/>
          </a:p>
        </p:txBody>
      </p:sp>
      <p:sp>
        <p:nvSpPr>
          <p:cNvPr id="4" name="Stat card"/>
          <p:cNvSpPr/>
          <p:nvPr/>
        </p:nvSpPr>
        <p:spPr>
          <a:xfrm>
            <a:off x="548640" y="1691640"/>
            <a:ext cx="3515258" cy="1325880"/>
          </a:xfrm>
          <a:prstGeom prst="roundRect">
            <a:avLst>
              <a:gd name="adj" fmla="val 10345"/>
            </a:avLst>
          </a:prstGeom>
          <a:solidFill>
            <a:srgbClr val="FFFFFF"/>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5" name="Stat number"/>
          <p:cNvSpPr txBox="1"/>
          <p:nvPr/>
        </p:nvSpPr>
        <p:spPr>
          <a:xfrm>
            <a:off x="822960" y="1828800"/>
            <a:ext cx="2966618" cy="621792"/>
          </a:xfrm>
          <a:prstGeom prst="rect">
            <a:avLst/>
          </a:prstGeom>
          <a:noFill/>
          <a:ln/>
        </p:spPr>
        <p:txBody>
          <a:bodyPr wrap="square" lIns="0" tIns="0" rIns="0" bIns="0" rtlCol="0" anchor="ctr"/>
          <a:lstStyle/>
          <a:p>
            <a:pPr indent="0" marL="0">
              <a:buNone/>
            </a:pPr>
            <a:r>
              <a:rPr lang="en-US" sz="3600" b="1" dirty="0">
                <a:solidFill>
                  <a:srgbClr val="B42318"/>
                </a:solidFill>
              </a:rPr>
              <a:t>4 of 13</a:t>
            </a:r>
            <a:endParaRPr lang="en-US" sz="3600" dirty="0"/>
          </a:p>
        </p:txBody>
      </p:sp>
      <p:sp>
        <p:nvSpPr>
          <p:cNvPr id="6" name="Paragraph"/>
          <p:cNvSpPr txBox="1"/>
          <p:nvPr/>
        </p:nvSpPr>
        <p:spPr>
          <a:xfrm>
            <a:off x="822960" y="2496312"/>
            <a:ext cx="2966618" cy="411480"/>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agents negative on tNPS, on 51 of the team’s 172 surveys</a:t>
            </a:r>
            <a:endParaRPr lang="en-US" sz="1250" dirty="0"/>
          </a:p>
        </p:txBody>
      </p:sp>
      <p:sp>
        <p:nvSpPr>
          <p:cNvPr id="7" name="Stat card"/>
          <p:cNvSpPr/>
          <p:nvPr/>
        </p:nvSpPr>
        <p:spPr>
          <a:xfrm>
            <a:off x="4338218" y="1691640"/>
            <a:ext cx="3515258" cy="1325880"/>
          </a:xfrm>
          <a:prstGeom prst="roundRect">
            <a:avLst>
              <a:gd name="adj" fmla="val 10345"/>
            </a:avLst>
          </a:prstGeom>
          <a:solidFill>
            <a:srgbClr val="FFFFFF"/>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8" name="Stat number"/>
          <p:cNvSpPr txBox="1"/>
          <p:nvPr/>
        </p:nvSpPr>
        <p:spPr>
          <a:xfrm>
            <a:off x="4612538" y="1828800"/>
            <a:ext cx="2966618" cy="621792"/>
          </a:xfrm>
          <a:prstGeom prst="rect">
            <a:avLst/>
          </a:prstGeom>
          <a:noFill/>
          <a:ln/>
        </p:spPr>
        <p:txBody>
          <a:bodyPr wrap="square" lIns="0" tIns="0" rIns="0" bIns="0" rtlCol="0" anchor="ctr"/>
          <a:lstStyle/>
          <a:p>
            <a:pPr indent="0" marL="0">
              <a:buNone/>
            </a:pPr>
            <a:r>
              <a:rPr lang="en-US" sz="3600" b="1" dirty="0">
                <a:solidFill>
                  <a:srgbClr val="1E7F5C"/>
                </a:solidFill>
              </a:rPr>
              <a:t>11.0 → 19.2</a:t>
            </a:r>
            <a:endParaRPr lang="en-US" sz="3600" dirty="0"/>
          </a:p>
        </p:txBody>
      </p:sp>
      <p:sp>
        <p:nvSpPr>
          <p:cNvPr id="9" name="Paragraph"/>
          <p:cNvSpPr txBox="1"/>
          <p:nvPr/>
        </p:nvSpPr>
        <p:spPr>
          <a:xfrm>
            <a:off x="4612538" y="2496312"/>
            <a:ext cx="2966618" cy="411480"/>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team tNPS if those four reach zero, with no new promoters added</a:t>
            </a:r>
            <a:endParaRPr lang="en-US" sz="1250" dirty="0"/>
          </a:p>
        </p:txBody>
      </p:sp>
      <p:sp>
        <p:nvSpPr>
          <p:cNvPr id="10" name="Stat card"/>
          <p:cNvSpPr/>
          <p:nvPr/>
        </p:nvSpPr>
        <p:spPr>
          <a:xfrm>
            <a:off x="8127797" y="1691640"/>
            <a:ext cx="3515258" cy="1325880"/>
          </a:xfrm>
          <a:prstGeom prst="roundRect">
            <a:avLst>
              <a:gd name="adj" fmla="val 10345"/>
            </a:avLst>
          </a:prstGeom>
          <a:solidFill>
            <a:srgbClr val="FFFFFF"/>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11" name="Stat number"/>
          <p:cNvSpPr txBox="1"/>
          <p:nvPr/>
        </p:nvSpPr>
        <p:spPr>
          <a:xfrm>
            <a:off x="8402117" y="1828800"/>
            <a:ext cx="2966618" cy="621792"/>
          </a:xfrm>
          <a:prstGeom prst="rect">
            <a:avLst/>
          </a:prstGeom>
          <a:noFill/>
          <a:ln/>
        </p:spPr>
        <p:txBody>
          <a:bodyPr wrap="square" lIns="0" tIns="0" rIns="0" bIns="0" rtlCol="0" anchor="ctr"/>
          <a:lstStyle/>
          <a:p>
            <a:pPr indent="0" marL="0">
              <a:buNone/>
            </a:pPr>
            <a:r>
              <a:rPr lang="en-US" sz="3600" b="1" dirty="0">
                <a:solidFill>
                  <a:srgbClr val="C94A10"/>
                </a:solidFill>
              </a:rPr>
              <a:t>3 more</a:t>
            </a:r>
            <a:endParaRPr lang="en-US" sz="3600" dirty="0"/>
          </a:p>
        </p:txBody>
      </p:sp>
      <p:sp>
        <p:nvSpPr>
          <p:cNvPr id="12" name="Paragraph"/>
          <p:cNvSpPr txBox="1"/>
          <p:nvPr/>
        </p:nvSpPr>
        <p:spPr>
          <a:xfrm>
            <a:off x="8402117" y="2496312"/>
            <a:ext cx="2966618" cy="411480"/>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agents at tNPS 0 on 38 surveys, next in line</a:t>
            </a:r>
            <a:endParaRPr lang="en-US" sz="1250" dirty="0"/>
          </a:p>
        </p:txBody>
      </p:sp>
      <p:sp>
        <p:nvSpPr>
          <p:cNvPr id="13" name="Goals card"/>
          <p:cNvSpPr/>
          <p:nvPr/>
        </p:nvSpPr>
        <p:spPr>
          <a:xfrm>
            <a:off x="548640" y="3291840"/>
            <a:ext cx="4343400" cy="2834640"/>
          </a:xfrm>
          <a:prstGeom prst="roundRect">
            <a:avLst>
              <a:gd name="adj" fmla="val 4839"/>
            </a:avLst>
          </a:prstGeom>
          <a:solidFill>
            <a:srgbClr val="F6F3EE"/>
          </a:solidFill>
          <a:ln/>
        </p:spPr>
      </p:sp>
      <p:sp>
        <p:nvSpPr>
          <p:cNvPr id="14" name="Icon circle"/>
          <p:cNvSpPr/>
          <p:nvPr/>
        </p:nvSpPr>
        <p:spPr>
          <a:xfrm>
            <a:off x="777240" y="3493008"/>
            <a:ext cx="457200" cy="457200"/>
          </a:xfrm>
          <a:prstGeom prst="ellipse">
            <a:avLst/>
          </a:prstGeom>
          <a:solidFill>
            <a:srgbClr val="FDE9DF"/>
          </a:solidFill>
          <a:ln/>
        </p:spPr>
      </p:sp>
      <p:pic>
        <p:nvPicPr>
          <p:cNvPr id="15" name="Icon" descr="preencoded.png">    </p:cNvPr>
          <p:cNvPicPr>
            <a:picLocks noChangeAspect="1"/>
          </p:cNvPicPr>
          <p:nvPr/>
        </p:nvPicPr>
        <p:blipFill>
          <a:blip r:embed="rId1"/>
          <a:stretch>
            <a:fillRect/>
          </a:stretch>
        </p:blipFill>
        <p:spPr>
          <a:xfrm>
            <a:off x="886968" y="3602736"/>
            <a:ext cx="237744" cy="237744"/>
          </a:xfrm>
          <a:prstGeom prst="rect">
            <a:avLst/>
          </a:prstGeom>
        </p:spPr>
      </p:pic>
      <p:sp>
        <p:nvSpPr>
          <p:cNvPr id="16" name="Goals heading"/>
          <p:cNvSpPr txBox="1"/>
          <p:nvPr/>
        </p:nvSpPr>
        <p:spPr>
          <a:xfrm>
            <a:off x="1371600" y="3538728"/>
            <a:ext cx="3337560" cy="365760"/>
          </a:xfrm>
          <a:prstGeom prst="rect">
            <a:avLst/>
          </a:prstGeom>
          <a:noFill/>
          <a:ln/>
        </p:spPr>
        <p:txBody>
          <a:bodyPr wrap="square" lIns="0" tIns="0" rIns="0" bIns="0" rtlCol="0" anchor="ctr"/>
          <a:lstStyle/>
          <a:p>
            <a:pPr indent="0" marL="0">
              <a:buNone/>
            </a:pPr>
            <a:r>
              <a:rPr lang="en-US" sz="1600" b="1" dirty="0">
                <a:solidFill>
                  <a:srgbClr val="121826"/>
                </a:solidFill>
              </a:rPr>
              <a:t>Measurable goals</a:t>
            </a:r>
            <a:endParaRPr lang="en-US" sz="1600" dirty="0"/>
          </a:p>
        </p:txBody>
      </p:sp>
      <p:graphicFrame>
        <p:nvGraphicFramePr>
          <p:cNvPr id="6" name="Goals table"/>
          <p:cNvGraphicFramePr>
            <a:graphicFrameLocks noGrp="1"/>
          </p:cNvGraphicFramePr>
          <p:nvPr>
            <p:extLst>
              <p:ext uri="{D42A27DB-BD31-4B8C-83A1-F6EECF244321}">
                <p14:modId xmlns:p14="http://schemas.microsoft.com/office/powerpoint/2010/main" val="1579011935"/>
              </p:ext>
            </p:extLst>
          </p:nvPr>
        </p:nvGraphicFramePr>
        <p:xfrm>
          <a:off x="777240" y="4069080"/>
          <a:ext cx="3886200" cy="914400"/>
        </p:xfrm>
        <a:graphic>
          <a:graphicData uri="http://schemas.openxmlformats.org/drawingml/2006/table">
            <a:tbl>
              <a:tblPr/>
              <a:tblGrid>
                <a:gridCol w="960120"/>
                <a:gridCol w="777240"/>
                <a:gridCol w="2148840"/>
              </a:tblGrid>
              <a:tr h="329184">
                <a:tc>
                  <a:txBody>
                    <a:bodyPr/>
                    <a:lstStyle/>
                    <a:p>
                      <a:pPr algn="l" indent="0" marL="0">
                        <a:buNone/>
                      </a:pPr>
                      <a:r>
                        <a:rPr lang="en-US" sz="1050" b="1" dirty="0">
                          <a:solidFill>
                            <a:srgbClr val="6B7280"/>
                          </a:solidFill>
                          <a:latin typeface="Calibri" pitchFamily="34" charset="0"/>
                          <a:ea typeface="Calibri" pitchFamily="34" charset="-122"/>
                          <a:cs typeface="Calibri" pitchFamily="34" charset="-120"/>
                        </a:rPr>
                        <a:t>KPI</a:t>
                      </a:r>
                      <a:endParaRPr lang="en-US" sz="10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algn="l" indent="0" marL="0">
                        <a:buNone/>
                      </a:pPr>
                      <a:r>
                        <a:rPr lang="en-US" sz="1050" b="1" dirty="0">
                          <a:solidFill>
                            <a:srgbClr val="6B7280"/>
                          </a:solidFill>
                          <a:latin typeface="Calibri" pitchFamily="34" charset="0"/>
                          <a:ea typeface="Calibri" pitchFamily="34" charset="-122"/>
                          <a:cs typeface="Calibri" pitchFamily="34" charset="-120"/>
                        </a:rPr>
                        <a:t>Now</a:t>
                      </a:r>
                      <a:endParaRPr lang="en-US" sz="10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algn="l" indent="0" marL="0">
                        <a:buNone/>
                      </a:pPr>
                      <a:r>
                        <a:rPr lang="en-US" sz="1050" b="1" dirty="0">
                          <a:solidFill>
                            <a:srgbClr val="6B7280"/>
                          </a:solidFill>
                          <a:latin typeface="Calibri" pitchFamily="34" charset="0"/>
                          <a:ea typeface="Calibri" pitchFamily="34" charset="-122"/>
                          <a:cs typeface="Calibri" pitchFamily="34" charset="-120"/>
                        </a:rPr>
                        <a:t>Goal</a:t>
                      </a:r>
                      <a:endParaRPr lang="en-US" sz="10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r>
              <a:tr h="329184">
                <a:tc>
                  <a:txBody>
                    <a:bodyPr/>
                    <a:lstStyle/>
                    <a:p>
                      <a:pPr indent="0" marL="0">
                        <a:buNone/>
                      </a:pPr>
                      <a:r>
                        <a:rPr lang="en-US" sz="1250" b="1" dirty="0">
                          <a:solidFill>
                            <a:srgbClr val="121826"/>
                          </a:solidFill>
                          <a:latin typeface="Calibri" pitchFamily="34" charset="0"/>
                          <a:ea typeface="Calibri" pitchFamily="34" charset="-122"/>
                          <a:cs typeface="Calibri" pitchFamily="34" charset="-120"/>
                        </a:rPr>
                        <a:t>tNPS</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indent="0" marL="0">
                        <a:buNone/>
                      </a:pPr>
                      <a:r>
                        <a:rPr lang="en-US" sz="1250" b="1" dirty="0">
                          <a:solidFill>
                            <a:srgbClr val="B42318"/>
                          </a:solidFill>
                          <a:latin typeface="Calibri" pitchFamily="34" charset="0"/>
                          <a:ea typeface="Calibri" pitchFamily="34" charset="-122"/>
                          <a:cs typeface="Calibri" pitchFamily="34" charset="-120"/>
                        </a:rPr>
                        <a:t>11.0</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indent="0" marL="0">
                        <a:buNone/>
                      </a:pPr>
                      <a:r>
                        <a:rPr lang="en-US" sz="1250" dirty="0">
                          <a:solidFill>
                            <a:srgbClr val="3D4453"/>
                          </a:solidFill>
                          <a:latin typeface="Calibri" pitchFamily="34" charset="0"/>
                          <a:ea typeface="Calibri" pitchFamily="34" charset="-122"/>
                          <a:cs typeface="Calibri" pitchFamily="34" charset="-120"/>
                        </a:rPr>
                        <a:t>19.2, four negatives to 0</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r>
              <a:tr h="329184">
                <a:tc>
                  <a:txBody>
                    <a:bodyPr/>
                    <a:lstStyle/>
                    <a:p>
                      <a:pPr indent="0" marL="0">
                        <a:buNone/>
                      </a:pPr>
                      <a:r>
                        <a:rPr lang="en-US" sz="1250" b="1" dirty="0">
                          <a:solidFill>
                            <a:srgbClr val="121826"/>
                          </a:solidFill>
                          <a:latin typeface="Calibri" pitchFamily="34" charset="0"/>
                          <a:ea typeface="Calibri" pitchFamily="34" charset="-122"/>
                          <a:cs typeface="Calibri" pitchFamily="34" charset="-120"/>
                        </a:rPr>
                        <a:t>aiCR</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indent="0" marL="0">
                        <a:buNone/>
                      </a:pPr>
                      <a:r>
                        <a:rPr lang="en-US" sz="1250" b="1" dirty="0">
                          <a:solidFill>
                            <a:srgbClr val="1E7F5C"/>
                          </a:solidFill>
                          <a:latin typeface="Calibri" pitchFamily="34" charset="0"/>
                          <a:ea typeface="Calibri" pitchFamily="34" charset="-122"/>
                          <a:cs typeface="Calibri" pitchFamily="34" charset="-120"/>
                        </a:rPr>
                        <a:t>62.0%</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indent="0" marL="0">
                        <a:buNone/>
                      </a:pPr>
                      <a:r>
                        <a:rPr lang="en-US" sz="1250" dirty="0">
                          <a:solidFill>
                            <a:srgbClr val="3D4453"/>
                          </a:solidFill>
                          <a:latin typeface="Calibri" pitchFamily="34" charset="0"/>
                          <a:ea typeface="Calibri" pitchFamily="34" charset="-122"/>
                          <a:cs typeface="Calibri" pitchFamily="34" charset="-120"/>
                        </a:rPr>
                        <a:t>Hold at 62% or above</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r>
              <a:tr h="329184">
                <a:tc>
                  <a:txBody>
                    <a:bodyPr/>
                    <a:lstStyle/>
                    <a:p>
                      <a:pPr indent="0" marL="0">
                        <a:buNone/>
                      </a:pPr>
                      <a:r>
                        <a:rPr lang="en-US" sz="1250" b="1" dirty="0">
                          <a:solidFill>
                            <a:srgbClr val="121826"/>
                          </a:solidFill>
                          <a:latin typeface="Calibri" pitchFamily="34" charset="0"/>
                          <a:ea typeface="Calibri" pitchFamily="34" charset="-122"/>
                          <a:cs typeface="Calibri" pitchFamily="34" charset="-120"/>
                        </a:rPr>
                        <a:t>GSR 2026</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indent="0" marL="0">
                        <a:buNone/>
                      </a:pPr>
                      <a:r>
                        <a:rPr lang="en-US" sz="1250" b="1" dirty="0">
                          <a:solidFill>
                            <a:srgbClr val="B42318"/>
                          </a:solidFill>
                          <a:latin typeface="Calibri" pitchFamily="34" charset="0"/>
                          <a:ea typeface="Calibri" pitchFamily="34" charset="-122"/>
                          <a:cs typeface="Calibri" pitchFamily="34" charset="-120"/>
                        </a:rPr>
                        <a:t>7.3%</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indent="0" marL="0">
                        <a:buNone/>
                      </a:pPr>
                      <a:r>
                        <a:rPr lang="en-US" sz="1250" dirty="0">
                          <a:solidFill>
                            <a:srgbClr val="3D4453"/>
                          </a:solidFill>
                          <a:latin typeface="Calibri" pitchFamily="34" charset="0"/>
                          <a:ea typeface="Calibri" pitchFamily="34" charset="-122"/>
                          <a:cs typeface="Calibri" pitchFamily="34" charset="-120"/>
                        </a:rPr>
                        <a:t>8% team target</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r>
              <a:tr h="329184">
                <a:tc>
                  <a:txBody>
                    <a:bodyPr/>
                    <a:lstStyle/>
                    <a:p>
                      <a:pPr indent="0" marL="0">
                        <a:buNone/>
                      </a:pPr>
                      <a:r>
                        <a:rPr lang="en-US" sz="1250" b="1" dirty="0">
                          <a:solidFill>
                            <a:srgbClr val="121826"/>
                          </a:solidFill>
                          <a:latin typeface="Calibri" pitchFamily="34" charset="0"/>
                          <a:ea typeface="Calibri" pitchFamily="34" charset="-122"/>
                          <a:cs typeface="Calibri" pitchFamily="34" charset="-120"/>
                        </a:rPr>
                        <a:t>XM lines</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indent="0" marL="0">
                        <a:buNone/>
                      </a:pPr>
                      <a:r>
                        <a:rPr lang="en-US" sz="1250" b="1" dirty="0">
                          <a:solidFill>
                            <a:srgbClr val="B42318"/>
                          </a:solidFill>
                          <a:latin typeface="Calibri" pitchFamily="34" charset="0"/>
                          <a:ea typeface="Calibri" pitchFamily="34" charset="-122"/>
                          <a:cs typeface="Calibri" pitchFamily="34" charset="-120"/>
                        </a:rPr>
                        <a:t>6 of 13</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c>
                  <a:txBody>
                    <a:bodyPr/>
                    <a:lstStyle/>
                    <a:p>
                      <a:pPr indent="0" marL="0">
                        <a:buNone/>
                      </a:pPr>
                      <a:r>
                        <a:rPr lang="en-US" sz="1250" dirty="0">
                          <a:solidFill>
                            <a:srgbClr val="3D4453"/>
                          </a:solidFill>
                          <a:latin typeface="Calibri" pitchFamily="34" charset="0"/>
                          <a:ea typeface="Calibri" pitchFamily="34" charset="-122"/>
                          <a:cs typeface="Calibri" pitchFamily="34" charset="-120"/>
                        </a:rPr>
                        <a:t>All 13 agents at 4 lines</a:t>
                      </a:r>
                      <a:endParaRPr lang="en-US" sz="1250" dirty="0">
                        <a:latin typeface="Calibri" charset="0"/>
                        <a:ea typeface="Calibri" charset="0"/>
                        <a:cs typeface="Calibri" charset="0"/>
                      </a:endParaRPr>
                    </a:p>
                  </a:txBody>
                  <a:tcPr marL="0" marR="54864" marT="27432" marB="27432">
                    <a:lnL w="0" cap="flat" cmpd="sng" algn="ctr">
                      <a:noFill/>
                    </a:lnL>
                    <a:lnR w="0" cap="flat" cmpd="sng" algn="ctr">
                      <a:noFill/>
                    </a:lnR>
                    <a:lnT w="0" cap="flat" cmpd="sng" algn="ctr">
                      <a:noFill/>
                    </a:lnT>
                    <a:lnB w="9525" cap="flat" cmpd="sng" algn="ctr">
                      <a:solidFill>
                        <a:srgbClr val="E3DED7"/>
                      </a:solidFill>
                      <a:prstDash val="solid"/>
                      <a:round/>
                      <a:headEnd type="none" w="med" len="med"/>
                      <a:tailEnd type="none" w="med" len="med"/>
                    </a:lnB>
                  </a:tcPr>
                </a:tc>
              </a:tr>
            </a:tbl>
          </a:graphicData>
        </a:graphic>
      </p:graphicFrame>
      <p:sp>
        <p:nvSpPr>
          <p:cNvPr id="18" name="Cadence card"/>
          <p:cNvSpPr/>
          <p:nvPr/>
        </p:nvSpPr>
        <p:spPr>
          <a:xfrm>
            <a:off x="5166360" y="3291840"/>
            <a:ext cx="3611880" cy="2834640"/>
          </a:xfrm>
          <a:prstGeom prst="roundRect">
            <a:avLst>
              <a:gd name="adj" fmla="val 4839"/>
            </a:avLst>
          </a:prstGeom>
          <a:solidFill>
            <a:srgbClr val="F6F3EE"/>
          </a:solidFill>
          <a:ln/>
        </p:spPr>
      </p:sp>
      <p:sp>
        <p:nvSpPr>
          <p:cNvPr id="19" name="Icon circle"/>
          <p:cNvSpPr/>
          <p:nvPr/>
        </p:nvSpPr>
        <p:spPr>
          <a:xfrm>
            <a:off x="5394960" y="3493008"/>
            <a:ext cx="457200" cy="457200"/>
          </a:xfrm>
          <a:prstGeom prst="ellipse">
            <a:avLst/>
          </a:prstGeom>
          <a:solidFill>
            <a:srgbClr val="FDE9DF"/>
          </a:solidFill>
          <a:ln/>
        </p:spPr>
      </p:sp>
      <p:pic>
        <p:nvPicPr>
          <p:cNvPr id="20" name="Icon" descr="preencoded.png">    </p:cNvPr>
          <p:cNvPicPr>
            <a:picLocks noChangeAspect="1"/>
          </p:cNvPicPr>
          <p:nvPr/>
        </p:nvPicPr>
        <p:blipFill>
          <a:blip r:embed="rId2"/>
          <a:stretch>
            <a:fillRect/>
          </a:stretch>
        </p:blipFill>
        <p:spPr>
          <a:xfrm>
            <a:off x="5504688" y="3602736"/>
            <a:ext cx="237744" cy="237744"/>
          </a:xfrm>
          <a:prstGeom prst="rect">
            <a:avLst/>
          </a:prstGeom>
        </p:spPr>
      </p:pic>
      <p:sp>
        <p:nvSpPr>
          <p:cNvPr id="21" name="Cadence heading"/>
          <p:cNvSpPr txBox="1"/>
          <p:nvPr/>
        </p:nvSpPr>
        <p:spPr>
          <a:xfrm>
            <a:off x="5989320" y="3538728"/>
            <a:ext cx="2606040" cy="365760"/>
          </a:xfrm>
          <a:prstGeom prst="rect">
            <a:avLst/>
          </a:prstGeom>
          <a:noFill/>
          <a:ln/>
        </p:spPr>
        <p:txBody>
          <a:bodyPr wrap="square" lIns="0" tIns="0" rIns="0" bIns="0" rtlCol="0" anchor="ctr"/>
          <a:lstStyle/>
          <a:p>
            <a:pPr indent="0" marL="0">
              <a:buNone/>
            </a:pPr>
            <a:r>
              <a:rPr lang="en-US" sz="1600" b="1" dirty="0">
                <a:solidFill>
                  <a:srgbClr val="121826"/>
                </a:solidFill>
              </a:rPr>
              <a:t>Weekly cadence</a:t>
            </a:r>
            <a:endParaRPr lang="en-US" sz="1600" dirty="0"/>
          </a:p>
        </p:txBody>
      </p:sp>
      <p:sp>
        <p:nvSpPr>
          <p:cNvPr id="22" name="Cadence list"/>
          <p:cNvSpPr txBox="1"/>
          <p:nvPr/>
        </p:nvSpPr>
        <p:spPr>
          <a:xfrm>
            <a:off x="5440680" y="4114800"/>
            <a:ext cx="3108960" cy="1874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3D4453"/>
                </a:solidFill>
              </a:rPr>
              <a:t>15 to 30 minute session with every agent, one or two behaviors</a:t>
            </a:r>
            <a:endParaRPr lang="en-US" sz="1250" dirty="0"/>
          </a:p>
          <a:p>
            <a:pPr marL="177800" indent="-177800">
              <a:spcAft>
                <a:spcPts val="500"/>
              </a:spcAft>
              <a:buSzPct val="100000"/>
              <a:buChar char="•"/>
            </a:pPr>
            <a:r>
              <a:rPr lang="en-US" sz="1250" dirty="0">
                <a:solidFill>
                  <a:srgbClr val="3D4453"/>
                </a:solidFill>
              </a:rPr>
              <a:t>Ammar: 2 calls a week, side by side</a:t>
            </a:r>
            <a:endParaRPr lang="en-US" sz="1250" dirty="0"/>
          </a:p>
          <a:p>
            <a:pPr marL="177800" indent="-177800">
              <a:spcAft>
                <a:spcPts val="500"/>
              </a:spcAft>
              <a:buSzPct val="100000"/>
              <a:buChar char="•"/>
            </a:pPr>
            <a:r>
              <a:rPr lang="en-US" sz="1250" dirty="0">
                <a:solidFill>
                  <a:srgbClr val="3D4453"/>
                </a:solidFill>
              </a:rPr>
              <a:t>Huddle on the most-missed behavior</a:t>
            </a:r>
            <a:endParaRPr lang="en-US" sz="1250" dirty="0"/>
          </a:p>
          <a:p>
            <a:pPr marL="177800" indent="-177800">
              <a:spcAft>
                <a:spcPts val="500"/>
              </a:spcAft>
              <a:buSzPct val="100000"/>
              <a:buChar char="•"/>
            </a:pPr>
            <a:r>
              <a:rPr lang="en-US" sz="1250" dirty="0">
                <a:solidFill>
                  <a:srgbClr val="3D4453"/>
                </a:solidFill>
              </a:rPr>
              <a:t>Calibration pack every week</a:t>
            </a:r>
            <a:endParaRPr lang="en-US" sz="1250" dirty="0"/>
          </a:p>
        </p:txBody>
      </p:sp>
      <p:sp>
        <p:nvSpPr>
          <p:cNvPr id="23" name="Asks card"/>
          <p:cNvSpPr/>
          <p:nvPr/>
        </p:nvSpPr>
        <p:spPr>
          <a:xfrm>
            <a:off x="9052560" y="3291840"/>
            <a:ext cx="2590495" cy="2834640"/>
          </a:xfrm>
          <a:prstGeom prst="roundRect">
            <a:avLst>
              <a:gd name="adj" fmla="val 5295"/>
            </a:avLst>
          </a:prstGeom>
          <a:solidFill>
            <a:srgbClr val="121826"/>
          </a:solidFill>
          <a:ln/>
        </p:spPr>
      </p:sp>
      <p:sp>
        <p:nvSpPr>
          <p:cNvPr id="24" name="Icon circle"/>
          <p:cNvSpPr/>
          <p:nvPr/>
        </p:nvSpPr>
        <p:spPr>
          <a:xfrm>
            <a:off x="9281160" y="3493008"/>
            <a:ext cx="457200" cy="457200"/>
          </a:xfrm>
          <a:prstGeom prst="ellipse">
            <a:avLst/>
          </a:prstGeom>
          <a:solidFill>
            <a:srgbClr val="F26522"/>
          </a:solidFill>
          <a:ln/>
        </p:spPr>
      </p:sp>
      <p:pic>
        <p:nvPicPr>
          <p:cNvPr id="25" name="Icon" descr="preencoded.png">    </p:cNvPr>
          <p:cNvPicPr>
            <a:picLocks noChangeAspect="1"/>
          </p:cNvPicPr>
          <p:nvPr/>
        </p:nvPicPr>
        <p:blipFill>
          <a:blip r:embed="rId3"/>
          <a:stretch>
            <a:fillRect/>
          </a:stretch>
        </p:blipFill>
        <p:spPr>
          <a:xfrm>
            <a:off x="9390888" y="3602736"/>
            <a:ext cx="237744" cy="237744"/>
          </a:xfrm>
          <a:prstGeom prst="rect">
            <a:avLst/>
          </a:prstGeom>
        </p:spPr>
      </p:pic>
      <p:sp>
        <p:nvSpPr>
          <p:cNvPr id="26" name="Asks heading"/>
          <p:cNvSpPr txBox="1"/>
          <p:nvPr/>
        </p:nvSpPr>
        <p:spPr>
          <a:xfrm>
            <a:off x="9875520" y="3538728"/>
            <a:ext cx="1584655" cy="365760"/>
          </a:xfrm>
          <a:prstGeom prst="rect">
            <a:avLst/>
          </a:prstGeom>
          <a:noFill/>
          <a:ln/>
        </p:spPr>
        <p:txBody>
          <a:bodyPr wrap="square" lIns="0" tIns="0" rIns="0" bIns="0" rtlCol="0" anchor="ctr"/>
          <a:lstStyle/>
          <a:p>
            <a:pPr indent="0" marL="0">
              <a:buNone/>
            </a:pPr>
            <a:r>
              <a:rPr lang="en-US" sz="1600" b="1" dirty="0">
                <a:solidFill>
                  <a:srgbClr val="FFFFFF"/>
                </a:solidFill>
              </a:rPr>
              <a:t>Two asks</a:t>
            </a:r>
            <a:endParaRPr lang="en-US" sz="1600" dirty="0"/>
          </a:p>
        </p:txBody>
      </p:sp>
      <p:sp>
        <p:nvSpPr>
          <p:cNvPr id="27" name="Asks list"/>
          <p:cNvSpPr txBox="1"/>
          <p:nvPr/>
        </p:nvSpPr>
        <p:spPr>
          <a:xfrm>
            <a:off x="9326880" y="4114800"/>
            <a:ext cx="2087575" cy="18745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D9DDE6"/>
                </a:solidFill>
              </a:rPr>
              <a:t>Detractor comments each week, so I coach the exact moment</a:t>
            </a:r>
            <a:endParaRPr lang="en-US" sz="1250" dirty="0"/>
          </a:p>
          <a:p>
            <a:pPr marL="177800" indent="-177800">
              <a:spcAft>
                <a:spcPts val="800"/>
              </a:spcAft>
              <a:buSzPct val="100000"/>
              <a:buChar char="•"/>
            </a:pPr>
            <a:r>
              <a:rPr lang="en-US" sz="1250" dirty="0">
                <a:solidFill>
                  <a:srgbClr val="D9DDE6"/>
                </a:solidFill>
              </a:rPr>
              <a:t>Protected time off the phones for side-by-side coaching during nesting</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VXI Team Standing">
  <a:themeElements>
    <a:clrScheme name="VXI Team Standing">
      <a:dk1>
        <a:srgbClr val="121826"/>
      </a:dk1>
      <a:lt1>
        <a:srgbClr val="FFFFFF"/>
      </a:lt1>
      <a:dk2>
        <a:srgbClr val="3D4453"/>
      </a:dk2>
      <a:lt2>
        <a:srgbClr val="F6F3EE"/>
      </a:lt2>
      <a:accent1>
        <a:srgbClr val="F26522"/>
      </a:accent1>
      <a:accent2>
        <a:srgbClr val="C94A10"/>
      </a:accent2>
      <a:accent3>
        <a:srgbClr val="1E7F5C"/>
      </a:accent3>
      <a:accent4>
        <a:srgbClr val="B42318"/>
      </a:accent4>
      <a:accent5>
        <a:srgbClr val="FDE9DF"/>
      </a:accent5>
      <a:accent6>
        <a:srgbClr val="8C96AC"/>
      </a:accent6>
      <a:hlink>
        <a:srgbClr val="C94A10"/>
      </a:hlink>
      <a:folHlink>
        <a:srgbClr val="C94A10"/>
      </a:folHlink>
    </a:clrScheme>
    <a:fontScheme name="VXI Team Stand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Standing and Coaching Plan: Omar Mansour</dc:title>
  <dc:subject>PptxGenJS Presentation</dc:subject>
  <dc:creator>Omar Mansour</dc:creator>
  <cp:lastModifiedBy>Omar Mansour</cp:lastModifiedBy>
  <cp:revision>1</cp:revision>
  <dcterms:created xsi:type="dcterms:W3CDTF">2026-10-19T00:07:09Z</dcterms:created>
  <dcterms:modified xsi:type="dcterms:W3CDTF">2026-10-19T00:07:09Z</dcterms:modified>
</cp:coreProperties>
</file>