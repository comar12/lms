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6baed792-7f17-e298-87de-9dd2577ac54b}">
          <p14:sldIdLst>
            <p14:sldId id="256"/>
          </p14:sldIdLst>
        </p14:section>
        <p14:section name="Where Ammar is now" id="{7e3ed688-e353-9a76-61b4-a4910e600cc8}">
          <p14:sldIdLst>
            <p14:sldId id="257"/>
          </p14:sldIdLst>
        </p14:section>
        <p14:section name="How I coach" id="{2e1d0093-1980-cf9a-ef61-98aaebde2447}">
          <p14:sldIdLst>
            <p14:sldId id="258"/>
          </p14:sldIdLst>
        </p14:section>
        <p14:section name="Next 30 days" id="{9b232887-17db-a1a1-e864-a887efab0d60}">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coaching plan for Mohammed Ammar. He is a new hire, and he has improved over the last week. I will go through three things: where he is now, how I prepare and coach him, and my plan for the next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Ammar has improved. The week before last he had 1 promoter and 5 detractors, so his tNPS was minus 66.7. Last week he had 4 promoters and 2 detractors, which is 33.3 and right on the 33 target. That is a 100 point swing in one week. He has gone from getting mostly detractors to getting promoters. We are not done. He still needs to lock in assurance, empathy, acknowledgement, rapport, tone of voice, and no unexplained mute or silence. We keep taking them two at a time, and I keep listening to 2 of his calls a week,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prepare and coach, following the five focus areas from the calibration email. Before every session I check Tableau, Power BI and i3, I pick one KPI gap, and I listen to 2 to 4 calls. In the session I ask what was going through their mind at that moment, so I get to the cause and not only the symptom. With Ammar the causes were assurance, empathy, acknowledgement, rapport, tone of voice, and unexplained mute or silence. The agent says the gap in their own words, I model it, and we role play. Every plan has one or two behaviors, a KPI target with the surveys behind it, and a follow-up date. Then I follow up on calls every week. The dark row is Ammar, so you can see the five steps on one real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week Ammar had 4 promoters and 2 detractors, up from 1 and 5 the week before. His tNPS went from minus 66.7 to 33.3, so he is at the 33 target. The goal now is to keep him there every week, with 1 detractor or fewer a week, and to bring aiCR from 61.3 up to 62. The cadence stays the same: a session every week, 2 calls a week side by side, and his survey results reviewed with him the same week. In week 4 we review everything and decide if the plan is complete, extended or adjusted. Two things would help me. Detractor comments every week, so I can coach the exact moment on the call. And protected time off the phones for side-by-side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749808"/>
            <a:ext cx="11094415" cy="640080"/>
          </a:xfrm>
          <a:prstGeom prst="rect">
            <a:avLst/>
          </a:prstGeom>
          <a:noFill/>
          <a:ln/>
        </p:spPr>
        <p:txBody>
          <a:bodyPr wrap="square" rtlCol="0"/>
          <a:lstStyle>
            <a:lvl1pPr algn="l" indent="0" marL="0">
              <a:buNone/>
              <a:defRPr lang="en-US" sz="3200" b="1" dirty="0">
                <a:solidFill>
                  <a:schemeClr val="tx1"/>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Coaching plan · TSX Cairo</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121826"/>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1280160"/>
            <a:ext cx="9144000" cy="274320"/>
          </a:xfrm>
          <a:prstGeom prst="rect">
            <a:avLst/>
          </a:prstGeom>
          <a:noFill/>
          <a:ln/>
        </p:spPr>
        <p:txBody>
          <a:bodyPr wrap="square" lIns="0" tIns="0" rIns="0" bIns="0" rtlCol="0" anchor="ctr"/>
          <a:lstStyle/>
          <a:p>
            <a:pPr indent="0" marL="0">
              <a:buNone/>
            </a:pPr>
            <a:r>
              <a:rPr lang="en-US" sz="1200" b="1" spc="300" kern="0" dirty="0">
                <a:solidFill>
                  <a:srgbClr val="F26522"/>
                </a:solidFill>
              </a:rPr>
              <a:t>VXI · TSX CAIRO · COMCAST REPAIR</a:t>
            </a:r>
            <a:endParaRPr lang="en-US" sz="1200" dirty="0"/>
          </a:p>
        </p:txBody>
      </p:sp>
      <p:sp>
        <p:nvSpPr>
          <p:cNvPr id="3" name="Deck title"/>
          <p:cNvSpPr txBox="1"/>
          <p:nvPr/>
        </p:nvSpPr>
        <p:spPr>
          <a:xfrm>
            <a:off x="548640" y="1737360"/>
            <a:ext cx="6766560" cy="1828800"/>
          </a:xfrm>
          <a:prstGeom prst="rect">
            <a:avLst/>
          </a:prstGeom>
          <a:noFill/>
          <a:ln/>
        </p:spPr>
        <p:txBody>
          <a:bodyPr wrap="square" lIns="0" tIns="0" rIns="0" bIns="0" rtlCol="0" anchor="t"/>
          <a:lstStyle/>
          <a:p>
            <a:pPr indent="0" marL="0">
              <a:buNone/>
            </a:pPr>
            <a:r>
              <a:rPr lang="en-US" sz="5400" b="1" spc="-100" kern="0" dirty="0">
                <a:solidFill>
                  <a:srgbClr val="FFFFFF"/>
                </a:solidFill>
              </a:rPr>
              <a:t>Coaching plan: Mohammed Ammar</a:t>
            </a:r>
            <a:endParaRPr lang="en-US" sz="5400" dirty="0"/>
          </a:p>
        </p:txBody>
      </p:sp>
      <p:sp>
        <p:nvSpPr>
          <p:cNvPr id="4" name="Subtitle"/>
          <p:cNvSpPr txBox="1"/>
          <p:nvPr/>
        </p:nvSpPr>
        <p:spPr>
          <a:xfrm>
            <a:off x="548640" y="3657600"/>
            <a:ext cx="6400800" cy="822960"/>
          </a:xfrm>
          <a:prstGeom prst="rect">
            <a:avLst/>
          </a:prstGeom>
          <a:noFill/>
          <a:ln/>
        </p:spPr>
        <p:txBody>
          <a:bodyPr wrap="square" lIns="0" tIns="0" rIns="0" bIns="0" rtlCol="0" anchor="t"/>
          <a:lstStyle/>
          <a:p>
            <a:pPr indent="0" marL="0">
              <a:buNone/>
            </a:pPr>
            <a:r>
              <a:rPr lang="en-US" sz="1900" dirty="0">
                <a:solidFill>
                  <a:srgbClr val="D9DDE6"/>
                </a:solidFill>
              </a:rPr>
              <a:t>Where he is now, how I coach him, and the plan for the next 30 days.</a:t>
            </a:r>
            <a:endParaRPr lang="en-US" sz="1900" dirty="0"/>
          </a:p>
        </p:txBody>
      </p:sp>
      <p:sp>
        <p:nvSpPr>
          <p:cNvPr id="5" name="Agenda card"/>
          <p:cNvSpPr/>
          <p:nvPr/>
        </p:nvSpPr>
        <p:spPr>
          <a:xfrm>
            <a:off x="7818120" y="1600200"/>
            <a:ext cx="3824935" cy="2514600"/>
          </a:xfrm>
          <a:prstGeom prst="roundRect">
            <a:avLst>
              <a:gd name="adj" fmla="val 7273"/>
            </a:avLst>
          </a:prstGeom>
          <a:solidFill>
            <a:srgbClr val="1C2437"/>
          </a:solidFill>
          <a:ln/>
        </p:spPr>
      </p:sp>
      <p:sp>
        <p:nvSpPr>
          <p:cNvPr id="6" name="Icon circle"/>
          <p:cNvSpPr/>
          <p:nvPr/>
        </p:nvSpPr>
        <p:spPr>
          <a:xfrm>
            <a:off x="8119872" y="1874520"/>
            <a:ext cx="493776" cy="493776"/>
          </a:xfrm>
          <a:prstGeom prst="ellipse">
            <a:avLst/>
          </a:prstGeom>
          <a:solidFill>
            <a:srgbClr val="F26522"/>
          </a:solidFill>
          <a:ln/>
        </p:spPr>
      </p:sp>
      <p:pic>
        <p:nvPicPr>
          <p:cNvPr id="7" name="Icon" descr="preencoded.png">    </p:cNvPr>
          <p:cNvPicPr>
            <a:picLocks noChangeAspect="1"/>
          </p:cNvPicPr>
          <p:nvPr/>
        </p:nvPicPr>
        <p:blipFill>
          <a:blip r:embed="rId1"/>
          <a:stretch>
            <a:fillRect/>
          </a:stretch>
        </p:blipFill>
        <p:spPr>
          <a:xfrm>
            <a:off x="8238378" y="1993026"/>
            <a:ext cx="256764" cy="256764"/>
          </a:xfrm>
          <a:prstGeom prst="rect">
            <a:avLst/>
          </a:prstGeom>
        </p:spPr>
      </p:pic>
      <p:sp>
        <p:nvSpPr>
          <p:cNvPr id="8" name="Agenda item"/>
          <p:cNvSpPr txBox="1"/>
          <p:nvPr/>
        </p:nvSpPr>
        <p:spPr>
          <a:xfrm>
            <a:off x="8778240" y="1920240"/>
            <a:ext cx="2636215" cy="402336"/>
          </a:xfrm>
          <a:prstGeom prst="rect">
            <a:avLst/>
          </a:prstGeom>
          <a:noFill/>
          <a:ln/>
        </p:spPr>
        <p:txBody>
          <a:bodyPr wrap="square" lIns="0" tIns="0" rIns="0" bIns="0" rtlCol="0" anchor="ctr"/>
          <a:lstStyle/>
          <a:p>
            <a:pPr indent="0" marL="0">
              <a:buNone/>
            </a:pPr>
            <a:r>
              <a:rPr lang="en-US" sz="1700" b="1" dirty="0">
                <a:solidFill>
                  <a:srgbClr val="F26522"/>
                </a:solidFill>
              </a:rPr>
              <a:t>2  </a:t>
            </a:r>
            <a:pPr indent="0" marL="0">
              <a:buNone/>
            </a:pPr>
            <a:r>
              <a:rPr lang="en-US" sz="1700" b="1" dirty="0">
                <a:solidFill>
                  <a:srgbClr val="FFFFFF"/>
                </a:solidFill>
              </a:rPr>
              <a:t>Where Ammar is now</a:t>
            </a:r>
            <a:endParaRPr lang="en-US" sz="1700" dirty="0"/>
          </a:p>
        </p:txBody>
      </p:sp>
      <p:sp>
        <p:nvSpPr>
          <p:cNvPr id="9" name="Icon circle"/>
          <p:cNvSpPr/>
          <p:nvPr/>
        </p:nvSpPr>
        <p:spPr>
          <a:xfrm>
            <a:off x="8119872" y="2578608"/>
            <a:ext cx="493776" cy="493776"/>
          </a:xfrm>
          <a:prstGeom prst="ellipse">
            <a:avLst/>
          </a:prstGeom>
          <a:solidFill>
            <a:srgbClr val="F26522"/>
          </a:solidFill>
          <a:ln/>
        </p:spPr>
      </p:sp>
      <p:pic>
        <p:nvPicPr>
          <p:cNvPr id="10" name="Icon" descr="preencoded.png">    </p:cNvPr>
          <p:cNvPicPr>
            <a:picLocks noChangeAspect="1"/>
          </p:cNvPicPr>
          <p:nvPr/>
        </p:nvPicPr>
        <p:blipFill>
          <a:blip r:embed="rId2"/>
          <a:stretch>
            <a:fillRect/>
          </a:stretch>
        </p:blipFill>
        <p:spPr>
          <a:xfrm>
            <a:off x="8238378" y="2697114"/>
            <a:ext cx="256764" cy="256764"/>
          </a:xfrm>
          <a:prstGeom prst="rect">
            <a:avLst/>
          </a:prstGeom>
        </p:spPr>
      </p:pic>
      <p:sp>
        <p:nvSpPr>
          <p:cNvPr id="11" name="Agenda item"/>
          <p:cNvSpPr txBox="1"/>
          <p:nvPr/>
        </p:nvSpPr>
        <p:spPr>
          <a:xfrm>
            <a:off x="8778240" y="2624328"/>
            <a:ext cx="2636215" cy="402336"/>
          </a:xfrm>
          <a:prstGeom prst="rect">
            <a:avLst/>
          </a:prstGeom>
          <a:noFill/>
          <a:ln/>
        </p:spPr>
        <p:txBody>
          <a:bodyPr wrap="square" lIns="0" tIns="0" rIns="0" bIns="0" rtlCol="0" anchor="ctr"/>
          <a:lstStyle/>
          <a:p>
            <a:pPr indent="0" marL="0">
              <a:buNone/>
            </a:pPr>
            <a:r>
              <a:rPr lang="en-US" sz="1700" b="1" dirty="0">
                <a:solidFill>
                  <a:srgbClr val="F26522"/>
                </a:solidFill>
              </a:rPr>
              <a:t>3  </a:t>
            </a:r>
            <a:pPr indent="0" marL="0">
              <a:buNone/>
            </a:pPr>
            <a:r>
              <a:rPr lang="en-US" sz="1700" b="1" dirty="0">
                <a:solidFill>
                  <a:srgbClr val="FFFFFF"/>
                </a:solidFill>
              </a:rPr>
              <a:t>How I prepare and coach</a:t>
            </a:r>
            <a:endParaRPr lang="en-US" sz="1700" dirty="0"/>
          </a:p>
        </p:txBody>
      </p:sp>
      <p:sp>
        <p:nvSpPr>
          <p:cNvPr id="12" name="Icon circle"/>
          <p:cNvSpPr/>
          <p:nvPr/>
        </p:nvSpPr>
        <p:spPr>
          <a:xfrm>
            <a:off x="8119872" y="3282696"/>
            <a:ext cx="493776" cy="493776"/>
          </a:xfrm>
          <a:prstGeom prst="ellipse">
            <a:avLst/>
          </a:prstGeom>
          <a:solidFill>
            <a:srgbClr val="F26522"/>
          </a:solidFill>
          <a:ln/>
        </p:spPr>
      </p:sp>
      <p:pic>
        <p:nvPicPr>
          <p:cNvPr id="13" name="Icon" descr="preencoded.png">    </p:cNvPr>
          <p:cNvPicPr>
            <a:picLocks noChangeAspect="1"/>
          </p:cNvPicPr>
          <p:nvPr/>
        </p:nvPicPr>
        <p:blipFill>
          <a:blip r:embed="rId3"/>
          <a:stretch>
            <a:fillRect/>
          </a:stretch>
        </p:blipFill>
        <p:spPr>
          <a:xfrm>
            <a:off x="8238378" y="3401202"/>
            <a:ext cx="256764" cy="256764"/>
          </a:xfrm>
          <a:prstGeom prst="rect">
            <a:avLst/>
          </a:prstGeom>
        </p:spPr>
      </p:pic>
      <p:sp>
        <p:nvSpPr>
          <p:cNvPr id="14" name="Agenda item"/>
          <p:cNvSpPr txBox="1"/>
          <p:nvPr/>
        </p:nvSpPr>
        <p:spPr>
          <a:xfrm>
            <a:off x="8778240" y="3328416"/>
            <a:ext cx="2636215" cy="402336"/>
          </a:xfrm>
          <a:prstGeom prst="rect">
            <a:avLst/>
          </a:prstGeom>
          <a:noFill/>
          <a:ln/>
        </p:spPr>
        <p:txBody>
          <a:bodyPr wrap="square" lIns="0" tIns="0" rIns="0" bIns="0" rtlCol="0" anchor="ctr"/>
          <a:lstStyle/>
          <a:p>
            <a:pPr indent="0" marL="0">
              <a:buNone/>
            </a:pPr>
            <a:r>
              <a:rPr lang="en-US" sz="1700" b="1" dirty="0">
                <a:solidFill>
                  <a:srgbClr val="F26522"/>
                </a:solidFill>
              </a:rPr>
              <a:t>4  </a:t>
            </a:r>
            <a:pPr indent="0" marL="0">
              <a:buNone/>
            </a:pPr>
            <a:r>
              <a:rPr lang="en-US" sz="1700" b="1" dirty="0">
                <a:solidFill>
                  <a:srgbClr val="FFFFFF"/>
                </a:solidFill>
              </a:rPr>
              <a:t>The next 30 days</a:t>
            </a:r>
            <a:endParaRPr lang="en-US" sz="1700" dirty="0"/>
          </a:p>
        </p:txBody>
      </p:sp>
      <p:sp>
        <p:nvSpPr>
          <p:cNvPr id="15" name="Label"/>
          <p:cNvSpPr txBox="1"/>
          <p:nvPr/>
        </p:nvSpPr>
        <p:spPr>
          <a:xfrm>
            <a:off x="548640" y="5257800"/>
            <a:ext cx="3474720" cy="237744"/>
          </a:xfrm>
          <a:prstGeom prst="rect">
            <a:avLst/>
          </a:prstGeom>
          <a:noFill/>
          <a:ln/>
        </p:spPr>
        <p:txBody>
          <a:bodyPr wrap="square" lIns="0" tIns="0" rIns="0" bIns="0" rtlCol="0" anchor="ctr"/>
          <a:lstStyle/>
          <a:p>
            <a:pPr indent="0" marL="0">
              <a:buNone/>
            </a:pPr>
            <a:r>
              <a:rPr lang="en-US" sz="1050" b="1" spc="200" kern="0" dirty="0">
                <a:solidFill>
                  <a:srgbClr val="8C96AC"/>
                </a:solidFill>
              </a:rPr>
              <a:t>PRESENTED BY</a:t>
            </a:r>
            <a:endParaRPr lang="en-US" sz="1050" dirty="0"/>
          </a:p>
        </p:txBody>
      </p:sp>
      <p:sp>
        <p:nvSpPr>
          <p:cNvPr id="16" name="Cover detail"/>
          <p:cNvSpPr txBox="1"/>
          <p:nvPr/>
        </p:nvSpPr>
        <p:spPr>
          <a:xfrm>
            <a:off x="548640" y="5532120"/>
            <a:ext cx="3566160" cy="365760"/>
          </a:xfrm>
          <a:prstGeom prst="rect">
            <a:avLst/>
          </a:prstGeom>
          <a:noFill/>
          <a:ln/>
        </p:spPr>
        <p:txBody>
          <a:bodyPr wrap="square" lIns="0" tIns="0" rIns="0" bIns="0" rtlCol="0" anchor="ctr"/>
          <a:lstStyle/>
          <a:p>
            <a:pPr indent="0" marL="0">
              <a:buNone/>
            </a:pPr>
            <a:r>
              <a:rPr lang="en-US" sz="1700" b="1" dirty="0">
                <a:solidFill>
                  <a:srgbClr val="FFFFFF"/>
                </a:solidFill>
              </a:rPr>
              <a:t>Omar Mansour, Supervisor</a:t>
            </a:r>
            <a:endParaRPr lang="en-US" sz="1700" dirty="0"/>
          </a:p>
        </p:txBody>
      </p:sp>
      <p:sp>
        <p:nvSpPr>
          <p:cNvPr id="17" name="Label"/>
          <p:cNvSpPr txBox="1"/>
          <p:nvPr/>
        </p:nvSpPr>
        <p:spPr>
          <a:xfrm>
            <a:off x="4251960" y="5257800"/>
            <a:ext cx="3474720" cy="237744"/>
          </a:xfrm>
          <a:prstGeom prst="rect">
            <a:avLst/>
          </a:prstGeom>
          <a:noFill/>
          <a:ln/>
        </p:spPr>
        <p:txBody>
          <a:bodyPr wrap="square" lIns="0" tIns="0" rIns="0" bIns="0" rtlCol="0" anchor="ctr"/>
          <a:lstStyle/>
          <a:p>
            <a:pPr indent="0" marL="0">
              <a:buNone/>
            </a:pPr>
            <a:r>
              <a:rPr lang="en-US" sz="1050" b="1" spc="200" kern="0" dirty="0">
                <a:solidFill>
                  <a:srgbClr val="8C96AC"/>
                </a:solidFill>
              </a:rPr>
              <a:t>FOCUS</a:t>
            </a:r>
            <a:endParaRPr lang="en-US" sz="1050" dirty="0"/>
          </a:p>
        </p:txBody>
      </p:sp>
      <p:sp>
        <p:nvSpPr>
          <p:cNvPr id="18" name="Cover detail"/>
          <p:cNvSpPr txBox="1"/>
          <p:nvPr/>
        </p:nvSpPr>
        <p:spPr>
          <a:xfrm>
            <a:off x="4251960" y="5532120"/>
            <a:ext cx="3566160" cy="365760"/>
          </a:xfrm>
          <a:prstGeom prst="rect">
            <a:avLst/>
          </a:prstGeom>
          <a:noFill/>
          <a:ln/>
        </p:spPr>
        <p:txBody>
          <a:bodyPr wrap="square" lIns="0" tIns="0" rIns="0" bIns="0" rtlCol="0" anchor="ctr"/>
          <a:lstStyle/>
          <a:p>
            <a:pPr indent="0" marL="0">
              <a:buNone/>
            </a:pPr>
            <a:r>
              <a:rPr lang="en-US" sz="1700" b="1" dirty="0">
                <a:solidFill>
                  <a:srgbClr val="FFFFFF"/>
                </a:solidFill>
              </a:rPr>
              <a:t>Mohammed Ammar, coached weekly</a:t>
            </a:r>
            <a:endParaRPr lang="en-US" sz="1700" dirty="0"/>
          </a:p>
        </p:txBody>
      </p:sp>
      <p:sp>
        <p:nvSpPr>
          <p:cNvPr id="19" name="Label"/>
          <p:cNvSpPr txBox="1"/>
          <p:nvPr/>
        </p:nvSpPr>
        <p:spPr>
          <a:xfrm>
            <a:off x="7955280" y="5257800"/>
            <a:ext cx="3474720" cy="237744"/>
          </a:xfrm>
          <a:prstGeom prst="rect">
            <a:avLst/>
          </a:prstGeom>
          <a:noFill/>
          <a:ln/>
        </p:spPr>
        <p:txBody>
          <a:bodyPr wrap="square" lIns="0" tIns="0" rIns="0" bIns="0" rtlCol="0" anchor="ctr"/>
          <a:lstStyle/>
          <a:p>
            <a:pPr indent="0" marL="0">
              <a:buNone/>
            </a:pPr>
            <a:r>
              <a:rPr lang="en-US" sz="1050" b="1" spc="200" kern="0" dirty="0">
                <a:solidFill>
                  <a:srgbClr val="8C96AC"/>
                </a:solidFill>
              </a:rPr>
              <a:t>SESSION</a:t>
            </a:r>
            <a:endParaRPr lang="en-US" sz="1050" dirty="0"/>
          </a:p>
        </p:txBody>
      </p:sp>
      <p:sp>
        <p:nvSpPr>
          <p:cNvPr id="20" name="Cover detail"/>
          <p:cNvSpPr txBox="1"/>
          <p:nvPr/>
        </p:nvSpPr>
        <p:spPr>
          <a:xfrm>
            <a:off x="7955280" y="5532120"/>
            <a:ext cx="3566160" cy="365760"/>
          </a:xfrm>
          <a:prstGeom prst="rect">
            <a:avLst/>
          </a:prstGeom>
          <a:noFill/>
          <a:ln/>
        </p:spPr>
        <p:txBody>
          <a:bodyPr wrap="square" lIns="0" tIns="0" rIns="0" bIns="0" rtlCol="0" anchor="ctr"/>
          <a:lstStyle/>
          <a:p>
            <a:pPr indent="0" marL="0">
              <a:buNone/>
            </a:pPr>
            <a:r>
              <a:rPr lang="en-US" sz="1700" b="1" dirty="0">
                <a:solidFill>
                  <a:srgbClr val="FFFFFF"/>
                </a:solidFill>
              </a:rPr>
              <a:t>Week of October 19, 2026</a:t>
            </a:r>
            <a:endParaRPr lang="en-US" sz="1700" dirty="0"/>
          </a:p>
        </p:txBody>
      </p:sp>
    </p:spTree>
  </p:cSld>
  <p:clrMapOvr>
    <a:masterClrMapping/>
  </p:clrMapOvr>
  <p:transition spd="slow">
    <p:fade thruBlk="1"/>
  </p:transition>
  <p:timing>
    <p:tnLst>
      <p:par>
        <p:cTn id="1" dur="indefinite" restart="never" nodeType="tmRoot">
          <p:childTnLst>
            <p:seq concurrent="1" nextAc="seek">
              <p:cTn id="2" dur="indefinite" nodeType="mainSeq">
                <p:childTnLst>
                  <p:par>
                    <p:cTn id="76" fill="hold">
                      <p:stCondLst>
                        <p:cond delay="indefinite"/>
                        <p:cond evt="onBegin" delay="0">
                          <p:tn val="2"/>
                        </p:cond>
                      </p:stCondLst>
                      <p:childTnLst>
                        <p:par>
                          <p:cTn id="77" fill="hold">
                            <p:stCondLst>
                              <p:cond delay="0"/>
                            </p:stCondLst>
                            <p:childTnLst>
                              <p:par>
                                <p:cTn id="5" presetID="22" presetClass="entr" presetSubtype="8" grpId="0" fill="hold"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550"/>
                                        <p:tgtEl>
                                          <p:spTgt spid="2"/>
                                        </p:tgtEl>
                                      </p:cBhvr>
                                    </p:animEffect>
                                  </p:childTnLst>
                                </p:cTn>
                              </p:par>
                              <p:par>
                                <p:cTn id="10" presetID="42" presetClass="entr" presetSubtype="0" grpId="0" fill="hold" nodeType="with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750"/>
                                        <p:tgtEl>
                                          <p:spTgt spid="3"/>
                                        </p:tgtEl>
                                      </p:cBhvr>
                                    </p:animEffect>
                                    <p:anim calcmode="lin" valueType="num">
                                      <p:cBhvr>
                                        <p:cTn id="8" dur="750" decel="100000" fill="hold"/>
                                        <p:tgtEl>
                                          <p:spTgt spid="3"/>
                                        </p:tgtEl>
                                        <p:attrNameLst>
                                          <p:attrName>ppt_x</p:attrName>
                                        </p:attrNameLst>
                                      </p:cBhvr>
                                      <p:tavLst>
                                        <p:tav tm="0">
                                          <p:val>
                                            <p:strVal val="#ppt_x"/>
                                          </p:val>
                                        </p:tav>
                                        <p:tav tm="100000">
                                          <p:val>
                                            <p:strVal val="#ppt_x"/>
                                          </p:val>
                                        </p:tav>
                                      </p:tavLst>
                                    </p:anim>
                                    <p:anim calcmode="lin" valueType="num">
                                      <p:cBhvr>
                                        <p:cTn id="9" dur="750" decel="100000" fill="hold"/>
                                        <p:tgtEl>
                                          <p:spTgt spid="3"/>
                                        </p:tgtEl>
                                        <p:attrNameLst>
                                          <p:attrName>ppt_y</p:attrName>
                                        </p:attrNameLst>
                                      </p:cBhvr>
                                      <p:tavLst>
                                        <p:tav tm="0">
                                          <p:val>
                                            <p:strVal val="#ppt_y+.08"/>
                                          </p:val>
                                        </p:tav>
                                        <p:tav tm="100000">
                                          <p:val>
                                            <p:strVal val="#ppt_y"/>
                                          </p:val>
                                        </p:tav>
                                      </p:tavLst>
                                    </p:anim>
                                  </p:childTnLst>
                                </p:cTn>
                              </p:par>
                              <p:par>
                                <p:cTn id="13" presetID="10" presetClass="entr" presetSubtype="0" grpId="0" fill="hold" nodeType="withEffect">
                                  <p:stCondLst>
                                    <p:cond delay="65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600"/>
                                        <p:tgtEl>
                                          <p:spTgt spid="4"/>
                                        </p:tgtEl>
                                      </p:cBhvr>
                                    </p:animEffect>
                                  </p:childTnLst>
                                </p:cTn>
                              </p:par>
                              <p:par>
                                <p:cTn id="18" presetID="42" presetClass="entr" presetSubtype="0" grpId="0" fill="hold" nodeType="withEffect">
                                  <p:stCondLst>
                                    <p:cond delay="85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750"/>
                                        <p:tgtEl>
                                          <p:spTgt spid="5"/>
                                        </p:tgtEl>
                                      </p:cBhvr>
                                    </p:animEffect>
                                    <p:anim calcmode="lin" valueType="num">
                                      <p:cBhvr>
                                        <p:cTn id="16" dur="750" decel="100000" fill="hold"/>
                                        <p:tgtEl>
                                          <p:spTgt spid="5"/>
                                        </p:tgtEl>
                                        <p:attrNameLst>
                                          <p:attrName>ppt_x</p:attrName>
                                        </p:attrNameLst>
                                      </p:cBhvr>
                                      <p:tavLst>
                                        <p:tav tm="0">
                                          <p:val>
                                            <p:strVal val="#ppt_x"/>
                                          </p:val>
                                        </p:tav>
                                        <p:tav tm="100000">
                                          <p:val>
                                            <p:strVal val="#ppt_x"/>
                                          </p:val>
                                        </p:tav>
                                      </p:tavLst>
                                    </p:anim>
                                    <p:anim calcmode="lin" valueType="num">
                                      <p:cBhvr>
                                        <p:cTn id="17" dur="750" decel="100000" fill="hold"/>
                                        <p:tgtEl>
                                          <p:spTgt spid="5"/>
                                        </p:tgtEl>
                                        <p:attrNameLst>
                                          <p:attrName>ppt_y</p:attrName>
                                        </p:attrNameLst>
                                      </p:cBhvr>
                                      <p:tavLst>
                                        <p:tav tm="0">
                                          <p:val>
                                            <p:strVal val="#ppt_y+.08"/>
                                          </p:val>
                                        </p:tav>
                                        <p:tav tm="100000">
                                          <p:val>
                                            <p:strVal val="#ppt_y"/>
                                          </p:val>
                                        </p:tav>
                                      </p:tavLst>
                                    </p:anim>
                                  </p:childTnLst>
                                </p:cTn>
                              </p:par>
                              <p:par>
                                <p:cTn id="23" presetID="53" presetClass="entr" presetSubtype="16" grpId="0" fill="hold" nodeType="withEffect">
                                  <p:stCondLst>
                                    <p:cond delay="1250"/>
                                  </p:stCondLst>
                                  <p:childTnLst>
                                    <p:set>
                                      <p:cBhvr>
                                        <p:cTn id="19" dur="1" fill="hold">
                                          <p:stCondLst>
                                            <p:cond delay="0"/>
                                          </p:stCondLst>
                                        </p:cTn>
                                        <p:tgtEl>
                                          <p:spTgt spid="6"/>
                                        </p:tgtEl>
                                        <p:attrNameLst>
                                          <p:attrName>style.visibility</p:attrName>
                                        </p:attrNameLst>
                                      </p:cBhvr>
                                      <p:to>
                                        <p:strVal val="visible"/>
                                      </p:to>
                                    </p:set>
                                    <p:anim calcmode="lin" valueType="num">
                                      <p:cBhvr>
                                        <p:cTn id="20" dur="500" decel="100000" fill="hold"/>
                                        <p:tgtEl>
                                          <p:spTgt spid="6"/>
                                        </p:tgtEl>
                                        <p:attrNameLst>
                                          <p:attrName>ppt_w</p:attrName>
                                        </p:attrNameLst>
                                      </p:cBhvr>
                                      <p:tavLst>
                                        <p:tav tm="0">
                                          <p:val>
                                            <p:fltVal val="0"/>
                                          </p:val>
                                        </p:tav>
                                        <p:tav tm="100000">
                                          <p:val>
                                            <p:strVal val="#ppt_w"/>
                                          </p:val>
                                        </p:tav>
                                      </p:tavLst>
                                    </p:anim>
                                    <p:anim calcmode="lin" valueType="num">
                                      <p:cBhvr>
                                        <p:cTn id="21" dur="500" decel="100000" fill="hold"/>
                                        <p:tgtEl>
                                          <p:spTgt spid="6"/>
                                        </p:tgtEl>
                                        <p:attrNameLst>
                                          <p:attrName>ppt_h</p:attrName>
                                        </p:attrNameLst>
                                      </p:cBhvr>
                                      <p:tavLst>
                                        <p:tav tm="0">
                                          <p:val>
                                            <p:fltVal val="0"/>
                                          </p:val>
                                        </p:tav>
                                        <p:tav tm="100000">
                                          <p:val>
                                            <p:strVal val="#ppt_h"/>
                                          </p:val>
                                        </p:tav>
                                      </p:tavLst>
                                    </p:anim>
                                    <p:animEffect transition="in" filter="fade">
                                      <p:cBhvr>
                                        <p:cTn id="22" dur="500"/>
                                        <p:tgtEl>
                                          <p:spTgt spid="6"/>
                                        </p:tgtEl>
                                      </p:cBhvr>
                                    </p:animEffect>
                                  </p:childTnLst>
                                </p:cTn>
                              </p:par>
                              <p:par>
                                <p:cTn id="28" presetID="53" presetClass="entr" presetSubtype="16" grpId="0" fill="hold" nodeType="withEffect">
                                  <p:stCondLst>
                                    <p:cond delay="1250"/>
                                  </p:stCondLst>
                                  <p:childTnLst>
                                    <p:set>
                                      <p:cBhvr>
                                        <p:cTn id="24" dur="1" fill="hold">
                                          <p:stCondLst>
                                            <p:cond delay="0"/>
                                          </p:stCondLst>
                                        </p:cTn>
                                        <p:tgtEl>
                                          <p:spTgt spid="7"/>
                                        </p:tgtEl>
                                        <p:attrNameLst>
                                          <p:attrName>style.visibility</p:attrName>
                                        </p:attrNameLst>
                                      </p:cBhvr>
                                      <p:to>
                                        <p:strVal val="visible"/>
                                      </p:to>
                                    </p:set>
                                    <p:anim calcmode="lin" valueType="num">
                                      <p:cBhvr>
                                        <p:cTn id="25" dur="500" decel="100000" fill="hold"/>
                                        <p:tgtEl>
                                          <p:spTgt spid="7"/>
                                        </p:tgtEl>
                                        <p:attrNameLst>
                                          <p:attrName>ppt_w</p:attrName>
                                        </p:attrNameLst>
                                      </p:cBhvr>
                                      <p:tavLst>
                                        <p:tav tm="0">
                                          <p:val>
                                            <p:fltVal val="0"/>
                                          </p:val>
                                        </p:tav>
                                        <p:tav tm="100000">
                                          <p:val>
                                            <p:strVal val="#ppt_w"/>
                                          </p:val>
                                        </p:tav>
                                      </p:tavLst>
                                    </p:anim>
                                    <p:anim calcmode="lin" valueType="num">
                                      <p:cBhvr>
                                        <p:cTn id="26" dur="500" decel="100000" fill="hold"/>
                                        <p:tgtEl>
                                          <p:spTgt spid="7"/>
                                        </p:tgtEl>
                                        <p:attrNameLst>
                                          <p:attrName>ppt_h</p:attrName>
                                        </p:attrNameLst>
                                      </p:cBhvr>
                                      <p:tavLst>
                                        <p:tav tm="0">
                                          <p:val>
                                            <p:fltVal val="0"/>
                                          </p:val>
                                        </p:tav>
                                        <p:tav tm="100000">
                                          <p:val>
                                            <p:strVal val="#ppt_h"/>
                                          </p:val>
                                        </p:tav>
                                      </p:tavLst>
                                    </p:anim>
                                    <p:animEffect transition="in" filter="fade">
                                      <p:cBhvr>
                                        <p:cTn id="27" dur="500"/>
                                        <p:tgtEl>
                                          <p:spTgt spid="7"/>
                                        </p:tgtEl>
                                      </p:cBhvr>
                                    </p:animEffect>
                                  </p:childTnLst>
                                </p:cTn>
                              </p:par>
                              <p:par>
                                <p:cTn id="31" presetID="22" presetClass="entr" presetSubtype="8" grpId="0" fill="hold" nodeType="withEffect">
                                  <p:stCondLst>
                                    <p:cond delay="1300"/>
                                  </p:stCondLst>
                                  <p:childTnLst>
                                    <p:set>
                                      <p:cBhvr>
                                        <p:cTn id="29" dur="1" fill="hold">
                                          <p:stCondLst>
                                            <p:cond delay="0"/>
                                          </p:stCondLst>
                                        </p:cTn>
                                        <p:tgtEl>
                                          <p:spTgt spid="8"/>
                                        </p:tgtEl>
                                        <p:attrNameLst>
                                          <p:attrName>style.visibility</p:attrName>
                                        </p:attrNameLst>
                                      </p:cBhvr>
                                      <p:to>
                                        <p:strVal val="visible"/>
                                      </p:to>
                                    </p:set>
                                    <p:animEffect transition="in" filter="wipe(left)">
                                      <p:cBhvr>
                                        <p:cTn id="30" dur="550"/>
                                        <p:tgtEl>
                                          <p:spTgt spid="8"/>
                                        </p:tgtEl>
                                      </p:cBhvr>
                                    </p:animEffect>
                                  </p:childTnLst>
                                </p:cTn>
                              </p:par>
                              <p:par>
                                <p:cTn id="36" presetID="53" presetClass="entr" presetSubtype="16" grpId="0" fill="hold" nodeType="withEffect">
                                  <p:stCondLst>
                                    <p:cond delay="1450"/>
                                  </p:stCondLst>
                                  <p:childTnLst>
                                    <p:set>
                                      <p:cBhvr>
                                        <p:cTn id="32" dur="1" fill="hold">
                                          <p:stCondLst>
                                            <p:cond delay="0"/>
                                          </p:stCondLst>
                                        </p:cTn>
                                        <p:tgtEl>
                                          <p:spTgt spid="9"/>
                                        </p:tgtEl>
                                        <p:attrNameLst>
                                          <p:attrName>style.visibility</p:attrName>
                                        </p:attrNameLst>
                                      </p:cBhvr>
                                      <p:to>
                                        <p:strVal val="visible"/>
                                      </p:to>
                                    </p:set>
                                    <p:anim calcmode="lin" valueType="num">
                                      <p:cBhvr>
                                        <p:cTn id="33" dur="500" decel="100000" fill="hold"/>
                                        <p:tgtEl>
                                          <p:spTgt spid="9"/>
                                        </p:tgtEl>
                                        <p:attrNameLst>
                                          <p:attrName>ppt_w</p:attrName>
                                        </p:attrNameLst>
                                      </p:cBhvr>
                                      <p:tavLst>
                                        <p:tav tm="0">
                                          <p:val>
                                            <p:fltVal val="0"/>
                                          </p:val>
                                        </p:tav>
                                        <p:tav tm="100000">
                                          <p:val>
                                            <p:strVal val="#ppt_w"/>
                                          </p:val>
                                        </p:tav>
                                      </p:tavLst>
                                    </p:anim>
                                    <p:anim calcmode="lin" valueType="num">
                                      <p:cBhvr>
                                        <p:cTn id="34" dur="500" decel="100000" fill="hold"/>
                                        <p:tgtEl>
                                          <p:spTgt spid="9"/>
                                        </p:tgtEl>
                                        <p:attrNameLst>
                                          <p:attrName>ppt_h</p:attrName>
                                        </p:attrNameLst>
                                      </p:cBhvr>
                                      <p:tavLst>
                                        <p:tav tm="0">
                                          <p:val>
                                            <p:fltVal val="0"/>
                                          </p:val>
                                        </p:tav>
                                        <p:tav tm="100000">
                                          <p:val>
                                            <p:strVal val="#ppt_h"/>
                                          </p:val>
                                        </p:tav>
                                      </p:tavLst>
                                    </p:anim>
                                    <p:animEffect transition="in" filter="fade">
                                      <p:cBhvr>
                                        <p:cTn id="35" dur="500"/>
                                        <p:tgtEl>
                                          <p:spTgt spid="9"/>
                                        </p:tgtEl>
                                      </p:cBhvr>
                                    </p:animEffect>
                                  </p:childTnLst>
                                </p:cTn>
                              </p:par>
                              <p:par>
                                <p:cTn id="41" presetID="53" presetClass="entr" presetSubtype="16" grpId="0" fill="hold" nodeType="withEffect">
                                  <p:stCondLst>
                                    <p:cond delay="1450"/>
                                  </p:stCondLst>
                                  <p:childTnLst>
                                    <p:set>
                                      <p:cBhvr>
                                        <p:cTn id="37" dur="1" fill="hold">
                                          <p:stCondLst>
                                            <p:cond delay="0"/>
                                          </p:stCondLst>
                                        </p:cTn>
                                        <p:tgtEl>
                                          <p:spTgt spid="10"/>
                                        </p:tgtEl>
                                        <p:attrNameLst>
                                          <p:attrName>style.visibility</p:attrName>
                                        </p:attrNameLst>
                                      </p:cBhvr>
                                      <p:to>
                                        <p:strVal val="visible"/>
                                      </p:to>
                                    </p:set>
                                    <p:anim calcmode="lin" valueType="num">
                                      <p:cBhvr>
                                        <p:cTn id="38" dur="500" decel="100000" fill="hold"/>
                                        <p:tgtEl>
                                          <p:spTgt spid="10"/>
                                        </p:tgtEl>
                                        <p:attrNameLst>
                                          <p:attrName>ppt_w</p:attrName>
                                        </p:attrNameLst>
                                      </p:cBhvr>
                                      <p:tavLst>
                                        <p:tav tm="0">
                                          <p:val>
                                            <p:fltVal val="0"/>
                                          </p:val>
                                        </p:tav>
                                        <p:tav tm="100000">
                                          <p:val>
                                            <p:strVal val="#ppt_w"/>
                                          </p:val>
                                        </p:tav>
                                      </p:tavLst>
                                    </p:anim>
                                    <p:anim calcmode="lin" valueType="num">
                                      <p:cBhvr>
                                        <p:cTn id="39" dur="500" decel="100000" fill="hold"/>
                                        <p:tgtEl>
                                          <p:spTgt spid="10"/>
                                        </p:tgtEl>
                                        <p:attrNameLst>
                                          <p:attrName>ppt_h</p:attrName>
                                        </p:attrNameLst>
                                      </p:cBhvr>
                                      <p:tavLst>
                                        <p:tav tm="0">
                                          <p:val>
                                            <p:fltVal val="0"/>
                                          </p:val>
                                        </p:tav>
                                        <p:tav tm="100000">
                                          <p:val>
                                            <p:strVal val="#ppt_h"/>
                                          </p:val>
                                        </p:tav>
                                      </p:tavLst>
                                    </p:anim>
                                    <p:animEffect transition="in" filter="fade">
                                      <p:cBhvr>
                                        <p:cTn id="40" dur="500"/>
                                        <p:tgtEl>
                                          <p:spTgt spid="10"/>
                                        </p:tgtEl>
                                      </p:cBhvr>
                                    </p:animEffect>
                                  </p:childTnLst>
                                </p:cTn>
                              </p:par>
                              <p:par>
                                <p:cTn id="44" presetID="22" presetClass="entr" presetSubtype="8" grpId="0" fill="hold" nodeType="withEffect">
                                  <p:stCondLst>
                                    <p:cond delay="1500"/>
                                  </p:stCondLst>
                                  <p:childTnLst>
                                    <p:set>
                                      <p:cBhvr>
                                        <p:cTn id="42" dur="1" fill="hold">
                                          <p:stCondLst>
                                            <p:cond delay="0"/>
                                          </p:stCondLst>
                                        </p:cTn>
                                        <p:tgtEl>
                                          <p:spTgt spid="11"/>
                                        </p:tgtEl>
                                        <p:attrNameLst>
                                          <p:attrName>style.visibility</p:attrName>
                                        </p:attrNameLst>
                                      </p:cBhvr>
                                      <p:to>
                                        <p:strVal val="visible"/>
                                      </p:to>
                                    </p:set>
                                    <p:animEffect transition="in" filter="wipe(left)">
                                      <p:cBhvr>
                                        <p:cTn id="43" dur="550"/>
                                        <p:tgtEl>
                                          <p:spTgt spid="11"/>
                                        </p:tgtEl>
                                      </p:cBhvr>
                                    </p:animEffect>
                                  </p:childTnLst>
                                </p:cTn>
                              </p:par>
                              <p:par>
                                <p:cTn id="49" presetID="53" presetClass="entr" presetSubtype="16" grpId="0" fill="hold" nodeType="withEffect">
                                  <p:stCondLst>
                                    <p:cond delay="1650"/>
                                  </p:stCondLst>
                                  <p:childTnLst>
                                    <p:set>
                                      <p:cBhvr>
                                        <p:cTn id="45" dur="1" fill="hold">
                                          <p:stCondLst>
                                            <p:cond delay="0"/>
                                          </p:stCondLst>
                                        </p:cTn>
                                        <p:tgtEl>
                                          <p:spTgt spid="12"/>
                                        </p:tgtEl>
                                        <p:attrNameLst>
                                          <p:attrName>style.visibility</p:attrName>
                                        </p:attrNameLst>
                                      </p:cBhvr>
                                      <p:to>
                                        <p:strVal val="visible"/>
                                      </p:to>
                                    </p:set>
                                    <p:anim calcmode="lin" valueType="num">
                                      <p:cBhvr>
                                        <p:cTn id="46" dur="500" decel="100000" fill="hold"/>
                                        <p:tgtEl>
                                          <p:spTgt spid="12"/>
                                        </p:tgtEl>
                                        <p:attrNameLst>
                                          <p:attrName>ppt_w</p:attrName>
                                        </p:attrNameLst>
                                      </p:cBhvr>
                                      <p:tavLst>
                                        <p:tav tm="0">
                                          <p:val>
                                            <p:fltVal val="0"/>
                                          </p:val>
                                        </p:tav>
                                        <p:tav tm="100000">
                                          <p:val>
                                            <p:strVal val="#ppt_w"/>
                                          </p:val>
                                        </p:tav>
                                      </p:tavLst>
                                    </p:anim>
                                    <p:anim calcmode="lin" valueType="num">
                                      <p:cBhvr>
                                        <p:cTn id="47" dur="500" decel="100000" fill="hold"/>
                                        <p:tgtEl>
                                          <p:spTgt spid="12"/>
                                        </p:tgtEl>
                                        <p:attrNameLst>
                                          <p:attrName>ppt_h</p:attrName>
                                        </p:attrNameLst>
                                      </p:cBhvr>
                                      <p:tavLst>
                                        <p:tav tm="0">
                                          <p:val>
                                            <p:fltVal val="0"/>
                                          </p:val>
                                        </p:tav>
                                        <p:tav tm="100000">
                                          <p:val>
                                            <p:strVal val="#ppt_h"/>
                                          </p:val>
                                        </p:tav>
                                      </p:tavLst>
                                    </p:anim>
                                    <p:animEffect transition="in" filter="fade">
                                      <p:cBhvr>
                                        <p:cTn id="48" dur="500"/>
                                        <p:tgtEl>
                                          <p:spTgt spid="12"/>
                                        </p:tgtEl>
                                      </p:cBhvr>
                                    </p:animEffect>
                                  </p:childTnLst>
                                </p:cTn>
                              </p:par>
                              <p:par>
                                <p:cTn id="54" presetID="53" presetClass="entr" presetSubtype="16" grpId="0" fill="hold" nodeType="withEffect">
                                  <p:stCondLst>
                                    <p:cond delay="1650"/>
                                  </p:stCondLst>
                                  <p:childTnLst>
                                    <p:set>
                                      <p:cBhvr>
                                        <p:cTn id="50" dur="1" fill="hold">
                                          <p:stCondLst>
                                            <p:cond delay="0"/>
                                          </p:stCondLst>
                                        </p:cTn>
                                        <p:tgtEl>
                                          <p:spTgt spid="13"/>
                                        </p:tgtEl>
                                        <p:attrNameLst>
                                          <p:attrName>style.visibility</p:attrName>
                                        </p:attrNameLst>
                                      </p:cBhvr>
                                      <p:to>
                                        <p:strVal val="visible"/>
                                      </p:to>
                                    </p:set>
                                    <p:anim calcmode="lin" valueType="num">
                                      <p:cBhvr>
                                        <p:cTn id="51" dur="500" decel="100000" fill="hold"/>
                                        <p:tgtEl>
                                          <p:spTgt spid="13"/>
                                        </p:tgtEl>
                                        <p:attrNameLst>
                                          <p:attrName>ppt_w</p:attrName>
                                        </p:attrNameLst>
                                      </p:cBhvr>
                                      <p:tavLst>
                                        <p:tav tm="0">
                                          <p:val>
                                            <p:fltVal val="0"/>
                                          </p:val>
                                        </p:tav>
                                        <p:tav tm="100000">
                                          <p:val>
                                            <p:strVal val="#ppt_w"/>
                                          </p:val>
                                        </p:tav>
                                      </p:tavLst>
                                    </p:anim>
                                    <p:anim calcmode="lin" valueType="num">
                                      <p:cBhvr>
                                        <p:cTn id="52" dur="500" decel="100000" fill="hold"/>
                                        <p:tgtEl>
                                          <p:spTgt spid="13"/>
                                        </p:tgtEl>
                                        <p:attrNameLst>
                                          <p:attrName>ppt_h</p:attrName>
                                        </p:attrNameLst>
                                      </p:cBhvr>
                                      <p:tavLst>
                                        <p:tav tm="0">
                                          <p:val>
                                            <p:fltVal val="0"/>
                                          </p:val>
                                        </p:tav>
                                        <p:tav tm="100000">
                                          <p:val>
                                            <p:strVal val="#ppt_h"/>
                                          </p:val>
                                        </p:tav>
                                      </p:tavLst>
                                    </p:anim>
                                    <p:animEffect transition="in" filter="fade">
                                      <p:cBhvr>
                                        <p:cTn id="53" dur="500"/>
                                        <p:tgtEl>
                                          <p:spTgt spid="13"/>
                                        </p:tgtEl>
                                      </p:cBhvr>
                                    </p:animEffect>
                                  </p:childTnLst>
                                </p:cTn>
                              </p:par>
                              <p:par>
                                <p:cTn id="57" presetID="22" presetClass="entr" presetSubtype="8" grpId="0" fill="hold" nodeType="withEffect">
                                  <p:stCondLst>
                                    <p:cond delay="1700"/>
                                  </p:stCondLst>
                                  <p:childTnLst>
                                    <p:set>
                                      <p:cBhvr>
                                        <p:cTn id="55" dur="1" fill="hold">
                                          <p:stCondLst>
                                            <p:cond delay="0"/>
                                          </p:stCondLst>
                                        </p:cTn>
                                        <p:tgtEl>
                                          <p:spTgt spid="14"/>
                                        </p:tgtEl>
                                        <p:attrNameLst>
                                          <p:attrName>style.visibility</p:attrName>
                                        </p:attrNameLst>
                                      </p:cBhvr>
                                      <p:to>
                                        <p:strVal val="visible"/>
                                      </p:to>
                                    </p:set>
                                    <p:animEffect transition="in" filter="wipe(left)">
                                      <p:cBhvr>
                                        <p:cTn id="56" dur="550"/>
                                        <p:tgtEl>
                                          <p:spTgt spid="14"/>
                                        </p:tgtEl>
                                      </p:cBhvr>
                                    </p:animEffect>
                                  </p:childTnLst>
                                </p:cTn>
                              </p:par>
                              <p:par>
                                <p:cTn id="60" presetID="10" presetClass="entr" presetSubtype="0" grpId="0" fill="hold" nodeType="withEffect">
                                  <p:stCondLst>
                                    <p:cond delay="2050"/>
                                  </p:stCondLst>
                                  <p:childTnLst>
                                    <p:set>
                                      <p:cBhvr>
                                        <p:cTn id="58" dur="1" fill="hold">
                                          <p:stCondLst>
                                            <p:cond delay="0"/>
                                          </p:stCondLst>
                                        </p:cTn>
                                        <p:tgtEl>
                                          <p:spTgt spid="15"/>
                                        </p:tgtEl>
                                        <p:attrNameLst>
                                          <p:attrName>style.visibility</p:attrName>
                                        </p:attrNameLst>
                                      </p:cBhvr>
                                      <p:to>
                                        <p:strVal val="visible"/>
                                      </p:to>
                                    </p:set>
                                    <p:animEffect transition="in" filter="fade">
                                      <p:cBhvr>
                                        <p:cTn id="59" dur="600"/>
                                        <p:tgtEl>
                                          <p:spTgt spid="15"/>
                                        </p:tgtEl>
                                      </p:cBhvr>
                                    </p:animEffect>
                                  </p:childTnLst>
                                </p:cTn>
                              </p:par>
                              <p:par>
                                <p:cTn id="63" presetID="10" presetClass="entr" presetSubtype="0" grpId="0" fill="hold" nodeType="withEffect">
                                  <p:stCondLst>
                                    <p:cond delay="205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600"/>
                                        <p:tgtEl>
                                          <p:spTgt spid="16"/>
                                        </p:tgtEl>
                                      </p:cBhvr>
                                    </p:animEffect>
                                  </p:childTnLst>
                                </p:cTn>
                              </p:par>
                              <p:par>
                                <p:cTn id="66" presetID="10" presetClass="entr" presetSubtype="0" grpId="0" fill="hold" nodeType="withEffect">
                                  <p:stCondLst>
                                    <p:cond delay="220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600"/>
                                        <p:tgtEl>
                                          <p:spTgt spid="17"/>
                                        </p:tgtEl>
                                      </p:cBhvr>
                                    </p:animEffect>
                                  </p:childTnLst>
                                </p:cTn>
                              </p:par>
                              <p:par>
                                <p:cTn id="69" presetID="10" presetClass="entr" presetSubtype="0" grpId="0" fill="hold" nodeType="withEffect">
                                  <p:stCondLst>
                                    <p:cond delay="220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600"/>
                                        <p:tgtEl>
                                          <p:spTgt spid="18"/>
                                        </p:tgtEl>
                                      </p:cBhvr>
                                    </p:animEffect>
                                  </p:childTnLst>
                                </p:cTn>
                              </p:par>
                              <p:par>
                                <p:cTn id="72" presetID="10" presetClass="entr" presetSubtype="0" grpId="0" fill="hold" nodeType="withEffect">
                                  <p:stCondLst>
                                    <p:cond delay="2350"/>
                                  </p:stCondLst>
                                  <p:childTnLst>
                                    <p:set>
                                      <p:cBhvr>
                                        <p:cTn id="70" dur="1" fill="hold">
                                          <p:stCondLst>
                                            <p:cond delay="0"/>
                                          </p:stCondLst>
                                        </p:cTn>
                                        <p:tgtEl>
                                          <p:spTgt spid="19"/>
                                        </p:tgtEl>
                                        <p:attrNameLst>
                                          <p:attrName>style.visibility</p:attrName>
                                        </p:attrNameLst>
                                      </p:cBhvr>
                                      <p:to>
                                        <p:strVal val="visible"/>
                                      </p:to>
                                    </p:set>
                                    <p:animEffect transition="in" filter="fade">
                                      <p:cBhvr>
                                        <p:cTn id="71" dur="600"/>
                                        <p:tgtEl>
                                          <p:spTgt spid="19"/>
                                        </p:tgtEl>
                                      </p:cBhvr>
                                    </p:animEffect>
                                  </p:childTnLst>
                                </p:cTn>
                              </p:par>
                              <p:par>
                                <p:cTn id="75" presetID="10" presetClass="entr" presetSubtype="0" grpId="0" fill="hold" nodeType="withEffect">
                                  <p:stCondLst>
                                    <p:cond delay="235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8" grpId="0" animBg="1"/>
      <p:bldP spid="9" grpId="0" animBg="1"/>
      <p:bldP spid="11" grpId="0" animBg="1"/>
      <p:bldP spid="12" grpId="0" animBg="1"/>
      <p:bldP spid="14" grpId="0" animBg="1"/>
      <p:bldP spid="15" grpId="0" animBg="1"/>
      <p:bldP spid="16" grpId="0" animBg="1"/>
      <p:bldP spid="17" grpId="0" animBg="1"/>
      <p:bldP spid="18" grpId="0" animBg="1"/>
      <p:bldP spid="19" grpId="0" animBg="1"/>
      <p:bldP spid="20"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C94A10"/>
                </a:solidFill>
              </a:rPr>
              <a:t>MOHAMMED AMMAR · WEEK OVER WEEK</a:t>
            </a:r>
            <a:endParaRPr lang="en-US" sz="1200" dirty="0"/>
          </a:p>
        </p:txBody>
      </p:sp>
      <p:sp>
        <p:nvSpPr>
          <p:cNvPr id="3" name="Text 0"/>
          <p:cNvSpPr/>
          <p:nvPr>
            <p:ph idx="100" type="title" hasCustomPrompt="1"/>
          </p:nvPr>
        </p:nvSpPr>
        <p:spPr>
          <a:xfrm>
            <a:off x="548640" y="74980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From detractors to promoters in one week</a:t>
            </a:r>
            <a:endParaRPr lang="en-US" sz="3200" dirty="0"/>
          </a:p>
        </p:txBody>
      </p:sp>
      <p:sp>
        <p:nvSpPr>
          <p:cNvPr id="4" name="Weeks card"/>
          <p:cNvSpPr/>
          <p:nvPr/>
        </p:nvSpPr>
        <p:spPr>
          <a:xfrm>
            <a:off x="548640" y="1691640"/>
            <a:ext cx="6675120" cy="4434840"/>
          </a:xfrm>
          <a:prstGeom prst="roundRect">
            <a:avLst>
              <a:gd name="adj" fmla="val 3093"/>
            </a:avLst>
          </a:prstGeom>
          <a:solidFill>
            <a:srgbClr val="FFFFFF"/>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5" name="Weeks heading"/>
          <p:cNvSpPr txBox="1"/>
          <p:nvPr/>
        </p:nvSpPr>
        <p:spPr>
          <a:xfrm>
            <a:off x="868680" y="1920240"/>
            <a:ext cx="3657600" cy="310896"/>
          </a:xfrm>
          <a:prstGeom prst="rect">
            <a:avLst/>
          </a:prstGeom>
          <a:noFill/>
          <a:ln/>
        </p:spPr>
        <p:txBody>
          <a:bodyPr wrap="square" lIns="0" tIns="0" rIns="0" bIns="0" rtlCol="0" anchor="ctr"/>
          <a:lstStyle/>
          <a:p>
            <a:pPr indent="0" marL="0">
              <a:buNone/>
            </a:pPr>
            <a:r>
              <a:rPr lang="en-US" sz="1600" b="1" dirty="0">
                <a:solidFill>
                  <a:srgbClr val="121826"/>
                </a:solidFill>
              </a:rPr>
              <a:t>tNPS, week over week</a:t>
            </a:r>
            <a:endParaRPr lang="en-US" sz="1600" dirty="0"/>
          </a:p>
        </p:txBody>
      </p:sp>
      <p:sp>
        <p:nvSpPr>
          <p:cNvPr id="6" name="Legend"/>
          <p:cNvSpPr txBox="1"/>
          <p:nvPr/>
        </p:nvSpPr>
        <p:spPr>
          <a:xfrm>
            <a:off x="4480560" y="1938528"/>
            <a:ext cx="2423160" cy="274320"/>
          </a:xfrm>
          <a:prstGeom prst="rect">
            <a:avLst/>
          </a:prstGeom>
          <a:noFill/>
          <a:ln/>
        </p:spPr>
        <p:txBody>
          <a:bodyPr wrap="square" lIns="0" tIns="0" rIns="0" bIns="0" rtlCol="0" anchor="ctr"/>
          <a:lstStyle/>
          <a:p>
            <a:pPr algn="r" indent="0" marL="0">
              <a:buNone/>
            </a:pPr>
            <a:r>
              <a:rPr lang="en-US" sz="1200" dirty="0">
                <a:solidFill>
                  <a:srgbClr val="1E7F5C"/>
                </a:solidFill>
              </a:rPr>
              <a:t>●  </a:t>
            </a:r>
            <a:pPr algn="r" indent="0" marL="0">
              <a:buNone/>
            </a:pPr>
            <a:r>
              <a:rPr lang="en-US" sz="1200" dirty="0">
                <a:solidFill>
                  <a:srgbClr val="3D4453"/>
                </a:solidFill>
              </a:rPr>
              <a:t>Promoter     </a:t>
            </a:r>
            <a:pPr algn="r" indent="0" marL="0">
              <a:buNone/>
            </a:pPr>
            <a:r>
              <a:rPr lang="en-US" sz="1200" dirty="0">
                <a:solidFill>
                  <a:srgbClr val="B42318"/>
                </a:solidFill>
              </a:rPr>
              <a:t>●  </a:t>
            </a:r>
            <a:pPr algn="r" indent="0" marL="0">
              <a:buNone/>
            </a:pPr>
            <a:r>
              <a:rPr lang="en-US" sz="1200" dirty="0">
                <a:solidFill>
                  <a:srgbClr val="3D4453"/>
                </a:solidFill>
              </a:rPr>
              <a:t>Detractor</a:t>
            </a:r>
            <a:endParaRPr lang="en-US" sz="1200" dirty="0"/>
          </a:p>
        </p:txBody>
      </p:sp>
      <p:sp>
        <p:nvSpPr>
          <p:cNvPr id="7" name="Week label"/>
          <p:cNvSpPr txBox="1"/>
          <p:nvPr/>
        </p:nvSpPr>
        <p:spPr>
          <a:xfrm>
            <a:off x="868680" y="2468880"/>
            <a:ext cx="2286000" cy="237744"/>
          </a:xfrm>
          <a:prstGeom prst="rect">
            <a:avLst/>
          </a:prstGeom>
          <a:noFill/>
          <a:ln/>
        </p:spPr>
        <p:txBody>
          <a:bodyPr wrap="square" lIns="0" tIns="0" rIns="0" bIns="0" rtlCol="0" anchor="ctr"/>
          <a:lstStyle/>
          <a:p>
            <a:pPr indent="0" marL="0">
              <a:buNone/>
            </a:pPr>
            <a:r>
              <a:rPr lang="en-US" sz="1050" b="1" spc="200" kern="0" dirty="0">
                <a:solidFill>
                  <a:srgbClr val="6B7280"/>
                </a:solidFill>
              </a:rPr>
              <a:t>WEEK BEFORE</a:t>
            </a:r>
            <a:endParaRPr lang="en-US" sz="1050" dirty="0"/>
          </a:p>
        </p:txBody>
      </p:sp>
      <p:sp>
        <p:nvSpPr>
          <p:cNvPr id="8" name="Promoter"/>
          <p:cNvSpPr/>
          <p:nvPr/>
        </p:nvSpPr>
        <p:spPr>
          <a:xfrm>
            <a:off x="868680" y="2798064"/>
            <a:ext cx="420624" cy="420624"/>
          </a:xfrm>
          <a:prstGeom prst="ellipse">
            <a:avLst/>
          </a:prstGeom>
          <a:solidFill>
            <a:srgbClr val="1E7F5C"/>
          </a:solidFill>
          <a:ln/>
        </p:spPr>
      </p:sp>
      <p:sp>
        <p:nvSpPr>
          <p:cNvPr id="9" name="Detractor"/>
          <p:cNvSpPr/>
          <p:nvPr/>
        </p:nvSpPr>
        <p:spPr>
          <a:xfrm>
            <a:off x="1417320" y="2798064"/>
            <a:ext cx="420624" cy="420624"/>
          </a:xfrm>
          <a:prstGeom prst="ellipse">
            <a:avLst/>
          </a:prstGeom>
          <a:solidFill>
            <a:srgbClr val="B42318"/>
          </a:solidFill>
          <a:ln/>
        </p:spPr>
      </p:sp>
      <p:sp>
        <p:nvSpPr>
          <p:cNvPr id="10" name="Detractor"/>
          <p:cNvSpPr/>
          <p:nvPr/>
        </p:nvSpPr>
        <p:spPr>
          <a:xfrm>
            <a:off x="1965960" y="2798064"/>
            <a:ext cx="420624" cy="420624"/>
          </a:xfrm>
          <a:prstGeom prst="ellipse">
            <a:avLst/>
          </a:prstGeom>
          <a:solidFill>
            <a:srgbClr val="B42318"/>
          </a:solidFill>
          <a:ln/>
        </p:spPr>
      </p:sp>
      <p:sp>
        <p:nvSpPr>
          <p:cNvPr id="11" name="Detractor"/>
          <p:cNvSpPr/>
          <p:nvPr/>
        </p:nvSpPr>
        <p:spPr>
          <a:xfrm>
            <a:off x="2514600" y="2798064"/>
            <a:ext cx="420624" cy="420624"/>
          </a:xfrm>
          <a:prstGeom prst="ellipse">
            <a:avLst/>
          </a:prstGeom>
          <a:solidFill>
            <a:srgbClr val="B42318"/>
          </a:solidFill>
          <a:ln/>
        </p:spPr>
      </p:sp>
      <p:sp>
        <p:nvSpPr>
          <p:cNvPr id="12" name="Detractor"/>
          <p:cNvSpPr/>
          <p:nvPr/>
        </p:nvSpPr>
        <p:spPr>
          <a:xfrm>
            <a:off x="3063240" y="2798064"/>
            <a:ext cx="420624" cy="420624"/>
          </a:xfrm>
          <a:prstGeom prst="ellipse">
            <a:avLst/>
          </a:prstGeom>
          <a:solidFill>
            <a:srgbClr val="B42318"/>
          </a:solidFill>
          <a:ln/>
        </p:spPr>
      </p:sp>
      <p:sp>
        <p:nvSpPr>
          <p:cNvPr id="13" name="Detractor"/>
          <p:cNvSpPr/>
          <p:nvPr/>
        </p:nvSpPr>
        <p:spPr>
          <a:xfrm>
            <a:off x="3611880" y="2798064"/>
            <a:ext cx="420624" cy="420624"/>
          </a:xfrm>
          <a:prstGeom prst="ellipse">
            <a:avLst/>
          </a:prstGeom>
          <a:solidFill>
            <a:srgbClr val="B42318"/>
          </a:solidFill>
          <a:ln/>
        </p:spPr>
      </p:sp>
      <p:sp>
        <p:nvSpPr>
          <p:cNvPr id="14" name="Week tNPS"/>
          <p:cNvSpPr txBox="1"/>
          <p:nvPr/>
        </p:nvSpPr>
        <p:spPr>
          <a:xfrm>
            <a:off x="4343400" y="2670048"/>
            <a:ext cx="2560320" cy="566928"/>
          </a:xfrm>
          <a:prstGeom prst="rect">
            <a:avLst/>
          </a:prstGeom>
          <a:noFill/>
          <a:ln/>
        </p:spPr>
        <p:txBody>
          <a:bodyPr wrap="square" lIns="0" tIns="0" rIns="0" bIns="0" rtlCol="0" anchor="ctr"/>
          <a:lstStyle/>
          <a:p>
            <a:pPr algn="r" indent="0" marL="0">
              <a:buNone/>
            </a:pPr>
            <a:r>
              <a:rPr lang="en-US" sz="3600" b="1" dirty="0">
                <a:solidFill>
                  <a:srgbClr val="B42318"/>
                </a:solidFill>
              </a:rPr>
              <a:t>−66.7</a:t>
            </a:r>
            <a:endParaRPr lang="en-US" sz="3600" dirty="0"/>
          </a:p>
        </p:txBody>
      </p:sp>
      <p:sp>
        <p:nvSpPr>
          <p:cNvPr id="15" name="Week split"/>
          <p:cNvSpPr txBox="1"/>
          <p:nvPr/>
        </p:nvSpPr>
        <p:spPr>
          <a:xfrm>
            <a:off x="4343400" y="3236976"/>
            <a:ext cx="2560320" cy="219456"/>
          </a:xfrm>
          <a:prstGeom prst="rect">
            <a:avLst/>
          </a:prstGeom>
          <a:noFill/>
          <a:ln/>
        </p:spPr>
        <p:txBody>
          <a:bodyPr wrap="square" lIns="0" tIns="0" rIns="0" bIns="0" rtlCol="0" anchor="ctr"/>
          <a:lstStyle/>
          <a:p>
            <a:pPr algn="r" indent="0" marL="0">
              <a:buNone/>
            </a:pPr>
            <a:r>
              <a:rPr lang="en-US" sz="1150" dirty="0">
                <a:solidFill>
                  <a:srgbClr val="3D4453"/>
                </a:solidFill>
              </a:rPr>
              <a:t>1 promoter · 5 detractors</a:t>
            </a:r>
            <a:endParaRPr lang="en-US" sz="1150" dirty="0"/>
          </a:p>
        </p:txBody>
      </p:sp>
      <p:sp>
        <p:nvSpPr>
          <p:cNvPr id="16" name="Week label"/>
          <p:cNvSpPr txBox="1"/>
          <p:nvPr/>
        </p:nvSpPr>
        <p:spPr>
          <a:xfrm>
            <a:off x="868680" y="3566160"/>
            <a:ext cx="2286000" cy="237744"/>
          </a:xfrm>
          <a:prstGeom prst="rect">
            <a:avLst/>
          </a:prstGeom>
          <a:noFill/>
          <a:ln/>
        </p:spPr>
        <p:txBody>
          <a:bodyPr wrap="square" lIns="0" tIns="0" rIns="0" bIns="0" rtlCol="0" anchor="ctr"/>
          <a:lstStyle/>
          <a:p>
            <a:pPr indent="0" marL="0">
              <a:buNone/>
            </a:pPr>
            <a:r>
              <a:rPr lang="en-US" sz="1050" b="1" spc="200" kern="0" dirty="0">
                <a:solidFill>
                  <a:srgbClr val="1E7F5C"/>
                </a:solidFill>
              </a:rPr>
              <a:t>LAST WEEK</a:t>
            </a:r>
            <a:endParaRPr lang="en-US" sz="1050" dirty="0"/>
          </a:p>
        </p:txBody>
      </p:sp>
      <p:sp>
        <p:nvSpPr>
          <p:cNvPr id="17" name="Promoter"/>
          <p:cNvSpPr/>
          <p:nvPr/>
        </p:nvSpPr>
        <p:spPr>
          <a:xfrm>
            <a:off x="868680" y="3895344"/>
            <a:ext cx="420624" cy="420624"/>
          </a:xfrm>
          <a:prstGeom prst="ellipse">
            <a:avLst/>
          </a:prstGeom>
          <a:solidFill>
            <a:srgbClr val="1E7F5C"/>
          </a:solidFill>
          <a:ln/>
        </p:spPr>
      </p:sp>
      <p:sp>
        <p:nvSpPr>
          <p:cNvPr id="18" name="Promoter"/>
          <p:cNvSpPr/>
          <p:nvPr/>
        </p:nvSpPr>
        <p:spPr>
          <a:xfrm>
            <a:off x="1417320" y="3895344"/>
            <a:ext cx="420624" cy="420624"/>
          </a:xfrm>
          <a:prstGeom prst="ellipse">
            <a:avLst/>
          </a:prstGeom>
          <a:solidFill>
            <a:srgbClr val="1E7F5C"/>
          </a:solidFill>
          <a:ln/>
        </p:spPr>
      </p:sp>
      <p:sp>
        <p:nvSpPr>
          <p:cNvPr id="19" name="Promoter"/>
          <p:cNvSpPr/>
          <p:nvPr/>
        </p:nvSpPr>
        <p:spPr>
          <a:xfrm>
            <a:off x="1965960" y="3895344"/>
            <a:ext cx="420624" cy="420624"/>
          </a:xfrm>
          <a:prstGeom prst="ellipse">
            <a:avLst/>
          </a:prstGeom>
          <a:solidFill>
            <a:srgbClr val="1E7F5C"/>
          </a:solidFill>
          <a:ln/>
        </p:spPr>
      </p:sp>
      <p:sp>
        <p:nvSpPr>
          <p:cNvPr id="20" name="Promoter"/>
          <p:cNvSpPr/>
          <p:nvPr/>
        </p:nvSpPr>
        <p:spPr>
          <a:xfrm>
            <a:off x="2514600" y="3895344"/>
            <a:ext cx="420624" cy="420624"/>
          </a:xfrm>
          <a:prstGeom prst="ellipse">
            <a:avLst/>
          </a:prstGeom>
          <a:solidFill>
            <a:srgbClr val="1E7F5C"/>
          </a:solidFill>
          <a:ln/>
        </p:spPr>
      </p:sp>
      <p:sp>
        <p:nvSpPr>
          <p:cNvPr id="21" name="Detractor"/>
          <p:cNvSpPr/>
          <p:nvPr/>
        </p:nvSpPr>
        <p:spPr>
          <a:xfrm>
            <a:off x="3063240" y="3895344"/>
            <a:ext cx="420624" cy="420624"/>
          </a:xfrm>
          <a:prstGeom prst="ellipse">
            <a:avLst/>
          </a:prstGeom>
          <a:solidFill>
            <a:srgbClr val="B42318"/>
          </a:solidFill>
          <a:ln/>
        </p:spPr>
      </p:sp>
      <p:sp>
        <p:nvSpPr>
          <p:cNvPr id="22" name="Detractor"/>
          <p:cNvSpPr/>
          <p:nvPr/>
        </p:nvSpPr>
        <p:spPr>
          <a:xfrm>
            <a:off x="3611880" y="3895344"/>
            <a:ext cx="420624" cy="420624"/>
          </a:xfrm>
          <a:prstGeom prst="ellipse">
            <a:avLst/>
          </a:prstGeom>
          <a:solidFill>
            <a:srgbClr val="B42318"/>
          </a:solidFill>
          <a:ln/>
        </p:spPr>
      </p:sp>
      <p:sp>
        <p:nvSpPr>
          <p:cNvPr id="23" name="Week tNPS"/>
          <p:cNvSpPr txBox="1"/>
          <p:nvPr/>
        </p:nvSpPr>
        <p:spPr>
          <a:xfrm>
            <a:off x="4343400" y="3767328"/>
            <a:ext cx="2560320" cy="566928"/>
          </a:xfrm>
          <a:prstGeom prst="rect">
            <a:avLst/>
          </a:prstGeom>
          <a:noFill/>
          <a:ln/>
        </p:spPr>
        <p:txBody>
          <a:bodyPr wrap="square" lIns="0" tIns="0" rIns="0" bIns="0" rtlCol="0" anchor="ctr"/>
          <a:lstStyle/>
          <a:p>
            <a:pPr algn="r" indent="0" marL="0">
              <a:buNone/>
            </a:pPr>
            <a:r>
              <a:rPr lang="en-US" sz="3600" b="1" dirty="0">
                <a:solidFill>
                  <a:srgbClr val="1E7F5C"/>
                </a:solidFill>
              </a:rPr>
              <a:t>33.3</a:t>
            </a:r>
            <a:endParaRPr lang="en-US" sz="3600" dirty="0"/>
          </a:p>
        </p:txBody>
      </p:sp>
      <p:sp>
        <p:nvSpPr>
          <p:cNvPr id="24" name="Week split"/>
          <p:cNvSpPr txBox="1"/>
          <p:nvPr/>
        </p:nvSpPr>
        <p:spPr>
          <a:xfrm>
            <a:off x="4343400" y="4334256"/>
            <a:ext cx="2560320" cy="219456"/>
          </a:xfrm>
          <a:prstGeom prst="rect">
            <a:avLst/>
          </a:prstGeom>
          <a:noFill/>
          <a:ln/>
        </p:spPr>
        <p:txBody>
          <a:bodyPr wrap="square" lIns="0" tIns="0" rIns="0" bIns="0" rtlCol="0" anchor="ctr"/>
          <a:lstStyle/>
          <a:p>
            <a:pPr algn="r" indent="0" marL="0">
              <a:buNone/>
            </a:pPr>
            <a:r>
              <a:rPr lang="en-US" sz="1150" dirty="0">
                <a:solidFill>
                  <a:srgbClr val="3D4453"/>
                </a:solidFill>
              </a:rPr>
              <a:t>4 promoters · 2 detractors</a:t>
            </a:r>
            <a:endParaRPr lang="en-US" sz="1150" dirty="0"/>
          </a:p>
        </p:txBody>
      </p:sp>
      <p:sp>
        <p:nvSpPr>
          <p:cNvPr id="25" name="Win band"/>
          <p:cNvSpPr/>
          <p:nvPr/>
        </p:nvSpPr>
        <p:spPr>
          <a:xfrm>
            <a:off x="822960" y="4754880"/>
            <a:ext cx="6126480" cy="1097280"/>
          </a:xfrm>
          <a:prstGeom prst="roundRect">
            <a:avLst>
              <a:gd name="adj" fmla="val 10000"/>
            </a:avLst>
          </a:prstGeom>
          <a:solidFill>
            <a:srgbClr val="E3F2EC"/>
          </a:solidFill>
          <a:ln/>
        </p:spPr>
      </p:sp>
      <p:sp>
        <p:nvSpPr>
          <p:cNvPr id="26" name="Win text"/>
          <p:cNvSpPr txBox="1"/>
          <p:nvPr/>
        </p:nvSpPr>
        <p:spPr>
          <a:xfrm>
            <a:off x="1051560" y="4754880"/>
            <a:ext cx="5669280" cy="1097280"/>
          </a:xfrm>
          <a:prstGeom prst="rect">
            <a:avLst/>
          </a:prstGeom>
          <a:noFill/>
          <a:ln/>
        </p:spPr>
        <p:txBody>
          <a:bodyPr wrap="square" lIns="0" tIns="0" rIns="0" bIns="0" rtlCol="0" anchor="ctr"/>
          <a:lstStyle/>
          <a:p>
            <a:pPr indent="0" marL="0">
              <a:buNone/>
            </a:pPr>
            <a:r>
              <a:rPr lang="en-US" sz="1400" b="1" dirty="0">
                <a:solidFill>
                  <a:srgbClr val="1E7F5C"/>
                </a:solidFill>
              </a:rPr>
              <a:t>+100 points. </a:t>
            </a:r>
            <a:pPr indent="0" marL="0">
              <a:buNone/>
            </a:pPr>
            <a:r>
              <a:rPr lang="en-US" sz="1400" dirty="0">
                <a:solidFill>
                  <a:srgbClr val="121826"/>
                </a:solidFill>
              </a:rPr>
              <a:t>He went from mostly detractors to mostly promoters, and last week he reached the 33 target.</a:t>
            </a:r>
            <a:endParaRPr lang="en-US" sz="1400" dirty="0"/>
          </a:p>
        </p:txBody>
      </p:sp>
      <p:sp>
        <p:nvSpPr>
          <p:cNvPr id="27" name="Plan card"/>
          <p:cNvSpPr/>
          <p:nvPr/>
        </p:nvSpPr>
        <p:spPr>
          <a:xfrm>
            <a:off x="7498080" y="1691640"/>
            <a:ext cx="4144975" cy="4434840"/>
          </a:xfrm>
          <a:prstGeom prst="roundRect">
            <a:avLst>
              <a:gd name="adj" fmla="val 3309"/>
            </a:avLst>
          </a:prstGeom>
          <a:solidFill>
            <a:srgbClr val="F6F3EE"/>
          </a:solidFill>
          <a:ln/>
        </p:spPr>
      </p:sp>
      <p:sp>
        <p:nvSpPr>
          <p:cNvPr id="28" name="Label"/>
          <p:cNvSpPr txBox="1"/>
          <p:nvPr/>
        </p:nvSpPr>
        <p:spPr>
          <a:xfrm>
            <a:off x="7772400" y="1947672"/>
            <a:ext cx="3596335" cy="237744"/>
          </a:xfrm>
          <a:prstGeom prst="rect">
            <a:avLst/>
          </a:prstGeom>
          <a:noFill/>
          <a:ln/>
        </p:spPr>
        <p:txBody>
          <a:bodyPr wrap="square" lIns="0" tIns="0" rIns="0" bIns="0" rtlCol="0" anchor="ctr"/>
          <a:lstStyle/>
          <a:p>
            <a:pPr indent="0" marL="0">
              <a:buNone/>
            </a:pPr>
            <a:r>
              <a:rPr lang="en-US" sz="1050" b="1" spc="200" kern="0" dirty="0">
                <a:solidFill>
                  <a:srgbClr val="C94A10"/>
                </a:solidFill>
              </a:rPr>
              <a:t>STILL TO LOCK IN, TWO AT A TIME</a:t>
            </a:r>
            <a:endParaRPr lang="en-US" sz="1050" dirty="0"/>
          </a:p>
        </p:txBody>
      </p:sp>
      <p:sp>
        <p:nvSpPr>
          <p:cNvPr id="29" name="Lock number"/>
          <p:cNvSpPr txBox="1"/>
          <p:nvPr/>
        </p:nvSpPr>
        <p:spPr>
          <a:xfrm>
            <a:off x="7772400" y="2295144"/>
            <a:ext cx="274320" cy="457200"/>
          </a:xfrm>
          <a:prstGeom prst="rect">
            <a:avLst/>
          </a:prstGeom>
          <a:noFill/>
          <a:ln/>
        </p:spPr>
        <p:txBody>
          <a:bodyPr wrap="square" lIns="0" tIns="0" rIns="0" bIns="0" rtlCol="0" anchor="t"/>
          <a:lstStyle/>
          <a:p>
            <a:pPr indent="0" marL="0">
              <a:buNone/>
            </a:pPr>
            <a:r>
              <a:rPr lang="en-US" sz="2000" b="1" dirty="0">
                <a:solidFill>
                  <a:srgbClr val="F26522"/>
                </a:solidFill>
              </a:rPr>
              <a:t>1</a:t>
            </a:r>
            <a:endParaRPr lang="en-US" sz="2000" dirty="0"/>
          </a:p>
        </p:txBody>
      </p:sp>
      <p:sp>
        <p:nvSpPr>
          <p:cNvPr id="30" name="Lock behavior"/>
          <p:cNvSpPr txBox="1"/>
          <p:nvPr/>
        </p:nvSpPr>
        <p:spPr>
          <a:xfrm>
            <a:off x="8092440" y="2331720"/>
            <a:ext cx="3276295" cy="457200"/>
          </a:xfrm>
          <a:prstGeom prst="rect">
            <a:avLst/>
          </a:prstGeom>
          <a:noFill/>
          <a:ln/>
        </p:spPr>
        <p:txBody>
          <a:bodyPr wrap="square" lIns="0" tIns="0" rIns="0" bIns="0" rtlCol="0" anchor="t"/>
          <a:lstStyle/>
          <a:p>
            <a:pPr indent="0" marL="0">
              <a:buNone/>
            </a:pPr>
            <a:r>
              <a:rPr lang="en-US" sz="1300" b="1" dirty="0">
                <a:solidFill>
                  <a:srgbClr val="121826"/>
                </a:solidFill>
              </a:rPr>
              <a:t>Acknowledgement and empathy</a:t>
            </a:r>
            <a:endParaRPr lang="en-US" sz="1300" dirty="0"/>
          </a:p>
        </p:txBody>
      </p:sp>
      <p:sp>
        <p:nvSpPr>
          <p:cNvPr id="31" name="Lock number"/>
          <p:cNvSpPr txBox="1"/>
          <p:nvPr/>
        </p:nvSpPr>
        <p:spPr>
          <a:xfrm>
            <a:off x="7772400" y="2843784"/>
            <a:ext cx="274320" cy="457200"/>
          </a:xfrm>
          <a:prstGeom prst="rect">
            <a:avLst/>
          </a:prstGeom>
          <a:noFill/>
          <a:ln/>
        </p:spPr>
        <p:txBody>
          <a:bodyPr wrap="square" lIns="0" tIns="0" rIns="0" bIns="0" rtlCol="0" anchor="t"/>
          <a:lstStyle/>
          <a:p>
            <a:pPr indent="0" marL="0">
              <a:buNone/>
            </a:pPr>
            <a:r>
              <a:rPr lang="en-US" sz="2000" b="1" dirty="0">
                <a:solidFill>
                  <a:srgbClr val="F26522"/>
                </a:solidFill>
              </a:rPr>
              <a:t>2</a:t>
            </a:r>
            <a:endParaRPr lang="en-US" sz="2000" dirty="0"/>
          </a:p>
        </p:txBody>
      </p:sp>
      <p:sp>
        <p:nvSpPr>
          <p:cNvPr id="32" name="Lock behavior"/>
          <p:cNvSpPr txBox="1"/>
          <p:nvPr/>
        </p:nvSpPr>
        <p:spPr>
          <a:xfrm>
            <a:off x="8092440" y="2880360"/>
            <a:ext cx="3276295" cy="457200"/>
          </a:xfrm>
          <a:prstGeom prst="rect">
            <a:avLst/>
          </a:prstGeom>
          <a:noFill/>
          <a:ln/>
        </p:spPr>
        <p:txBody>
          <a:bodyPr wrap="square" lIns="0" tIns="0" rIns="0" bIns="0" rtlCol="0" anchor="t"/>
          <a:lstStyle/>
          <a:p>
            <a:pPr indent="0" marL="0">
              <a:buNone/>
            </a:pPr>
            <a:r>
              <a:rPr lang="en-US" sz="1300" b="1" dirty="0">
                <a:solidFill>
                  <a:srgbClr val="121826"/>
                </a:solidFill>
              </a:rPr>
              <a:t>Assurance and rapport</a:t>
            </a:r>
            <a:endParaRPr lang="en-US" sz="1300" dirty="0"/>
          </a:p>
        </p:txBody>
      </p:sp>
      <p:sp>
        <p:nvSpPr>
          <p:cNvPr id="33" name="Lock number"/>
          <p:cNvSpPr txBox="1"/>
          <p:nvPr/>
        </p:nvSpPr>
        <p:spPr>
          <a:xfrm>
            <a:off x="7772400" y="3392424"/>
            <a:ext cx="274320" cy="457200"/>
          </a:xfrm>
          <a:prstGeom prst="rect">
            <a:avLst/>
          </a:prstGeom>
          <a:noFill/>
          <a:ln/>
        </p:spPr>
        <p:txBody>
          <a:bodyPr wrap="square" lIns="0" tIns="0" rIns="0" bIns="0" rtlCol="0" anchor="t"/>
          <a:lstStyle/>
          <a:p>
            <a:pPr indent="0" marL="0">
              <a:buNone/>
            </a:pPr>
            <a:r>
              <a:rPr lang="en-US" sz="2000" b="1" dirty="0">
                <a:solidFill>
                  <a:srgbClr val="F26522"/>
                </a:solidFill>
              </a:rPr>
              <a:t>3</a:t>
            </a:r>
            <a:endParaRPr lang="en-US" sz="2000" dirty="0"/>
          </a:p>
        </p:txBody>
      </p:sp>
      <p:sp>
        <p:nvSpPr>
          <p:cNvPr id="34" name="Lock behavior"/>
          <p:cNvSpPr txBox="1"/>
          <p:nvPr/>
        </p:nvSpPr>
        <p:spPr>
          <a:xfrm>
            <a:off x="8092440" y="3429000"/>
            <a:ext cx="3276295" cy="457200"/>
          </a:xfrm>
          <a:prstGeom prst="rect">
            <a:avLst/>
          </a:prstGeom>
          <a:noFill/>
          <a:ln/>
        </p:spPr>
        <p:txBody>
          <a:bodyPr wrap="square" lIns="0" tIns="0" rIns="0" bIns="0" rtlCol="0" anchor="t"/>
          <a:lstStyle/>
          <a:p>
            <a:pPr indent="0" marL="0">
              <a:buNone/>
            </a:pPr>
            <a:r>
              <a:rPr lang="en-US" sz="1300" b="1" dirty="0">
                <a:solidFill>
                  <a:srgbClr val="121826"/>
                </a:solidFill>
              </a:rPr>
              <a:t>Tone of voice, and no unexplained mute or silence</a:t>
            </a:r>
            <a:endParaRPr lang="en-US" sz="1300" dirty="0"/>
          </a:p>
        </p:txBody>
      </p:sp>
      <p:sp>
        <p:nvSpPr>
          <p:cNvPr id="35" name="Divider"/>
          <p:cNvSpPr/>
          <p:nvPr/>
        </p:nvSpPr>
        <p:spPr>
          <a:xfrm>
            <a:off x="7772400" y="4023360"/>
            <a:ext cx="3596335" cy="0"/>
          </a:xfrm>
          <a:prstGeom prst="line">
            <a:avLst/>
          </a:prstGeom>
          <a:noFill/>
          <a:ln w="9525">
            <a:solidFill>
              <a:srgbClr val="E3DED7"/>
            </a:solidFill>
            <a:prstDash val="solid"/>
          </a:ln>
        </p:spPr>
      </p:sp>
      <p:sp>
        <p:nvSpPr>
          <p:cNvPr id="36" name="Label"/>
          <p:cNvSpPr txBox="1"/>
          <p:nvPr/>
        </p:nvSpPr>
        <p:spPr>
          <a:xfrm>
            <a:off x="7772400" y="4160520"/>
            <a:ext cx="3596335" cy="237744"/>
          </a:xfrm>
          <a:prstGeom prst="rect">
            <a:avLst/>
          </a:prstGeom>
          <a:noFill/>
          <a:ln/>
        </p:spPr>
        <p:txBody>
          <a:bodyPr wrap="square" lIns="0" tIns="0" rIns="0" bIns="0" rtlCol="0" anchor="ctr"/>
          <a:lstStyle/>
          <a:p>
            <a:pPr indent="0" marL="0">
              <a:buNone/>
            </a:pPr>
            <a:r>
              <a:rPr lang="en-US" sz="1050" b="1" spc="200" kern="0" dirty="0">
                <a:solidFill>
                  <a:srgbClr val="C94A10"/>
                </a:solidFill>
              </a:rPr>
              <a:t>PLAN</a:t>
            </a:r>
            <a:endParaRPr lang="en-US" sz="1050" dirty="0"/>
          </a:p>
        </p:txBody>
      </p:sp>
      <p:sp>
        <p:nvSpPr>
          <p:cNvPr id="37" name="Paragraph"/>
          <p:cNvSpPr txBox="1"/>
          <p:nvPr/>
        </p:nvSpPr>
        <p:spPr>
          <a:xfrm>
            <a:off x="7772400" y="4407408"/>
            <a:ext cx="3596335" cy="566928"/>
          </a:xfrm>
          <a:prstGeom prst="rect">
            <a:avLst/>
          </a:prstGeom>
          <a:noFill/>
          <a:ln/>
        </p:spPr>
        <p:txBody>
          <a:bodyPr wrap="square" lIns="0" tIns="0" rIns="0" bIns="0" rtlCol="0" anchor="t"/>
          <a:lstStyle/>
          <a:p>
            <a:pPr indent="0" marL="0">
              <a:buNone/>
            </a:pPr>
            <a:r>
              <a:rPr lang="en-US" sz="1300" dirty="0">
                <a:solidFill>
                  <a:srgbClr val="3D4453"/>
                </a:solidFill>
              </a:rPr>
              <a:t>Same plan, kept going step by step so the promoters keep coming.</a:t>
            </a:r>
            <a:endParaRPr lang="en-US" sz="1300" dirty="0"/>
          </a:p>
        </p:txBody>
      </p:sp>
      <p:sp>
        <p:nvSpPr>
          <p:cNvPr id="38" name="Label"/>
          <p:cNvSpPr txBox="1"/>
          <p:nvPr/>
        </p:nvSpPr>
        <p:spPr>
          <a:xfrm>
            <a:off x="7772400" y="5093208"/>
            <a:ext cx="3596335" cy="237744"/>
          </a:xfrm>
          <a:prstGeom prst="rect">
            <a:avLst/>
          </a:prstGeom>
          <a:noFill/>
          <a:ln/>
        </p:spPr>
        <p:txBody>
          <a:bodyPr wrap="square" lIns="0" tIns="0" rIns="0" bIns="0" rtlCol="0" anchor="ctr"/>
          <a:lstStyle/>
          <a:p>
            <a:pPr indent="0" marL="0">
              <a:buNone/>
            </a:pPr>
            <a:r>
              <a:rPr lang="en-US" sz="1050" b="1" spc="200" kern="0" dirty="0">
                <a:solidFill>
                  <a:srgbClr val="C94A10"/>
                </a:solidFill>
              </a:rPr>
              <a:t>FOLLOW-UP</a:t>
            </a:r>
            <a:endParaRPr lang="en-US" sz="1050" dirty="0"/>
          </a:p>
        </p:txBody>
      </p:sp>
      <p:sp>
        <p:nvSpPr>
          <p:cNvPr id="39" name="Paragraph"/>
          <p:cNvSpPr txBox="1"/>
          <p:nvPr/>
        </p:nvSpPr>
        <p:spPr>
          <a:xfrm>
            <a:off x="7772400" y="5340096"/>
            <a:ext cx="3596335" cy="292608"/>
          </a:xfrm>
          <a:prstGeom prst="rect">
            <a:avLst/>
          </a:prstGeom>
          <a:noFill/>
          <a:ln/>
        </p:spPr>
        <p:txBody>
          <a:bodyPr wrap="square" lIns="0" tIns="0" rIns="0" bIns="0" rtlCol="0" anchor="t"/>
          <a:lstStyle/>
          <a:p>
            <a:pPr indent="0" marL="0">
              <a:buNone/>
            </a:pPr>
            <a:r>
              <a:rPr lang="en-US" sz="1300" b="1" dirty="0">
                <a:solidFill>
                  <a:srgbClr val="121826"/>
                </a:solidFill>
              </a:rPr>
              <a:t>2 calls a week, side by side</a:t>
            </a:r>
            <a:endParaRPr lang="en-US" sz="1300" dirty="0"/>
          </a:p>
        </p:txBody>
      </p:sp>
      <p:sp>
        <p:nvSpPr>
          <p:cNvPr id="4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gallery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171" fill="hold">
                      <p:stCondLst>
                        <p:cond delay="indefinite"/>
                        <p:cond evt="onBegin" delay="0">
                          <p:tn val="2"/>
                        </p:cond>
                      </p:stCondLst>
                      <p:childTnLst>
                        <p:par>
                          <p:cTn id="172" fill="hold">
                            <p:stCondLst>
                              <p:cond delay="0"/>
                            </p:stCondLst>
                            <p:childTnLst>
                              <p:par>
                                <p:cTn id="5" presetID="22" presetClass="entr" presetSubtype="8" grpId="0" fill="hold"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550"/>
                                        <p:tgtEl>
                                          <p:spTgt spid="2"/>
                                        </p:tgtEl>
                                      </p:cBhvr>
                                    </p:animEffect>
                                  </p:childTnLst>
                                </p:cTn>
                              </p:par>
                              <p:par>
                                <p:cTn id="10" presetID="42" presetClass="entr" presetSubtype="0" grpId="0" fill="hold" nodeType="with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750"/>
                                        <p:tgtEl>
                                          <p:spTgt spid="3"/>
                                        </p:tgtEl>
                                      </p:cBhvr>
                                    </p:animEffect>
                                    <p:anim calcmode="lin" valueType="num">
                                      <p:cBhvr>
                                        <p:cTn id="8" dur="750" decel="100000" fill="hold"/>
                                        <p:tgtEl>
                                          <p:spTgt spid="3"/>
                                        </p:tgtEl>
                                        <p:attrNameLst>
                                          <p:attrName>ppt_x</p:attrName>
                                        </p:attrNameLst>
                                      </p:cBhvr>
                                      <p:tavLst>
                                        <p:tav tm="0">
                                          <p:val>
                                            <p:strVal val="#ppt_x"/>
                                          </p:val>
                                        </p:tav>
                                        <p:tav tm="100000">
                                          <p:val>
                                            <p:strVal val="#ppt_x"/>
                                          </p:val>
                                        </p:tav>
                                      </p:tavLst>
                                    </p:anim>
                                    <p:anim calcmode="lin" valueType="num">
                                      <p:cBhvr>
                                        <p:cTn id="9" dur="750" decel="100000" fill="hold"/>
                                        <p:tgtEl>
                                          <p:spTgt spid="3"/>
                                        </p:tgtEl>
                                        <p:attrNameLst>
                                          <p:attrName>ppt_y</p:attrName>
                                        </p:attrNameLst>
                                      </p:cBhvr>
                                      <p:tavLst>
                                        <p:tav tm="0">
                                          <p:val>
                                            <p:strVal val="#ppt_y+.08"/>
                                          </p:val>
                                        </p:tav>
                                        <p:tav tm="100000">
                                          <p:val>
                                            <p:strVal val="#ppt_y"/>
                                          </p:val>
                                        </p:tav>
                                      </p:tavLst>
                                    </p:anim>
                                  </p:childTnLst>
                                </p:cTn>
                              </p:par>
                              <p:par>
                                <p:cTn id="15" presetID="42" presetClass="entr" presetSubtype="0" grpId="0" fill="hold" nodeType="withEffect">
                                  <p:stCondLst>
                                    <p:cond delay="60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750"/>
                                        <p:tgtEl>
                                          <p:spTgt spid="4"/>
                                        </p:tgtEl>
                                      </p:cBhvr>
                                    </p:animEffect>
                                    <p:anim calcmode="lin" valueType="num">
                                      <p:cBhvr>
                                        <p:cTn id="13" dur="750" decel="100000" fill="hold"/>
                                        <p:tgtEl>
                                          <p:spTgt spid="4"/>
                                        </p:tgtEl>
                                        <p:attrNameLst>
                                          <p:attrName>ppt_x</p:attrName>
                                        </p:attrNameLst>
                                      </p:cBhvr>
                                      <p:tavLst>
                                        <p:tav tm="0">
                                          <p:val>
                                            <p:strVal val="#ppt_x"/>
                                          </p:val>
                                        </p:tav>
                                        <p:tav tm="100000">
                                          <p:val>
                                            <p:strVal val="#ppt_x"/>
                                          </p:val>
                                        </p:tav>
                                      </p:tavLst>
                                    </p:anim>
                                    <p:anim calcmode="lin" valueType="num">
                                      <p:cBhvr>
                                        <p:cTn id="14" dur="750" decel="100000" fill="hold"/>
                                        <p:tgtEl>
                                          <p:spTgt spid="4"/>
                                        </p:tgtEl>
                                        <p:attrNameLst>
                                          <p:attrName>ppt_y</p:attrName>
                                        </p:attrNameLst>
                                      </p:cBhvr>
                                      <p:tavLst>
                                        <p:tav tm="0">
                                          <p:val>
                                            <p:strVal val="#ppt_y+.08"/>
                                          </p:val>
                                        </p:tav>
                                        <p:tav tm="100000">
                                          <p:val>
                                            <p:strVal val="#ppt_y"/>
                                          </p:val>
                                        </p:tav>
                                      </p:tavLst>
                                    </p:anim>
                                  </p:childTnLst>
                                </p:cTn>
                              </p:par>
                              <p:par>
                                <p:cTn id="20" presetID="42" presetClass="entr" presetSubtype="0" grpId="0" fill="hold" nodeType="withEffect">
                                  <p:stCondLst>
                                    <p:cond delay="60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50"/>
                                        <p:tgtEl>
                                          <p:spTgt spid="5"/>
                                        </p:tgtEl>
                                      </p:cBhvr>
                                    </p:animEffect>
                                    <p:anim calcmode="lin" valueType="num">
                                      <p:cBhvr>
                                        <p:cTn id="18" dur="750" decel="100000" fill="hold"/>
                                        <p:tgtEl>
                                          <p:spTgt spid="5"/>
                                        </p:tgtEl>
                                        <p:attrNameLst>
                                          <p:attrName>ppt_x</p:attrName>
                                        </p:attrNameLst>
                                      </p:cBhvr>
                                      <p:tavLst>
                                        <p:tav tm="0">
                                          <p:val>
                                            <p:strVal val="#ppt_x"/>
                                          </p:val>
                                        </p:tav>
                                        <p:tav tm="100000">
                                          <p:val>
                                            <p:strVal val="#ppt_x"/>
                                          </p:val>
                                        </p:tav>
                                      </p:tavLst>
                                    </p:anim>
                                    <p:anim calcmode="lin" valueType="num">
                                      <p:cBhvr>
                                        <p:cTn id="19" dur="750" decel="100000" fill="hold"/>
                                        <p:tgtEl>
                                          <p:spTgt spid="5"/>
                                        </p:tgtEl>
                                        <p:attrNameLst>
                                          <p:attrName>ppt_y</p:attrName>
                                        </p:attrNameLst>
                                      </p:cBhvr>
                                      <p:tavLst>
                                        <p:tav tm="0">
                                          <p:val>
                                            <p:strVal val="#ppt_y+.08"/>
                                          </p:val>
                                        </p:tav>
                                        <p:tav tm="100000">
                                          <p:val>
                                            <p:strVal val="#ppt_y"/>
                                          </p:val>
                                        </p:tav>
                                      </p:tavLst>
                                    </p:anim>
                                  </p:childTnLst>
                                </p:cTn>
                              </p:par>
                              <p:par>
                                <p:cTn id="25" presetID="42" presetClass="entr" presetSubtype="0" grpId="0" fill="hold" nodeType="withEffect">
                                  <p:stCondLst>
                                    <p:cond delay="6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50"/>
                                        <p:tgtEl>
                                          <p:spTgt spid="6"/>
                                        </p:tgtEl>
                                      </p:cBhvr>
                                    </p:animEffect>
                                    <p:anim calcmode="lin" valueType="num">
                                      <p:cBhvr>
                                        <p:cTn id="23" dur="750" decel="100000" fill="hold"/>
                                        <p:tgtEl>
                                          <p:spTgt spid="6"/>
                                        </p:tgtEl>
                                        <p:attrNameLst>
                                          <p:attrName>ppt_x</p:attrName>
                                        </p:attrNameLst>
                                      </p:cBhvr>
                                      <p:tavLst>
                                        <p:tav tm="0">
                                          <p:val>
                                            <p:strVal val="#ppt_x"/>
                                          </p:val>
                                        </p:tav>
                                        <p:tav tm="100000">
                                          <p:val>
                                            <p:strVal val="#ppt_x"/>
                                          </p:val>
                                        </p:tav>
                                      </p:tavLst>
                                    </p:anim>
                                    <p:anim calcmode="lin" valueType="num">
                                      <p:cBhvr>
                                        <p:cTn id="24" dur="750" decel="100000" fill="hold"/>
                                        <p:tgtEl>
                                          <p:spTgt spid="6"/>
                                        </p:tgtEl>
                                        <p:attrNameLst>
                                          <p:attrName>ppt_y</p:attrName>
                                        </p:attrNameLst>
                                      </p:cBhvr>
                                      <p:tavLst>
                                        <p:tav tm="0">
                                          <p:val>
                                            <p:strVal val="#ppt_y+.08"/>
                                          </p:val>
                                        </p:tav>
                                        <p:tav tm="100000">
                                          <p:val>
                                            <p:strVal val="#ppt_y"/>
                                          </p:val>
                                        </p:tav>
                                      </p:tavLst>
                                    </p:anim>
                                  </p:childTnLst>
                                </p:cTn>
                              </p:par>
                              <p:par>
                                <p:cTn id="28" presetID="10" presetClass="entr" presetSubtype="0" grpId="0" fill="hold" nodeType="withEffect">
                                  <p:stCondLst>
                                    <p:cond delay="100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600"/>
                                        <p:tgtEl>
                                          <p:spTgt spid="7"/>
                                        </p:tgtEl>
                                      </p:cBhvr>
                                    </p:animEffect>
                                  </p:childTnLst>
                                </p:cTn>
                              </p:par>
                              <p:par>
                                <p:cTn id="33" presetID="53" presetClass="entr" presetSubtype="16" grpId="0" fill="hold" nodeType="withEffect">
                                  <p:stCondLst>
                                    <p:cond delay="1150"/>
                                  </p:stCondLst>
                                  <p:childTnLst>
                                    <p:set>
                                      <p:cBhvr>
                                        <p:cTn id="29" dur="1" fill="hold">
                                          <p:stCondLst>
                                            <p:cond delay="0"/>
                                          </p:stCondLst>
                                        </p:cTn>
                                        <p:tgtEl>
                                          <p:spTgt spid="8"/>
                                        </p:tgtEl>
                                        <p:attrNameLst>
                                          <p:attrName>style.visibility</p:attrName>
                                        </p:attrNameLst>
                                      </p:cBhvr>
                                      <p:to>
                                        <p:strVal val="visible"/>
                                      </p:to>
                                    </p:set>
                                    <p:anim calcmode="lin" valueType="num">
                                      <p:cBhvr>
                                        <p:cTn id="30" dur="500" decel="100000" fill="hold"/>
                                        <p:tgtEl>
                                          <p:spTgt spid="8"/>
                                        </p:tgtEl>
                                        <p:attrNameLst>
                                          <p:attrName>ppt_w</p:attrName>
                                        </p:attrNameLst>
                                      </p:cBhvr>
                                      <p:tavLst>
                                        <p:tav tm="0">
                                          <p:val>
                                            <p:fltVal val="0"/>
                                          </p:val>
                                        </p:tav>
                                        <p:tav tm="100000">
                                          <p:val>
                                            <p:strVal val="#ppt_w"/>
                                          </p:val>
                                        </p:tav>
                                      </p:tavLst>
                                    </p:anim>
                                    <p:anim calcmode="lin" valueType="num">
                                      <p:cBhvr>
                                        <p:cTn id="31" dur="500" decel="100000" fill="hold"/>
                                        <p:tgtEl>
                                          <p:spTgt spid="8"/>
                                        </p:tgtEl>
                                        <p:attrNameLst>
                                          <p:attrName>ppt_h</p:attrName>
                                        </p:attrNameLst>
                                      </p:cBhvr>
                                      <p:tavLst>
                                        <p:tav tm="0">
                                          <p:val>
                                            <p:fltVal val="0"/>
                                          </p:val>
                                        </p:tav>
                                        <p:tav tm="100000">
                                          <p:val>
                                            <p:strVal val="#ppt_h"/>
                                          </p:val>
                                        </p:tav>
                                      </p:tavLst>
                                    </p:anim>
                                    <p:animEffect transition="in" filter="fade">
                                      <p:cBhvr>
                                        <p:cTn id="32" dur="500"/>
                                        <p:tgtEl>
                                          <p:spTgt spid="8"/>
                                        </p:tgtEl>
                                      </p:cBhvr>
                                    </p:animEffect>
                                  </p:childTnLst>
                                </p:cTn>
                              </p:par>
                              <p:par>
                                <p:cTn id="38" presetID="53" presetClass="entr" presetSubtype="16" grpId="0" fill="hold" nodeType="withEffect">
                                  <p:stCondLst>
                                    <p:cond delay="1260"/>
                                  </p:stCondLst>
                                  <p:childTnLst>
                                    <p:set>
                                      <p:cBhvr>
                                        <p:cTn id="34" dur="1" fill="hold">
                                          <p:stCondLst>
                                            <p:cond delay="0"/>
                                          </p:stCondLst>
                                        </p:cTn>
                                        <p:tgtEl>
                                          <p:spTgt spid="9"/>
                                        </p:tgtEl>
                                        <p:attrNameLst>
                                          <p:attrName>style.visibility</p:attrName>
                                        </p:attrNameLst>
                                      </p:cBhvr>
                                      <p:to>
                                        <p:strVal val="visible"/>
                                      </p:to>
                                    </p:set>
                                    <p:anim calcmode="lin" valueType="num">
                                      <p:cBhvr>
                                        <p:cTn id="35" dur="500" decel="100000" fill="hold"/>
                                        <p:tgtEl>
                                          <p:spTgt spid="9"/>
                                        </p:tgtEl>
                                        <p:attrNameLst>
                                          <p:attrName>ppt_w</p:attrName>
                                        </p:attrNameLst>
                                      </p:cBhvr>
                                      <p:tavLst>
                                        <p:tav tm="0">
                                          <p:val>
                                            <p:fltVal val="0"/>
                                          </p:val>
                                        </p:tav>
                                        <p:tav tm="100000">
                                          <p:val>
                                            <p:strVal val="#ppt_w"/>
                                          </p:val>
                                        </p:tav>
                                      </p:tavLst>
                                    </p:anim>
                                    <p:anim calcmode="lin" valueType="num">
                                      <p:cBhvr>
                                        <p:cTn id="36" dur="500" decel="100000" fill="hold"/>
                                        <p:tgtEl>
                                          <p:spTgt spid="9"/>
                                        </p:tgtEl>
                                        <p:attrNameLst>
                                          <p:attrName>ppt_h</p:attrName>
                                        </p:attrNameLst>
                                      </p:cBhvr>
                                      <p:tavLst>
                                        <p:tav tm="0">
                                          <p:val>
                                            <p:fltVal val="0"/>
                                          </p:val>
                                        </p:tav>
                                        <p:tav tm="100000">
                                          <p:val>
                                            <p:strVal val="#ppt_h"/>
                                          </p:val>
                                        </p:tav>
                                      </p:tavLst>
                                    </p:anim>
                                    <p:animEffect transition="in" filter="fade">
                                      <p:cBhvr>
                                        <p:cTn id="37" dur="500"/>
                                        <p:tgtEl>
                                          <p:spTgt spid="9"/>
                                        </p:tgtEl>
                                      </p:cBhvr>
                                    </p:animEffect>
                                  </p:childTnLst>
                                </p:cTn>
                              </p:par>
                              <p:par>
                                <p:cTn id="43" presetID="53" presetClass="entr" presetSubtype="16" grpId="0" fill="hold" nodeType="withEffect">
                                  <p:stCondLst>
                                    <p:cond delay="1370"/>
                                  </p:stCondLst>
                                  <p:childTnLst>
                                    <p:set>
                                      <p:cBhvr>
                                        <p:cTn id="39" dur="1" fill="hold">
                                          <p:stCondLst>
                                            <p:cond delay="0"/>
                                          </p:stCondLst>
                                        </p:cTn>
                                        <p:tgtEl>
                                          <p:spTgt spid="10"/>
                                        </p:tgtEl>
                                        <p:attrNameLst>
                                          <p:attrName>style.visibility</p:attrName>
                                        </p:attrNameLst>
                                      </p:cBhvr>
                                      <p:to>
                                        <p:strVal val="visible"/>
                                      </p:to>
                                    </p:set>
                                    <p:anim calcmode="lin" valueType="num">
                                      <p:cBhvr>
                                        <p:cTn id="40" dur="500" decel="100000" fill="hold"/>
                                        <p:tgtEl>
                                          <p:spTgt spid="10"/>
                                        </p:tgtEl>
                                        <p:attrNameLst>
                                          <p:attrName>ppt_w</p:attrName>
                                        </p:attrNameLst>
                                      </p:cBhvr>
                                      <p:tavLst>
                                        <p:tav tm="0">
                                          <p:val>
                                            <p:fltVal val="0"/>
                                          </p:val>
                                        </p:tav>
                                        <p:tav tm="100000">
                                          <p:val>
                                            <p:strVal val="#ppt_w"/>
                                          </p:val>
                                        </p:tav>
                                      </p:tavLst>
                                    </p:anim>
                                    <p:anim calcmode="lin" valueType="num">
                                      <p:cBhvr>
                                        <p:cTn id="41" dur="500" decel="100000" fill="hold"/>
                                        <p:tgtEl>
                                          <p:spTgt spid="10"/>
                                        </p:tgtEl>
                                        <p:attrNameLst>
                                          <p:attrName>ppt_h</p:attrName>
                                        </p:attrNameLst>
                                      </p:cBhvr>
                                      <p:tavLst>
                                        <p:tav tm="0">
                                          <p:val>
                                            <p:fltVal val="0"/>
                                          </p:val>
                                        </p:tav>
                                        <p:tav tm="100000">
                                          <p:val>
                                            <p:strVal val="#ppt_h"/>
                                          </p:val>
                                        </p:tav>
                                      </p:tavLst>
                                    </p:anim>
                                    <p:animEffect transition="in" filter="fade">
                                      <p:cBhvr>
                                        <p:cTn id="42" dur="500"/>
                                        <p:tgtEl>
                                          <p:spTgt spid="10"/>
                                        </p:tgtEl>
                                      </p:cBhvr>
                                    </p:animEffect>
                                  </p:childTnLst>
                                </p:cTn>
                              </p:par>
                              <p:par>
                                <p:cTn id="48" presetID="53" presetClass="entr" presetSubtype="16" grpId="0" fill="hold" nodeType="withEffect">
                                  <p:stCondLst>
                                    <p:cond delay="1480"/>
                                  </p:stCondLst>
                                  <p:childTnLst>
                                    <p:set>
                                      <p:cBhvr>
                                        <p:cTn id="44" dur="1" fill="hold">
                                          <p:stCondLst>
                                            <p:cond delay="0"/>
                                          </p:stCondLst>
                                        </p:cTn>
                                        <p:tgtEl>
                                          <p:spTgt spid="11"/>
                                        </p:tgtEl>
                                        <p:attrNameLst>
                                          <p:attrName>style.visibility</p:attrName>
                                        </p:attrNameLst>
                                      </p:cBhvr>
                                      <p:to>
                                        <p:strVal val="visible"/>
                                      </p:to>
                                    </p:set>
                                    <p:anim calcmode="lin" valueType="num">
                                      <p:cBhvr>
                                        <p:cTn id="45" dur="500" decel="100000" fill="hold"/>
                                        <p:tgtEl>
                                          <p:spTgt spid="11"/>
                                        </p:tgtEl>
                                        <p:attrNameLst>
                                          <p:attrName>ppt_w</p:attrName>
                                        </p:attrNameLst>
                                      </p:cBhvr>
                                      <p:tavLst>
                                        <p:tav tm="0">
                                          <p:val>
                                            <p:fltVal val="0"/>
                                          </p:val>
                                        </p:tav>
                                        <p:tav tm="100000">
                                          <p:val>
                                            <p:strVal val="#ppt_w"/>
                                          </p:val>
                                        </p:tav>
                                      </p:tavLst>
                                    </p:anim>
                                    <p:anim calcmode="lin" valueType="num">
                                      <p:cBhvr>
                                        <p:cTn id="46" dur="500" decel="100000" fill="hold"/>
                                        <p:tgtEl>
                                          <p:spTgt spid="11"/>
                                        </p:tgtEl>
                                        <p:attrNameLst>
                                          <p:attrName>ppt_h</p:attrName>
                                        </p:attrNameLst>
                                      </p:cBhvr>
                                      <p:tavLst>
                                        <p:tav tm="0">
                                          <p:val>
                                            <p:fltVal val="0"/>
                                          </p:val>
                                        </p:tav>
                                        <p:tav tm="100000">
                                          <p:val>
                                            <p:strVal val="#ppt_h"/>
                                          </p:val>
                                        </p:tav>
                                      </p:tavLst>
                                    </p:anim>
                                    <p:animEffect transition="in" filter="fade">
                                      <p:cBhvr>
                                        <p:cTn id="47" dur="500"/>
                                        <p:tgtEl>
                                          <p:spTgt spid="11"/>
                                        </p:tgtEl>
                                      </p:cBhvr>
                                    </p:animEffect>
                                  </p:childTnLst>
                                </p:cTn>
                              </p:par>
                              <p:par>
                                <p:cTn id="53" presetID="53" presetClass="entr" presetSubtype="16" grpId="0" fill="hold" nodeType="withEffect">
                                  <p:stCondLst>
                                    <p:cond delay="1590"/>
                                  </p:stCondLst>
                                  <p:childTnLst>
                                    <p:set>
                                      <p:cBhvr>
                                        <p:cTn id="49" dur="1" fill="hold">
                                          <p:stCondLst>
                                            <p:cond delay="0"/>
                                          </p:stCondLst>
                                        </p:cTn>
                                        <p:tgtEl>
                                          <p:spTgt spid="12"/>
                                        </p:tgtEl>
                                        <p:attrNameLst>
                                          <p:attrName>style.visibility</p:attrName>
                                        </p:attrNameLst>
                                      </p:cBhvr>
                                      <p:to>
                                        <p:strVal val="visible"/>
                                      </p:to>
                                    </p:set>
                                    <p:anim calcmode="lin" valueType="num">
                                      <p:cBhvr>
                                        <p:cTn id="50" dur="500" decel="100000" fill="hold"/>
                                        <p:tgtEl>
                                          <p:spTgt spid="12"/>
                                        </p:tgtEl>
                                        <p:attrNameLst>
                                          <p:attrName>ppt_w</p:attrName>
                                        </p:attrNameLst>
                                      </p:cBhvr>
                                      <p:tavLst>
                                        <p:tav tm="0">
                                          <p:val>
                                            <p:fltVal val="0"/>
                                          </p:val>
                                        </p:tav>
                                        <p:tav tm="100000">
                                          <p:val>
                                            <p:strVal val="#ppt_w"/>
                                          </p:val>
                                        </p:tav>
                                      </p:tavLst>
                                    </p:anim>
                                    <p:anim calcmode="lin" valueType="num">
                                      <p:cBhvr>
                                        <p:cTn id="51" dur="500" decel="100000" fill="hold"/>
                                        <p:tgtEl>
                                          <p:spTgt spid="12"/>
                                        </p:tgtEl>
                                        <p:attrNameLst>
                                          <p:attrName>ppt_h</p:attrName>
                                        </p:attrNameLst>
                                      </p:cBhvr>
                                      <p:tavLst>
                                        <p:tav tm="0">
                                          <p:val>
                                            <p:fltVal val="0"/>
                                          </p:val>
                                        </p:tav>
                                        <p:tav tm="100000">
                                          <p:val>
                                            <p:strVal val="#ppt_h"/>
                                          </p:val>
                                        </p:tav>
                                      </p:tavLst>
                                    </p:anim>
                                    <p:animEffect transition="in" filter="fade">
                                      <p:cBhvr>
                                        <p:cTn id="52" dur="500"/>
                                        <p:tgtEl>
                                          <p:spTgt spid="12"/>
                                        </p:tgtEl>
                                      </p:cBhvr>
                                    </p:animEffect>
                                  </p:childTnLst>
                                </p:cTn>
                              </p:par>
                              <p:par>
                                <p:cTn id="58" presetID="53" presetClass="entr" presetSubtype="16" grpId="0" fill="hold" nodeType="withEffect">
                                  <p:stCondLst>
                                    <p:cond delay="1700"/>
                                  </p:stCondLst>
                                  <p:childTnLst>
                                    <p:set>
                                      <p:cBhvr>
                                        <p:cTn id="54" dur="1" fill="hold">
                                          <p:stCondLst>
                                            <p:cond delay="0"/>
                                          </p:stCondLst>
                                        </p:cTn>
                                        <p:tgtEl>
                                          <p:spTgt spid="13"/>
                                        </p:tgtEl>
                                        <p:attrNameLst>
                                          <p:attrName>style.visibility</p:attrName>
                                        </p:attrNameLst>
                                      </p:cBhvr>
                                      <p:to>
                                        <p:strVal val="visible"/>
                                      </p:to>
                                    </p:set>
                                    <p:anim calcmode="lin" valueType="num">
                                      <p:cBhvr>
                                        <p:cTn id="55" dur="500" decel="100000" fill="hold"/>
                                        <p:tgtEl>
                                          <p:spTgt spid="13"/>
                                        </p:tgtEl>
                                        <p:attrNameLst>
                                          <p:attrName>ppt_w</p:attrName>
                                        </p:attrNameLst>
                                      </p:cBhvr>
                                      <p:tavLst>
                                        <p:tav tm="0">
                                          <p:val>
                                            <p:fltVal val="0"/>
                                          </p:val>
                                        </p:tav>
                                        <p:tav tm="100000">
                                          <p:val>
                                            <p:strVal val="#ppt_w"/>
                                          </p:val>
                                        </p:tav>
                                      </p:tavLst>
                                    </p:anim>
                                    <p:anim calcmode="lin" valueType="num">
                                      <p:cBhvr>
                                        <p:cTn id="56" dur="500" decel="100000" fill="hold"/>
                                        <p:tgtEl>
                                          <p:spTgt spid="13"/>
                                        </p:tgtEl>
                                        <p:attrNameLst>
                                          <p:attrName>ppt_h</p:attrName>
                                        </p:attrNameLst>
                                      </p:cBhvr>
                                      <p:tavLst>
                                        <p:tav tm="0">
                                          <p:val>
                                            <p:fltVal val="0"/>
                                          </p:val>
                                        </p:tav>
                                        <p:tav tm="100000">
                                          <p:val>
                                            <p:strVal val="#ppt_h"/>
                                          </p:val>
                                        </p:tav>
                                      </p:tavLst>
                                    </p:anim>
                                    <p:animEffect transition="in" filter="fade">
                                      <p:cBhvr>
                                        <p:cTn id="57" dur="500"/>
                                        <p:tgtEl>
                                          <p:spTgt spid="13"/>
                                        </p:tgtEl>
                                      </p:cBhvr>
                                    </p:animEffect>
                                  </p:childTnLst>
                                </p:cTn>
                              </p:par>
                              <p:par>
                                <p:cTn id="63" presetID="53" presetClass="entr" presetSubtype="16" grpId="0" fill="hold" nodeType="withEffect">
                                  <p:stCondLst>
                                    <p:cond delay="1850"/>
                                  </p:stCondLst>
                                  <p:childTnLst>
                                    <p:set>
                                      <p:cBhvr>
                                        <p:cTn id="59" dur="1" fill="hold">
                                          <p:stCondLst>
                                            <p:cond delay="0"/>
                                          </p:stCondLst>
                                        </p:cTn>
                                        <p:tgtEl>
                                          <p:spTgt spid="14"/>
                                        </p:tgtEl>
                                        <p:attrNameLst>
                                          <p:attrName>style.visibility</p:attrName>
                                        </p:attrNameLst>
                                      </p:cBhvr>
                                      <p:to>
                                        <p:strVal val="visible"/>
                                      </p:to>
                                    </p:set>
                                    <p:anim calcmode="lin" valueType="num">
                                      <p:cBhvr>
                                        <p:cTn id="60" dur="500" decel="100000" fill="hold"/>
                                        <p:tgtEl>
                                          <p:spTgt spid="14"/>
                                        </p:tgtEl>
                                        <p:attrNameLst>
                                          <p:attrName>ppt_w</p:attrName>
                                        </p:attrNameLst>
                                      </p:cBhvr>
                                      <p:tavLst>
                                        <p:tav tm="0">
                                          <p:val>
                                            <p:fltVal val="0"/>
                                          </p:val>
                                        </p:tav>
                                        <p:tav tm="100000">
                                          <p:val>
                                            <p:strVal val="#ppt_w"/>
                                          </p:val>
                                        </p:tav>
                                      </p:tavLst>
                                    </p:anim>
                                    <p:anim calcmode="lin" valueType="num">
                                      <p:cBhvr>
                                        <p:cTn id="61" dur="500" decel="100000" fill="hold"/>
                                        <p:tgtEl>
                                          <p:spTgt spid="14"/>
                                        </p:tgtEl>
                                        <p:attrNameLst>
                                          <p:attrName>ppt_h</p:attrName>
                                        </p:attrNameLst>
                                      </p:cBhvr>
                                      <p:tavLst>
                                        <p:tav tm="0">
                                          <p:val>
                                            <p:fltVal val="0"/>
                                          </p:val>
                                        </p:tav>
                                        <p:tav tm="100000">
                                          <p:val>
                                            <p:strVal val="#ppt_h"/>
                                          </p:val>
                                        </p:tav>
                                      </p:tavLst>
                                    </p:anim>
                                    <p:animEffect transition="in" filter="fade">
                                      <p:cBhvr>
                                        <p:cTn id="62" dur="500"/>
                                        <p:tgtEl>
                                          <p:spTgt spid="14"/>
                                        </p:tgtEl>
                                      </p:cBhvr>
                                    </p:animEffect>
                                  </p:childTnLst>
                                </p:cTn>
                              </p:par>
                              <p:par>
                                <p:cTn id="66" presetID="10" presetClass="entr" presetSubtype="0" grpId="0" fill="hold" nodeType="withEffect">
                                  <p:stCondLst>
                                    <p:cond delay="185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600"/>
                                        <p:tgtEl>
                                          <p:spTgt spid="15"/>
                                        </p:tgtEl>
                                      </p:cBhvr>
                                    </p:animEffect>
                                  </p:childTnLst>
                                </p:cTn>
                              </p:par>
                              <p:par>
                                <p:cTn id="69" presetID="10" presetClass="entr" presetSubtype="0" grpId="0" fill="hold" nodeType="withEffect">
                                  <p:stCondLst>
                                    <p:cond delay="2250"/>
                                  </p:stCondLst>
                                  <p:childTnLst>
                                    <p:set>
                                      <p:cBhvr>
                                        <p:cTn id="67" dur="1" fill="hold">
                                          <p:stCondLst>
                                            <p:cond delay="0"/>
                                          </p:stCondLst>
                                        </p:cTn>
                                        <p:tgtEl>
                                          <p:spTgt spid="16"/>
                                        </p:tgtEl>
                                        <p:attrNameLst>
                                          <p:attrName>style.visibility</p:attrName>
                                        </p:attrNameLst>
                                      </p:cBhvr>
                                      <p:to>
                                        <p:strVal val="visible"/>
                                      </p:to>
                                    </p:set>
                                    <p:animEffect transition="in" filter="fade">
                                      <p:cBhvr>
                                        <p:cTn id="68" dur="600"/>
                                        <p:tgtEl>
                                          <p:spTgt spid="16"/>
                                        </p:tgtEl>
                                      </p:cBhvr>
                                    </p:animEffect>
                                  </p:childTnLst>
                                </p:cTn>
                              </p:par>
                              <p:par>
                                <p:cTn id="74" presetID="53" presetClass="entr" presetSubtype="16" grpId="0" fill="hold" nodeType="withEffect">
                                  <p:stCondLst>
                                    <p:cond delay="2400"/>
                                  </p:stCondLst>
                                  <p:childTnLst>
                                    <p:set>
                                      <p:cBhvr>
                                        <p:cTn id="70" dur="1" fill="hold">
                                          <p:stCondLst>
                                            <p:cond delay="0"/>
                                          </p:stCondLst>
                                        </p:cTn>
                                        <p:tgtEl>
                                          <p:spTgt spid="17"/>
                                        </p:tgtEl>
                                        <p:attrNameLst>
                                          <p:attrName>style.visibility</p:attrName>
                                        </p:attrNameLst>
                                      </p:cBhvr>
                                      <p:to>
                                        <p:strVal val="visible"/>
                                      </p:to>
                                    </p:set>
                                    <p:anim calcmode="lin" valueType="num">
                                      <p:cBhvr>
                                        <p:cTn id="71" dur="500" decel="100000" fill="hold"/>
                                        <p:tgtEl>
                                          <p:spTgt spid="17"/>
                                        </p:tgtEl>
                                        <p:attrNameLst>
                                          <p:attrName>ppt_w</p:attrName>
                                        </p:attrNameLst>
                                      </p:cBhvr>
                                      <p:tavLst>
                                        <p:tav tm="0">
                                          <p:val>
                                            <p:fltVal val="0"/>
                                          </p:val>
                                        </p:tav>
                                        <p:tav tm="100000">
                                          <p:val>
                                            <p:strVal val="#ppt_w"/>
                                          </p:val>
                                        </p:tav>
                                      </p:tavLst>
                                    </p:anim>
                                    <p:anim calcmode="lin" valueType="num">
                                      <p:cBhvr>
                                        <p:cTn id="72" dur="500" decel="100000" fill="hold"/>
                                        <p:tgtEl>
                                          <p:spTgt spid="17"/>
                                        </p:tgtEl>
                                        <p:attrNameLst>
                                          <p:attrName>ppt_h</p:attrName>
                                        </p:attrNameLst>
                                      </p:cBhvr>
                                      <p:tavLst>
                                        <p:tav tm="0">
                                          <p:val>
                                            <p:fltVal val="0"/>
                                          </p:val>
                                        </p:tav>
                                        <p:tav tm="100000">
                                          <p:val>
                                            <p:strVal val="#ppt_h"/>
                                          </p:val>
                                        </p:tav>
                                      </p:tavLst>
                                    </p:anim>
                                    <p:animEffect transition="in" filter="fade">
                                      <p:cBhvr>
                                        <p:cTn id="73" dur="500"/>
                                        <p:tgtEl>
                                          <p:spTgt spid="17"/>
                                        </p:tgtEl>
                                      </p:cBhvr>
                                    </p:animEffect>
                                  </p:childTnLst>
                                </p:cTn>
                              </p:par>
                              <p:par>
                                <p:cTn id="79" presetID="53" presetClass="entr" presetSubtype="16" grpId="0" fill="hold" nodeType="withEffect">
                                  <p:stCondLst>
                                    <p:cond delay="2510"/>
                                  </p:stCondLst>
                                  <p:childTnLst>
                                    <p:set>
                                      <p:cBhvr>
                                        <p:cTn id="75" dur="1" fill="hold">
                                          <p:stCondLst>
                                            <p:cond delay="0"/>
                                          </p:stCondLst>
                                        </p:cTn>
                                        <p:tgtEl>
                                          <p:spTgt spid="18"/>
                                        </p:tgtEl>
                                        <p:attrNameLst>
                                          <p:attrName>style.visibility</p:attrName>
                                        </p:attrNameLst>
                                      </p:cBhvr>
                                      <p:to>
                                        <p:strVal val="visible"/>
                                      </p:to>
                                    </p:set>
                                    <p:anim calcmode="lin" valueType="num">
                                      <p:cBhvr>
                                        <p:cTn id="76" dur="500" decel="100000" fill="hold"/>
                                        <p:tgtEl>
                                          <p:spTgt spid="18"/>
                                        </p:tgtEl>
                                        <p:attrNameLst>
                                          <p:attrName>ppt_w</p:attrName>
                                        </p:attrNameLst>
                                      </p:cBhvr>
                                      <p:tavLst>
                                        <p:tav tm="0">
                                          <p:val>
                                            <p:fltVal val="0"/>
                                          </p:val>
                                        </p:tav>
                                        <p:tav tm="100000">
                                          <p:val>
                                            <p:strVal val="#ppt_w"/>
                                          </p:val>
                                        </p:tav>
                                      </p:tavLst>
                                    </p:anim>
                                    <p:anim calcmode="lin" valueType="num">
                                      <p:cBhvr>
                                        <p:cTn id="77" dur="500" decel="100000" fill="hold"/>
                                        <p:tgtEl>
                                          <p:spTgt spid="18"/>
                                        </p:tgtEl>
                                        <p:attrNameLst>
                                          <p:attrName>ppt_h</p:attrName>
                                        </p:attrNameLst>
                                      </p:cBhvr>
                                      <p:tavLst>
                                        <p:tav tm="0">
                                          <p:val>
                                            <p:fltVal val="0"/>
                                          </p:val>
                                        </p:tav>
                                        <p:tav tm="100000">
                                          <p:val>
                                            <p:strVal val="#ppt_h"/>
                                          </p:val>
                                        </p:tav>
                                      </p:tavLst>
                                    </p:anim>
                                    <p:animEffect transition="in" filter="fade">
                                      <p:cBhvr>
                                        <p:cTn id="78" dur="500"/>
                                        <p:tgtEl>
                                          <p:spTgt spid="18"/>
                                        </p:tgtEl>
                                      </p:cBhvr>
                                    </p:animEffect>
                                  </p:childTnLst>
                                </p:cTn>
                              </p:par>
                              <p:par>
                                <p:cTn id="84" presetID="53" presetClass="entr" presetSubtype="16" grpId="0" fill="hold" nodeType="withEffect">
                                  <p:stCondLst>
                                    <p:cond delay="2620"/>
                                  </p:stCondLst>
                                  <p:childTnLst>
                                    <p:set>
                                      <p:cBhvr>
                                        <p:cTn id="80" dur="1" fill="hold">
                                          <p:stCondLst>
                                            <p:cond delay="0"/>
                                          </p:stCondLst>
                                        </p:cTn>
                                        <p:tgtEl>
                                          <p:spTgt spid="19"/>
                                        </p:tgtEl>
                                        <p:attrNameLst>
                                          <p:attrName>style.visibility</p:attrName>
                                        </p:attrNameLst>
                                      </p:cBhvr>
                                      <p:to>
                                        <p:strVal val="visible"/>
                                      </p:to>
                                    </p:set>
                                    <p:anim calcmode="lin" valueType="num">
                                      <p:cBhvr>
                                        <p:cTn id="81" dur="500" decel="100000" fill="hold"/>
                                        <p:tgtEl>
                                          <p:spTgt spid="19"/>
                                        </p:tgtEl>
                                        <p:attrNameLst>
                                          <p:attrName>ppt_w</p:attrName>
                                        </p:attrNameLst>
                                      </p:cBhvr>
                                      <p:tavLst>
                                        <p:tav tm="0">
                                          <p:val>
                                            <p:fltVal val="0"/>
                                          </p:val>
                                        </p:tav>
                                        <p:tav tm="100000">
                                          <p:val>
                                            <p:strVal val="#ppt_w"/>
                                          </p:val>
                                        </p:tav>
                                      </p:tavLst>
                                    </p:anim>
                                    <p:anim calcmode="lin" valueType="num">
                                      <p:cBhvr>
                                        <p:cTn id="82" dur="500" decel="100000" fill="hold"/>
                                        <p:tgtEl>
                                          <p:spTgt spid="19"/>
                                        </p:tgtEl>
                                        <p:attrNameLst>
                                          <p:attrName>ppt_h</p:attrName>
                                        </p:attrNameLst>
                                      </p:cBhvr>
                                      <p:tavLst>
                                        <p:tav tm="0">
                                          <p:val>
                                            <p:fltVal val="0"/>
                                          </p:val>
                                        </p:tav>
                                        <p:tav tm="100000">
                                          <p:val>
                                            <p:strVal val="#ppt_h"/>
                                          </p:val>
                                        </p:tav>
                                      </p:tavLst>
                                    </p:anim>
                                    <p:animEffect transition="in" filter="fade">
                                      <p:cBhvr>
                                        <p:cTn id="83" dur="500"/>
                                        <p:tgtEl>
                                          <p:spTgt spid="19"/>
                                        </p:tgtEl>
                                      </p:cBhvr>
                                    </p:animEffect>
                                  </p:childTnLst>
                                </p:cTn>
                              </p:par>
                              <p:par>
                                <p:cTn id="89" presetID="53" presetClass="entr" presetSubtype="16" grpId="0" fill="hold" nodeType="withEffect">
                                  <p:stCondLst>
                                    <p:cond delay="2730"/>
                                  </p:stCondLst>
                                  <p:childTnLst>
                                    <p:set>
                                      <p:cBhvr>
                                        <p:cTn id="85" dur="1" fill="hold">
                                          <p:stCondLst>
                                            <p:cond delay="0"/>
                                          </p:stCondLst>
                                        </p:cTn>
                                        <p:tgtEl>
                                          <p:spTgt spid="20"/>
                                        </p:tgtEl>
                                        <p:attrNameLst>
                                          <p:attrName>style.visibility</p:attrName>
                                        </p:attrNameLst>
                                      </p:cBhvr>
                                      <p:to>
                                        <p:strVal val="visible"/>
                                      </p:to>
                                    </p:set>
                                    <p:anim calcmode="lin" valueType="num">
                                      <p:cBhvr>
                                        <p:cTn id="86" dur="500" decel="100000" fill="hold"/>
                                        <p:tgtEl>
                                          <p:spTgt spid="20"/>
                                        </p:tgtEl>
                                        <p:attrNameLst>
                                          <p:attrName>ppt_w</p:attrName>
                                        </p:attrNameLst>
                                      </p:cBhvr>
                                      <p:tavLst>
                                        <p:tav tm="0">
                                          <p:val>
                                            <p:fltVal val="0"/>
                                          </p:val>
                                        </p:tav>
                                        <p:tav tm="100000">
                                          <p:val>
                                            <p:strVal val="#ppt_w"/>
                                          </p:val>
                                        </p:tav>
                                      </p:tavLst>
                                    </p:anim>
                                    <p:anim calcmode="lin" valueType="num">
                                      <p:cBhvr>
                                        <p:cTn id="87" dur="500" decel="100000" fill="hold"/>
                                        <p:tgtEl>
                                          <p:spTgt spid="20"/>
                                        </p:tgtEl>
                                        <p:attrNameLst>
                                          <p:attrName>ppt_h</p:attrName>
                                        </p:attrNameLst>
                                      </p:cBhvr>
                                      <p:tavLst>
                                        <p:tav tm="0">
                                          <p:val>
                                            <p:fltVal val="0"/>
                                          </p:val>
                                        </p:tav>
                                        <p:tav tm="100000">
                                          <p:val>
                                            <p:strVal val="#ppt_h"/>
                                          </p:val>
                                        </p:tav>
                                      </p:tavLst>
                                    </p:anim>
                                    <p:animEffect transition="in" filter="fade">
                                      <p:cBhvr>
                                        <p:cTn id="88" dur="500"/>
                                        <p:tgtEl>
                                          <p:spTgt spid="20"/>
                                        </p:tgtEl>
                                      </p:cBhvr>
                                    </p:animEffect>
                                  </p:childTnLst>
                                </p:cTn>
                              </p:par>
                              <p:par>
                                <p:cTn id="94" presetID="53" presetClass="entr" presetSubtype="16" grpId="0" fill="hold" nodeType="withEffect">
                                  <p:stCondLst>
                                    <p:cond delay="2840"/>
                                  </p:stCondLst>
                                  <p:childTnLst>
                                    <p:set>
                                      <p:cBhvr>
                                        <p:cTn id="90" dur="1" fill="hold">
                                          <p:stCondLst>
                                            <p:cond delay="0"/>
                                          </p:stCondLst>
                                        </p:cTn>
                                        <p:tgtEl>
                                          <p:spTgt spid="21"/>
                                        </p:tgtEl>
                                        <p:attrNameLst>
                                          <p:attrName>style.visibility</p:attrName>
                                        </p:attrNameLst>
                                      </p:cBhvr>
                                      <p:to>
                                        <p:strVal val="visible"/>
                                      </p:to>
                                    </p:set>
                                    <p:anim calcmode="lin" valueType="num">
                                      <p:cBhvr>
                                        <p:cTn id="91" dur="500" decel="100000" fill="hold"/>
                                        <p:tgtEl>
                                          <p:spTgt spid="21"/>
                                        </p:tgtEl>
                                        <p:attrNameLst>
                                          <p:attrName>ppt_w</p:attrName>
                                        </p:attrNameLst>
                                      </p:cBhvr>
                                      <p:tavLst>
                                        <p:tav tm="0">
                                          <p:val>
                                            <p:fltVal val="0"/>
                                          </p:val>
                                        </p:tav>
                                        <p:tav tm="100000">
                                          <p:val>
                                            <p:strVal val="#ppt_w"/>
                                          </p:val>
                                        </p:tav>
                                      </p:tavLst>
                                    </p:anim>
                                    <p:anim calcmode="lin" valueType="num">
                                      <p:cBhvr>
                                        <p:cTn id="92" dur="500" decel="100000" fill="hold"/>
                                        <p:tgtEl>
                                          <p:spTgt spid="21"/>
                                        </p:tgtEl>
                                        <p:attrNameLst>
                                          <p:attrName>ppt_h</p:attrName>
                                        </p:attrNameLst>
                                      </p:cBhvr>
                                      <p:tavLst>
                                        <p:tav tm="0">
                                          <p:val>
                                            <p:fltVal val="0"/>
                                          </p:val>
                                        </p:tav>
                                        <p:tav tm="100000">
                                          <p:val>
                                            <p:strVal val="#ppt_h"/>
                                          </p:val>
                                        </p:tav>
                                      </p:tavLst>
                                    </p:anim>
                                    <p:animEffect transition="in" filter="fade">
                                      <p:cBhvr>
                                        <p:cTn id="93" dur="500"/>
                                        <p:tgtEl>
                                          <p:spTgt spid="21"/>
                                        </p:tgtEl>
                                      </p:cBhvr>
                                    </p:animEffect>
                                  </p:childTnLst>
                                </p:cTn>
                              </p:par>
                              <p:par>
                                <p:cTn id="99" presetID="53" presetClass="entr" presetSubtype="16" grpId="0" fill="hold" nodeType="withEffect">
                                  <p:stCondLst>
                                    <p:cond delay="2950"/>
                                  </p:stCondLst>
                                  <p:childTnLst>
                                    <p:set>
                                      <p:cBhvr>
                                        <p:cTn id="95" dur="1" fill="hold">
                                          <p:stCondLst>
                                            <p:cond delay="0"/>
                                          </p:stCondLst>
                                        </p:cTn>
                                        <p:tgtEl>
                                          <p:spTgt spid="22"/>
                                        </p:tgtEl>
                                        <p:attrNameLst>
                                          <p:attrName>style.visibility</p:attrName>
                                        </p:attrNameLst>
                                      </p:cBhvr>
                                      <p:to>
                                        <p:strVal val="visible"/>
                                      </p:to>
                                    </p:set>
                                    <p:anim calcmode="lin" valueType="num">
                                      <p:cBhvr>
                                        <p:cTn id="96" dur="500" decel="100000" fill="hold"/>
                                        <p:tgtEl>
                                          <p:spTgt spid="22"/>
                                        </p:tgtEl>
                                        <p:attrNameLst>
                                          <p:attrName>ppt_w</p:attrName>
                                        </p:attrNameLst>
                                      </p:cBhvr>
                                      <p:tavLst>
                                        <p:tav tm="0">
                                          <p:val>
                                            <p:fltVal val="0"/>
                                          </p:val>
                                        </p:tav>
                                        <p:tav tm="100000">
                                          <p:val>
                                            <p:strVal val="#ppt_w"/>
                                          </p:val>
                                        </p:tav>
                                      </p:tavLst>
                                    </p:anim>
                                    <p:anim calcmode="lin" valueType="num">
                                      <p:cBhvr>
                                        <p:cTn id="97" dur="500" decel="100000" fill="hold"/>
                                        <p:tgtEl>
                                          <p:spTgt spid="22"/>
                                        </p:tgtEl>
                                        <p:attrNameLst>
                                          <p:attrName>ppt_h</p:attrName>
                                        </p:attrNameLst>
                                      </p:cBhvr>
                                      <p:tavLst>
                                        <p:tav tm="0">
                                          <p:val>
                                            <p:fltVal val="0"/>
                                          </p:val>
                                        </p:tav>
                                        <p:tav tm="100000">
                                          <p:val>
                                            <p:strVal val="#ppt_h"/>
                                          </p:val>
                                        </p:tav>
                                      </p:tavLst>
                                    </p:anim>
                                    <p:animEffect transition="in" filter="fade">
                                      <p:cBhvr>
                                        <p:cTn id="98" dur="500"/>
                                        <p:tgtEl>
                                          <p:spTgt spid="22"/>
                                        </p:tgtEl>
                                      </p:cBhvr>
                                    </p:animEffect>
                                  </p:childTnLst>
                                </p:cTn>
                              </p:par>
                              <p:par>
                                <p:cTn id="104" presetID="53" presetClass="entr" presetSubtype="16" grpId="0" fill="hold" nodeType="withEffect">
                                  <p:stCondLst>
                                    <p:cond delay="3100"/>
                                  </p:stCondLst>
                                  <p:childTnLst>
                                    <p:set>
                                      <p:cBhvr>
                                        <p:cTn id="100" dur="1" fill="hold">
                                          <p:stCondLst>
                                            <p:cond delay="0"/>
                                          </p:stCondLst>
                                        </p:cTn>
                                        <p:tgtEl>
                                          <p:spTgt spid="23"/>
                                        </p:tgtEl>
                                        <p:attrNameLst>
                                          <p:attrName>style.visibility</p:attrName>
                                        </p:attrNameLst>
                                      </p:cBhvr>
                                      <p:to>
                                        <p:strVal val="visible"/>
                                      </p:to>
                                    </p:set>
                                    <p:anim calcmode="lin" valueType="num">
                                      <p:cBhvr>
                                        <p:cTn id="101" dur="500" decel="100000" fill="hold"/>
                                        <p:tgtEl>
                                          <p:spTgt spid="23"/>
                                        </p:tgtEl>
                                        <p:attrNameLst>
                                          <p:attrName>ppt_w</p:attrName>
                                        </p:attrNameLst>
                                      </p:cBhvr>
                                      <p:tavLst>
                                        <p:tav tm="0">
                                          <p:val>
                                            <p:fltVal val="0"/>
                                          </p:val>
                                        </p:tav>
                                        <p:tav tm="100000">
                                          <p:val>
                                            <p:strVal val="#ppt_w"/>
                                          </p:val>
                                        </p:tav>
                                      </p:tavLst>
                                    </p:anim>
                                    <p:anim calcmode="lin" valueType="num">
                                      <p:cBhvr>
                                        <p:cTn id="102" dur="500" decel="100000" fill="hold"/>
                                        <p:tgtEl>
                                          <p:spTgt spid="23"/>
                                        </p:tgtEl>
                                        <p:attrNameLst>
                                          <p:attrName>ppt_h</p:attrName>
                                        </p:attrNameLst>
                                      </p:cBhvr>
                                      <p:tavLst>
                                        <p:tav tm="0">
                                          <p:val>
                                            <p:fltVal val="0"/>
                                          </p:val>
                                        </p:tav>
                                        <p:tav tm="100000">
                                          <p:val>
                                            <p:strVal val="#ppt_h"/>
                                          </p:val>
                                        </p:tav>
                                      </p:tavLst>
                                    </p:anim>
                                    <p:animEffect transition="in" filter="fade">
                                      <p:cBhvr>
                                        <p:cTn id="103" dur="500"/>
                                        <p:tgtEl>
                                          <p:spTgt spid="23"/>
                                        </p:tgtEl>
                                      </p:cBhvr>
                                    </p:animEffect>
                                  </p:childTnLst>
                                </p:cTn>
                              </p:par>
                              <p:par>
                                <p:cTn id="107" presetID="10" presetClass="entr" presetSubtype="0" grpId="0" fill="hold" nodeType="withEffect">
                                  <p:stCondLst>
                                    <p:cond delay="310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600"/>
                                        <p:tgtEl>
                                          <p:spTgt spid="24"/>
                                        </p:tgtEl>
                                      </p:cBhvr>
                                    </p:animEffect>
                                  </p:childTnLst>
                                </p:cTn>
                              </p:par>
                              <p:par>
                                <p:cTn id="109" presetID="6" presetClass="emph" presetSubtype="0" grpId="1" fill="hold" nodeType="withEffect">
                                  <p:stCondLst>
                                    <p:cond delay="3550"/>
                                  </p:stCondLst>
                                  <p:childTnLst>
                                    <p:animScale>
                                      <p:cBhvr>
                                        <p:cTn id="108" dur="350" autoRev="1" fill="hold"/>
                                        <p:tgtEl>
                                          <p:spTgt spid="23"/>
                                        </p:tgtEl>
                                      </p:cBhvr>
                                      <p:by x="112000" y="112000"/>
                                    </p:animScale>
                                  </p:childTnLst>
                                </p:cTn>
                              </p:par>
                              <p:par>
                                <p:cTn id="112" presetID="22" presetClass="entr" presetSubtype="8" grpId="0" fill="hold" nodeType="withEffect">
                                  <p:stCondLst>
                                    <p:cond delay="3850"/>
                                  </p:stCondLst>
                                  <p:childTnLst>
                                    <p:set>
                                      <p:cBhvr>
                                        <p:cTn id="110" dur="1" fill="hold">
                                          <p:stCondLst>
                                            <p:cond delay="0"/>
                                          </p:stCondLst>
                                        </p:cTn>
                                        <p:tgtEl>
                                          <p:spTgt spid="25"/>
                                        </p:tgtEl>
                                        <p:attrNameLst>
                                          <p:attrName>style.visibility</p:attrName>
                                        </p:attrNameLst>
                                      </p:cBhvr>
                                      <p:to>
                                        <p:strVal val="visible"/>
                                      </p:to>
                                    </p:set>
                                    <p:animEffect transition="in" filter="wipe(left)">
                                      <p:cBhvr>
                                        <p:cTn id="111" dur="550"/>
                                        <p:tgtEl>
                                          <p:spTgt spid="25"/>
                                        </p:tgtEl>
                                      </p:cBhvr>
                                    </p:animEffect>
                                  </p:childTnLst>
                                </p:cTn>
                              </p:par>
                              <p:par>
                                <p:cTn id="115" presetID="22" presetClass="entr" presetSubtype="8" grpId="0" fill="hold" nodeType="withEffect">
                                  <p:stCondLst>
                                    <p:cond delay="3850"/>
                                  </p:stCondLst>
                                  <p:childTnLst>
                                    <p:set>
                                      <p:cBhvr>
                                        <p:cTn id="113" dur="1" fill="hold">
                                          <p:stCondLst>
                                            <p:cond delay="0"/>
                                          </p:stCondLst>
                                        </p:cTn>
                                        <p:tgtEl>
                                          <p:spTgt spid="26"/>
                                        </p:tgtEl>
                                        <p:attrNameLst>
                                          <p:attrName>style.visibility</p:attrName>
                                        </p:attrNameLst>
                                      </p:cBhvr>
                                      <p:to>
                                        <p:strVal val="visible"/>
                                      </p:to>
                                    </p:set>
                                    <p:animEffect transition="in" filter="wipe(left)">
                                      <p:cBhvr>
                                        <p:cTn id="114" dur="550"/>
                                        <p:tgtEl>
                                          <p:spTgt spid="26"/>
                                        </p:tgtEl>
                                      </p:cBhvr>
                                    </p:animEffect>
                                  </p:childTnLst>
                                </p:cTn>
                              </p:par>
                              <p:par>
                                <p:cTn id="120" presetID="42" presetClass="entr" presetSubtype="0" grpId="0" fill="hold" nodeType="withEffect">
                                  <p:stCondLst>
                                    <p:cond delay="4250"/>
                                  </p:stCondLst>
                                  <p:childTnLst>
                                    <p:set>
                                      <p:cBhvr>
                                        <p:cTn id="116" dur="1" fill="hold">
                                          <p:stCondLst>
                                            <p:cond delay="0"/>
                                          </p:stCondLst>
                                        </p:cTn>
                                        <p:tgtEl>
                                          <p:spTgt spid="27"/>
                                        </p:tgtEl>
                                        <p:attrNameLst>
                                          <p:attrName>style.visibility</p:attrName>
                                        </p:attrNameLst>
                                      </p:cBhvr>
                                      <p:to>
                                        <p:strVal val="visible"/>
                                      </p:to>
                                    </p:set>
                                    <p:animEffect transition="in" filter="fade">
                                      <p:cBhvr>
                                        <p:cTn id="117" dur="750"/>
                                        <p:tgtEl>
                                          <p:spTgt spid="27"/>
                                        </p:tgtEl>
                                      </p:cBhvr>
                                    </p:animEffect>
                                    <p:anim calcmode="lin" valueType="num">
                                      <p:cBhvr>
                                        <p:cTn id="118" dur="750" decel="100000" fill="hold"/>
                                        <p:tgtEl>
                                          <p:spTgt spid="27"/>
                                        </p:tgtEl>
                                        <p:attrNameLst>
                                          <p:attrName>ppt_x</p:attrName>
                                        </p:attrNameLst>
                                      </p:cBhvr>
                                      <p:tavLst>
                                        <p:tav tm="0">
                                          <p:val>
                                            <p:strVal val="#ppt_x"/>
                                          </p:val>
                                        </p:tav>
                                        <p:tav tm="100000">
                                          <p:val>
                                            <p:strVal val="#ppt_x"/>
                                          </p:val>
                                        </p:tav>
                                      </p:tavLst>
                                    </p:anim>
                                    <p:anim calcmode="lin" valueType="num">
                                      <p:cBhvr>
                                        <p:cTn id="119" dur="750" decel="100000" fill="hold"/>
                                        <p:tgtEl>
                                          <p:spTgt spid="27"/>
                                        </p:tgtEl>
                                        <p:attrNameLst>
                                          <p:attrName>ppt_y</p:attrName>
                                        </p:attrNameLst>
                                      </p:cBhvr>
                                      <p:tavLst>
                                        <p:tav tm="0">
                                          <p:val>
                                            <p:strVal val="#ppt_y+.08"/>
                                          </p:val>
                                        </p:tav>
                                        <p:tav tm="100000">
                                          <p:val>
                                            <p:strVal val="#ppt_y"/>
                                          </p:val>
                                        </p:tav>
                                      </p:tavLst>
                                    </p:anim>
                                  </p:childTnLst>
                                </p:cTn>
                              </p:par>
                              <p:par>
                                <p:cTn id="125" presetID="42" presetClass="entr" presetSubtype="0" grpId="0" fill="hold" nodeType="withEffect">
                                  <p:stCondLst>
                                    <p:cond delay="4250"/>
                                  </p:stCondLst>
                                  <p:childTnLst>
                                    <p:set>
                                      <p:cBhvr>
                                        <p:cTn id="121" dur="1" fill="hold">
                                          <p:stCondLst>
                                            <p:cond delay="0"/>
                                          </p:stCondLst>
                                        </p:cTn>
                                        <p:tgtEl>
                                          <p:spTgt spid="28"/>
                                        </p:tgtEl>
                                        <p:attrNameLst>
                                          <p:attrName>style.visibility</p:attrName>
                                        </p:attrNameLst>
                                      </p:cBhvr>
                                      <p:to>
                                        <p:strVal val="visible"/>
                                      </p:to>
                                    </p:set>
                                    <p:animEffect transition="in" filter="fade">
                                      <p:cBhvr>
                                        <p:cTn id="122" dur="750"/>
                                        <p:tgtEl>
                                          <p:spTgt spid="28"/>
                                        </p:tgtEl>
                                      </p:cBhvr>
                                    </p:animEffect>
                                    <p:anim calcmode="lin" valueType="num">
                                      <p:cBhvr>
                                        <p:cTn id="123" dur="750" decel="100000" fill="hold"/>
                                        <p:tgtEl>
                                          <p:spTgt spid="28"/>
                                        </p:tgtEl>
                                        <p:attrNameLst>
                                          <p:attrName>ppt_x</p:attrName>
                                        </p:attrNameLst>
                                      </p:cBhvr>
                                      <p:tavLst>
                                        <p:tav tm="0">
                                          <p:val>
                                            <p:strVal val="#ppt_x"/>
                                          </p:val>
                                        </p:tav>
                                        <p:tav tm="100000">
                                          <p:val>
                                            <p:strVal val="#ppt_x"/>
                                          </p:val>
                                        </p:tav>
                                      </p:tavLst>
                                    </p:anim>
                                    <p:anim calcmode="lin" valueType="num">
                                      <p:cBhvr>
                                        <p:cTn id="124" dur="750" decel="100000" fill="hold"/>
                                        <p:tgtEl>
                                          <p:spTgt spid="28"/>
                                        </p:tgtEl>
                                        <p:attrNameLst>
                                          <p:attrName>ppt_y</p:attrName>
                                        </p:attrNameLst>
                                      </p:cBhvr>
                                      <p:tavLst>
                                        <p:tav tm="0">
                                          <p:val>
                                            <p:strVal val="#ppt_y+.08"/>
                                          </p:val>
                                        </p:tav>
                                        <p:tav tm="100000">
                                          <p:val>
                                            <p:strVal val="#ppt_y"/>
                                          </p:val>
                                        </p:tav>
                                      </p:tavLst>
                                    </p:anim>
                                  </p:childTnLst>
                                </p:cTn>
                              </p:par>
                              <p:par>
                                <p:cTn id="130" presetID="42" presetClass="entr" presetSubtype="0" grpId="0" fill="hold" nodeType="withEffect">
                                  <p:stCondLst>
                                    <p:cond delay="4450"/>
                                  </p:stCondLst>
                                  <p:childTnLst>
                                    <p:set>
                                      <p:cBhvr>
                                        <p:cTn id="126" dur="1" fill="hold">
                                          <p:stCondLst>
                                            <p:cond delay="0"/>
                                          </p:stCondLst>
                                        </p:cTn>
                                        <p:tgtEl>
                                          <p:spTgt spid="29"/>
                                        </p:tgtEl>
                                        <p:attrNameLst>
                                          <p:attrName>style.visibility</p:attrName>
                                        </p:attrNameLst>
                                      </p:cBhvr>
                                      <p:to>
                                        <p:strVal val="visible"/>
                                      </p:to>
                                    </p:set>
                                    <p:animEffect transition="in" filter="fade">
                                      <p:cBhvr>
                                        <p:cTn id="127" dur="750"/>
                                        <p:tgtEl>
                                          <p:spTgt spid="29"/>
                                        </p:tgtEl>
                                      </p:cBhvr>
                                    </p:animEffect>
                                    <p:anim calcmode="lin" valueType="num">
                                      <p:cBhvr>
                                        <p:cTn id="128" dur="750" decel="100000" fill="hold"/>
                                        <p:tgtEl>
                                          <p:spTgt spid="29"/>
                                        </p:tgtEl>
                                        <p:attrNameLst>
                                          <p:attrName>ppt_x</p:attrName>
                                        </p:attrNameLst>
                                      </p:cBhvr>
                                      <p:tavLst>
                                        <p:tav tm="0">
                                          <p:val>
                                            <p:strVal val="#ppt_x"/>
                                          </p:val>
                                        </p:tav>
                                        <p:tav tm="100000">
                                          <p:val>
                                            <p:strVal val="#ppt_x"/>
                                          </p:val>
                                        </p:tav>
                                      </p:tavLst>
                                    </p:anim>
                                    <p:anim calcmode="lin" valueType="num">
                                      <p:cBhvr>
                                        <p:cTn id="129" dur="750" decel="100000" fill="hold"/>
                                        <p:tgtEl>
                                          <p:spTgt spid="29"/>
                                        </p:tgtEl>
                                        <p:attrNameLst>
                                          <p:attrName>ppt_y</p:attrName>
                                        </p:attrNameLst>
                                      </p:cBhvr>
                                      <p:tavLst>
                                        <p:tav tm="0">
                                          <p:val>
                                            <p:strVal val="#ppt_y+.08"/>
                                          </p:val>
                                        </p:tav>
                                        <p:tav tm="100000">
                                          <p:val>
                                            <p:strVal val="#ppt_y"/>
                                          </p:val>
                                        </p:tav>
                                      </p:tavLst>
                                    </p:anim>
                                  </p:childTnLst>
                                </p:cTn>
                              </p:par>
                              <p:par>
                                <p:cTn id="135" presetID="42" presetClass="entr" presetSubtype="0" grpId="0" fill="hold" nodeType="withEffect">
                                  <p:stCondLst>
                                    <p:cond delay="4450"/>
                                  </p:stCondLst>
                                  <p:childTnLst>
                                    <p:set>
                                      <p:cBhvr>
                                        <p:cTn id="131" dur="1" fill="hold">
                                          <p:stCondLst>
                                            <p:cond delay="0"/>
                                          </p:stCondLst>
                                        </p:cTn>
                                        <p:tgtEl>
                                          <p:spTgt spid="30"/>
                                        </p:tgtEl>
                                        <p:attrNameLst>
                                          <p:attrName>style.visibility</p:attrName>
                                        </p:attrNameLst>
                                      </p:cBhvr>
                                      <p:to>
                                        <p:strVal val="visible"/>
                                      </p:to>
                                    </p:set>
                                    <p:animEffect transition="in" filter="fade">
                                      <p:cBhvr>
                                        <p:cTn id="132" dur="750"/>
                                        <p:tgtEl>
                                          <p:spTgt spid="30"/>
                                        </p:tgtEl>
                                      </p:cBhvr>
                                    </p:animEffect>
                                    <p:anim calcmode="lin" valueType="num">
                                      <p:cBhvr>
                                        <p:cTn id="133" dur="750" decel="100000" fill="hold"/>
                                        <p:tgtEl>
                                          <p:spTgt spid="30"/>
                                        </p:tgtEl>
                                        <p:attrNameLst>
                                          <p:attrName>ppt_x</p:attrName>
                                        </p:attrNameLst>
                                      </p:cBhvr>
                                      <p:tavLst>
                                        <p:tav tm="0">
                                          <p:val>
                                            <p:strVal val="#ppt_x"/>
                                          </p:val>
                                        </p:tav>
                                        <p:tav tm="100000">
                                          <p:val>
                                            <p:strVal val="#ppt_x"/>
                                          </p:val>
                                        </p:tav>
                                      </p:tavLst>
                                    </p:anim>
                                    <p:anim calcmode="lin" valueType="num">
                                      <p:cBhvr>
                                        <p:cTn id="134" dur="750" decel="100000" fill="hold"/>
                                        <p:tgtEl>
                                          <p:spTgt spid="30"/>
                                        </p:tgtEl>
                                        <p:attrNameLst>
                                          <p:attrName>ppt_y</p:attrName>
                                        </p:attrNameLst>
                                      </p:cBhvr>
                                      <p:tavLst>
                                        <p:tav tm="0">
                                          <p:val>
                                            <p:strVal val="#ppt_y+.08"/>
                                          </p:val>
                                        </p:tav>
                                        <p:tav tm="100000">
                                          <p:val>
                                            <p:strVal val="#ppt_y"/>
                                          </p:val>
                                        </p:tav>
                                      </p:tavLst>
                                    </p:anim>
                                  </p:childTnLst>
                                </p:cTn>
                              </p:par>
                              <p:par>
                                <p:cTn id="140" presetID="42" presetClass="entr" presetSubtype="0" grpId="0" fill="hold" nodeType="withEffect">
                                  <p:stCondLst>
                                    <p:cond delay="4600"/>
                                  </p:stCondLst>
                                  <p:childTnLst>
                                    <p:set>
                                      <p:cBhvr>
                                        <p:cTn id="136" dur="1" fill="hold">
                                          <p:stCondLst>
                                            <p:cond delay="0"/>
                                          </p:stCondLst>
                                        </p:cTn>
                                        <p:tgtEl>
                                          <p:spTgt spid="31"/>
                                        </p:tgtEl>
                                        <p:attrNameLst>
                                          <p:attrName>style.visibility</p:attrName>
                                        </p:attrNameLst>
                                      </p:cBhvr>
                                      <p:to>
                                        <p:strVal val="visible"/>
                                      </p:to>
                                    </p:set>
                                    <p:animEffect transition="in" filter="fade">
                                      <p:cBhvr>
                                        <p:cTn id="137" dur="750"/>
                                        <p:tgtEl>
                                          <p:spTgt spid="31"/>
                                        </p:tgtEl>
                                      </p:cBhvr>
                                    </p:animEffect>
                                    <p:anim calcmode="lin" valueType="num">
                                      <p:cBhvr>
                                        <p:cTn id="138" dur="750" decel="100000" fill="hold"/>
                                        <p:tgtEl>
                                          <p:spTgt spid="31"/>
                                        </p:tgtEl>
                                        <p:attrNameLst>
                                          <p:attrName>ppt_x</p:attrName>
                                        </p:attrNameLst>
                                      </p:cBhvr>
                                      <p:tavLst>
                                        <p:tav tm="0">
                                          <p:val>
                                            <p:strVal val="#ppt_x"/>
                                          </p:val>
                                        </p:tav>
                                        <p:tav tm="100000">
                                          <p:val>
                                            <p:strVal val="#ppt_x"/>
                                          </p:val>
                                        </p:tav>
                                      </p:tavLst>
                                    </p:anim>
                                    <p:anim calcmode="lin" valueType="num">
                                      <p:cBhvr>
                                        <p:cTn id="139" dur="750" decel="100000" fill="hold"/>
                                        <p:tgtEl>
                                          <p:spTgt spid="31"/>
                                        </p:tgtEl>
                                        <p:attrNameLst>
                                          <p:attrName>ppt_y</p:attrName>
                                        </p:attrNameLst>
                                      </p:cBhvr>
                                      <p:tavLst>
                                        <p:tav tm="0">
                                          <p:val>
                                            <p:strVal val="#ppt_y+.08"/>
                                          </p:val>
                                        </p:tav>
                                        <p:tav tm="100000">
                                          <p:val>
                                            <p:strVal val="#ppt_y"/>
                                          </p:val>
                                        </p:tav>
                                      </p:tavLst>
                                    </p:anim>
                                  </p:childTnLst>
                                </p:cTn>
                              </p:par>
                              <p:par>
                                <p:cTn id="145" presetID="42" presetClass="entr" presetSubtype="0" grpId="0" fill="hold" nodeType="withEffect">
                                  <p:stCondLst>
                                    <p:cond delay="460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750"/>
                                        <p:tgtEl>
                                          <p:spTgt spid="32"/>
                                        </p:tgtEl>
                                      </p:cBhvr>
                                    </p:animEffect>
                                    <p:anim calcmode="lin" valueType="num">
                                      <p:cBhvr>
                                        <p:cTn id="143" dur="750" decel="100000" fill="hold"/>
                                        <p:tgtEl>
                                          <p:spTgt spid="32"/>
                                        </p:tgtEl>
                                        <p:attrNameLst>
                                          <p:attrName>ppt_x</p:attrName>
                                        </p:attrNameLst>
                                      </p:cBhvr>
                                      <p:tavLst>
                                        <p:tav tm="0">
                                          <p:val>
                                            <p:strVal val="#ppt_x"/>
                                          </p:val>
                                        </p:tav>
                                        <p:tav tm="100000">
                                          <p:val>
                                            <p:strVal val="#ppt_x"/>
                                          </p:val>
                                        </p:tav>
                                      </p:tavLst>
                                    </p:anim>
                                    <p:anim calcmode="lin" valueType="num">
                                      <p:cBhvr>
                                        <p:cTn id="144" dur="750" decel="100000" fill="hold"/>
                                        <p:tgtEl>
                                          <p:spTgt spid="32"/>
                                        </p:tgtEl>
                                        <p:attrNameLst>
                                          <p:attrName>ppt_y</p:attrName>
                                        </p:attrNameLst>
                                      </p:cBhvr>
                                      <p:tavLst>
                                        <p:tav tm="0">
                                          <p:val>
                                            <p:strVal val="#ppt_y+.08"/>
                                          </p:val>
                                        </p:tav>
                                        <p:tav tm="100000">
                                          <p:val>
                                            <p:strVal val="#ppt_y"/>
                                          </p:val>
                                        </p:tav>
                                      </p:tavLst>
                                    </p:anim>
                                  </p:childTnLst>
                                </p:cTn>
                              </p:par>
                              <p:par>
                                <p:cTn id="150" presetID="42" presetClass="entr" presetSubtype="0" grpId="0" fill="hold" nodeType="withEffect">
                                  <p:stCondLst>
                                    <p:cond delay="4750"/>
                                  </p:stCondLst>
                                  <p:childTnLst>
                                    <p:set>
                                      <p:cBhvr>
                                        <p:cTn id="146" dur="1" fill="hold">
                                          <p:stCondLst>
                                            <p:cond delay="0"/>
                                          </p:stCondLst>
                                        </p:cTn>
                                        <p:tgtEl>
                                          <p:spTgt spid="33"/>
                                        </p:tgtEl>
                                        <p:attrNameLst>
                                          <p:attrName>style.visibility</p:attrName>
                                        </p:attrNameLst>
                                      </p:cBhvr>
                                      <p:to>
                                        <p:strVal val="visible"/>
                                      </p:to>
                                    </p:set>
                                    <p:animEffect transition="in" filter="fade">
                                      <p:cBhvr>
                                        <p:cTn id="147" dur="750"/>
                                        <p:tgtEl>
                                          <p:spTgt spid="33"/>
                                        </p:tgtEl>
                                      </p:cBhvr>
                                    </p:animEffect>
                                    <p:anim calcmode="lin" valueType="num">
                                      <p:cBhvr>
                                        <p:cTn id="148" dur="750" decel="100000" fill="hold"/>
                                        <p:tgtEl>
                                          <p:spTgt spid="33"/>
                                        </p:tgtEl>
                                        <p:attrNameLst>
                                          <p:attrName>ppt_x</p:attrName>
                                        </p:attrNameLst>
                                      </p:cBhvr>
                                      <p:tavLst>
                                        <p:tav tm="0">
                                          <p:val>
                                            <p:strVal val="#ppt_x"/>
                                          </p:val>
                                        </p:tav>
                                        <p:tav tm="100000">
                                          <p:val>
                                            <p:strVal val="#ppt_x"/>
                                          </p:val>
                                        </p:tav>
                                      </p:tavLst>
                                    </p:anim>
                                    <p:anim calcmode="lin" valueType="num">
                                      <p:cBhvr>
                                        <p:cTn id="149" dur="750" decel="100000" fill="hold"/>
                                        <p:tgtEl>
                                          <p:spTgt spid="33"/>
                                        </p:tgtEl>
                                        <p:attrNameLst>
                                          <p:attrName>ppt_y</p:attrName>
                                        </p:attrNameLst>
                                      </p:cBhvr>
                                      <p:tavLst>
                                        <p:tav tm="0">
                                          <p:val>
                                            <p:strVal val="#ppt_y+.08"/>
                                          </p:val>
                                        </p:tav>
                                        <p:tav tm="100000">
                                          <p:val>
                                            <p:strVal val="#ppt_y"/>
                                          </p:val>
                                        </p:tav>
                                      </p:tavLst>
                                    </p:anim>
                                  </p:childTnLst>
                                </p:cTn>
                              </p:par>
                              <p:par>
                                <p:cTn id="155" presetID="42" presetClass="entr" presetSubtype="0" grpId="0" fill="hold" nodeType="withEffect">
                                  <p:stCondLst>
                                    <p:cond delay="4750"/>
                                  </p:stCondLst>
                                  <p:childTnLst>
                                    <p:set>
                                      <p:cBhvr>
                                        <p:cTn id="151" dur="1" fill="hold">
                                          <p:stCondLst>
                                            <p:cond delay="0"/>
                                          </p:stCondLst>
                                        </p:cTn>
                                        <p:tgtEl>
                                          <p:spTgt spid="34"/>
                                        </p:tgtEl>
                                        <p:attrNameLst>
                                          <p:attrName>style.visibility</p:attrName>
                                        </p:attrNameLst>
                                      </p:cBhvr>
                                      <p:to>
                                        <p:strVal val="visible"/>
                                      </p:to>
                                    </p:set>
                                    <p:animEffect transition="in" filter="fade">
                                      <p:cBhvr>
                                        <p:cTn id="152" dur="750"/>
                                        <p:tgtEl>
                                          <p:spTgt spid="34"/>
                                        </p:tgtEl>
                                      </p:cBhvr>
                                    </p:animEffect>
                                    <p:anim calcmode="lin" valueType="num">
                                      <p:cBhvr>
                                        <p:cTn id="153" dur="750" decel="100000" fill="hold"/>
                                        <p:tgtEl>
                                          <p:spTgt spid="34"/>
                                        </p:tgtEl>
                                        <p:attrNameLst>
                                          <p:attrName>ppt_x</p:attrName>
                                        </p:attrNameLst>
                                      </p:cBhvr>
                                      <p:tavLst>
                                        <p:tav tm="0">
                                          <p:val>
                                            <p:strVal val="#ppt_x"/>
                                          </p:val>
                                        </p:tav>
                                        <p:tav tm="100000">
                                          <p:val>
                                            <p:strVal val="#ppt_x"/>
                                          </p:val>
                                        </p:tav>
                                      </p:tavLst>
                                    </p:anim>
                                    <p:anim calcmode="lin" valueType="num">
                                      <p:cBhvr>
                                        <p:cTn id="154" dur="750" decel="100000" fill="hold"/>
                                        <p:tgtEl>
                                          <p:spTgt spid="34"/>
                                        </p:tgtEl>
                                        <p:attrNameLst>
                                          <p:attrName>ppt_y</p:attrName>
                                        </p:attrNameLst>
                                      </p:cBhvr>
                                      <p:tavLst>
                                        <p:tav tm="0">
                                          <p:val>
                                            <p:strVal val="#ppt_y+.08"/>
                                          </p:val>
                                        </p:tav>
                                        <p:tav tm="100000">
                                          <p:val>
                                            <p:strVal val="#ppt_y"/>
                                          </p:val>
                                        </p:tav>
                                      </p:tavLst>
                                    </p:anim>
                                  </p:childTnLst>
                                </p:cTn>
                              </p:par>
                              <p:par>
                                <p:cTn id="158" presetID="10" presetClass="entr" presetSubtype="0" grpId="0" fill="hold" nodeType="withEffect">
                                  <p:stCondLst>
                                    <p:cond delay="5000"/>
                                  </p:stCondLst>
                                  <p:childTnLst>
                                    <p:set>
                                      <p:cBhvr>
                                        <p:cTn id="156" dur="1" fill="hold">
                                          <p:stCondLst>
                                            <p:cond delay="0"/>
                                          </p:stCondLst>
                                        </p:cTn>
                                        <p:tgtEl>
                                          <p:spTgt spid="35"/>
                                        </p:tgtEl>
                                        <p:attrNameLst>
                                          <p:attrName>style.visibility</p:attrName>
                                        </p:attrNameLst>
                                      </p:cBhvr>
                                      <p:to>
                                        <p:strVal val="visible"/>
                                      </p:to>
                                    </p:set>
                                    <p:animEffect transition="in" filter="fade">
                                      <p:cBhvr>
                                        <p:cTn id="157" dur="600"/>
                                        <p:tgtEl>
                                          <p:spTgt spid="35"/>
                                        </p:tgtEl>
                                      </p:cBhvr>
                                    </p:animEffect>
                                  </p:childTnLst>
                                </p:cTn>
                              </p:par>
                              <p:par>
                                <p:cTn id="161" presetID="10" presetClass="entr" presetSubtype="0" grpId="0" fill="hold" nodeType="withEffect">
                                  <p:stCondLst>
                                    <p:cond delay="500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600"/>
                                        <p:tgtEl>
                                          <p:spTgt spid="36"/>
                                        </p:tgtEl>
                                      </p:cBhvr>
                                    </p:animEffect>
                                  </p:childTnLst>
                                </p:cTn>
                              </p:par>
                              <p:par>
                                <p:cTn id="164" presetID="10" presetClass="entr" presetSubtype="0" grpId="0" fill="hold" nodeType="withEffect">
                                  <p:stCondLst>
                                    <p:cond delay="5000"/>
                                  </p:stCondLst>
                                  <p:childTnLst>
                                    <p:set>
                                      <p:cBhvr>
                                        <p:cTn id="162" dur="1" fill="hold">
                                          <p:stCondLst>
                                            <p:cond delay="0"/>
                                          </p:stCondLst>
                                        </p:cTn>
                                        <p:tgtEl>
                                          <p:spTgt spid="37"/>
                                        </p:tgtEl>
                                        <p:attrNameLst>
                                          <p:attrName>style.visibility</p:attrName>
                                        </p:attrNameLst>
                                      </p:cBhvr>
                                      <p:to>
                                        <p:strVal val="visible"/>
                                      </p:to>
                                    </p:set>
                                    <p:animEffect transition="in" filter="fade">
                                      <p:cBhvr>
                                        <p:cTn id="163" dur="600"/>
                                        <p:tgtEl>
                                          <p:spTgt spid="37"/>
                                        </p:tgtEl>
                                      </p:cBhvr>
                                    </p:animEffect>
                                  </p:childTnLst>
                                </p:cTn>
                              </p:par>
                              <p:par>
                                <p:cTn id="167" presetID="10" presetClass="entr" presetSubtype="0" grpId="0" fill="hold" nodeType="withEffect">
                                  <p:stCondLst>
                                    <p:cond delay="5000"/>
                                  </p:stCondLst>
                                  <p:childTnLst>
                                    <p:set>
                                      <p:cBhvr>
                                        <p:cTn id="165" dur="1" fill="hold">
                                          <p:stCondLst>
                                            <p:cond delay="0"/>
                                          </p:stCondLst>
                                        </p:cTn>
                                        <p:tgtEl>
                                          <p:spTgt spid="38"/>
                                        </p:tgtEl>
                                        <p:attrNameLst>
                                          <p:attrName>style.visibility</p:attrName>
                                        </p:attrNameLst>
                                      </p:cBhvr>
                                      <p:to>
                                        <p:strVal val="visible"/>
                                      </p:to>
                                    </p:set>
                                    <p:animEffect transition="in" filter="fade">
                                      <p:cBhvr>
                                        <p:cTn id="166" dur="600"/>
                                        <p:tgtEl>
                                          <p:spTgt spid="38"/>
                                        </p:tgtEl>
                                      </p:cBhvr>
                                    </p:animEffect>
                                  </p:childTnLst>
                                </p:cTn>
                              </p:par>
                              <p:par>
                                <p:cTn id="170" presetID="10" presetClass="entr" presetSubtype="0" grpId="0" fill="hold" nodeType="withEffect">
                                  <p:stCondLst>
                                    <p:cond delay="5000"/>
                                  </p:stCondLst>
                                  <p:childTnLst>
                                    <p:set>
                                      <p:cBhvr>
                                        <p:cTn id="168" dur="1" fill="hold">
                                          <p:stCondLst>
                                            <p:cond delay="0"/>
                                          </p:stCondLst>
                                        </p:cTn>
                                        <p:tgtEl>
                                          <p:spTgt spid="39"/>
                                        </p:tgtEl>
                                        <p:attrNameLst>
                                          <p:attrName>style.visibility</p:attrName>
                                        </p:attrNameLst>
                                      </p:cBhvr>
                                      <p:to>
                                        <p:strVal val="visible"/>
                                      </p:to>
                                    </p:set>
                                    <p:animEffect transition="in" filter="fade">
                                      <p:cBhvr>
                                        <p:cTn id="169"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23" grpId="1"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C94A10"/>
                </a:solidFill>
              </a:rPr>
              <a:t>MAPPED TO THE FIVE COACHING CALIBRATION FOCUS AREAS</a:t>
            </a:r>
            <a:endParaRPr lang="en-US" sz="1200" dirty="0"/>
          </a:p>
        </p:txBody>
      </p:sp>
      <p:sp>
        <p:nvSpPr>
          <p:cNvPr id="3" name="Text 0"/>
          <p:cNvSpPr/>
          <p:nvPr>
            <p:ph idx="100" type="title" hasCustomPrompt="1"/>
          </p:nvPr>
        </p:nvSpPr>
        <p:spPr>
          <a:xfrm>
            <a:off x="548640" y="74980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How I prepare and coach, two behaviors at a time</a:t>
            </a:r>
            <a:endParaRPr lang="en-US" sz="3200" dirty="0"/>
          </a:p>
        </p:txBody>
      </p:sp>
      <p:sp>
        <p:nvSpPr>
          <p:cNvPr id="4" name="Focus area 1 card"/>
          <p:cNvSpPr/>
          <p:nvPr/>
        </p:nvSpPr>
        <p:spPr>
          <a:xfrm>
            <a:off x="548640" y="1691640"/>
            <a:ext cx="2036003" cy="3154680"/>
          </a:xfrm>
          <a:prstGeom prst="roundRect">
            <a:avLst>
              <a:gd name="adj" fmla="val 6737"/>
            </a:avLst>
          </a:prstGeom>
          <a:solidFill>
            <a:srgbClr val="F6F3EE"/>
          </a:solidFill>
          <a:ln/>
        </p:spPr>
      </p:sp>
      <p:sp>
        <p:nvSpPr>
          <p:cNvPr id="5" name="Icon circle"/>
          <p:cNvSpPr/>
          <p:nvPr/>
        </p:nvSpPr>
        <p:spPr>
          <a:xfrm>
            <a:off x="731520" y="1874520"/>
            <a:ext cx="457200" cy="457200"/>
          </a:xfrm>
          <a:prstGeom prst="ellipse">
            <a:avLst/>
          </a:prstGeom>
          <a:solidFill>
            <a:srgbClr val="FDE9DF"/>
          </a:solidFill>
          <a:ln/>
        </p:spPr>
      </p:sp>
      <p:pic>
        <p:nvPicPr>
          <p:cNvPr id="6" name="Icon" descr="preencoded.png">    </p:cNvPr>
          <p:cNvPicPr>
            <a:picLocks noChangeAspect="1"/>
          </p:cNvPicPr>
          <p:nvPr/>
        </p:nvPicPr>
        <p:blipFill>
          <a:blip r:embed="rId1"/>
          <a:stretch>
            <a:fillRect/>
          </a:stretch>
        </p:blipFill>
        <p:spPr>
          <a:xfrm>
            <a:off x="841248" y="1984248"/>
            <a:ext cx="237744" cy="237744"/>
          </a:xfrm>
          <a:prstGeom prst="rect">
            <a:avLst/>
          </a:prstGeom>
        </p:spPr>
      </p:pic>
      <p:sp>
        <p:nvSpPr>
          <p:cNvPr id="7" name="Step number"/>
          <p:cNvSpPr txBox="1"/>
          <p:nvPr/>
        </p:nvSpPr>
        <p:spPr>
          <a:xfrm>
            <a:off x="2036003" y="1874520"/>
            <a:ext cx="365760" cy="457200"/>
          </a:xfrm>
          <a:prstGeom prst="rect">
            <a:avLst/>
          </a:prstGeom>
          <a:noFill/>
          <a:ln/>
        </p:spPr>
        <p:txBody>
          <a:bodyPr wrap="square" lIns="0" tIns="0" rIns="0" bIns="0" rtlCol="0" anchor="ctr"/>
          <a:lstStyle/>
          <a:p>
            <a:pPr algn="r" indent="0" marL="0">
              <a:buNone/>
            </a:pPr>
            <a:r>
              <a:rPr lang="en-US" sz="2600" b="1" dirty="0">
                <a:solidFill>
                  <a:srgbClr val="F26522"/>
                </a:solidFill>
              </a:rPr>
              <a:t>1</a:t>
            </a:r>
            <a:endParaRPr lang="en-US" sz="2600" dirty="0"/>
          </a:p>
        </p:txBody>
      </p:sp>
      <p:sp>
        <p:nvSpPr>
          <p:cNvPr id="8" name="Focus area title"/>
          <p:cNvSpPr txBox="1"/>
          <p:nvPr/>
        </p:nvSpPr>
        <p:spPr>
          <a:xfrm>
            <a:off x="731520" y="2441448"/>
            <a:ext cx="1670243" cy="457200"/>
          </a:xfrm>
          <a:prstGeom prst="rect">
            <a:avLst/>
          </a:prstGeom>
          <a:noFill/>
          <a:ln/>
        </p:spPr>
        <p:txBody>
          <a:bodyPr wrap="square" lIns="0" tIns="0" rIns="0" bIns="0" rtlCol="0" anchor="t"/>
          <a:lstStyle/>
          <a:p>
            <a:pPr indent="0" marL="0">
              <a:buNone/>
            </a:pPr>
            <a:r>
              <a:rPr lang="en-US" sz="1400" b="1" dirty="0">
                <a:solidFill>
                  <a:srgbClr val="121826"/>
                </a:solidFill>
              </a:rPr>
              <a:t>Preparation and data</a:t>
            </a:r>
            <a:endParaRPr lang="en-US" sz="1400" dirty="0"/>
          </a:p>
        </p:txBody>
      </p:sp>
      <p:sp>
        <p:nvSpPr>
          <p:cNvPr id="9" name="Focus area list"/>
          <p:cNvSpPr txBox="1"/>
          <p:nvPr/>
        </p:nvSpPr>
        <p:spPr>
          <a:xfrm>
            <a:off x="731520" y="2935224"/>
            <a:ext cx="1715963" cy="18288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3D4453"/>
                </a:solidFill>
              </a:rPr>
              <a:t>Tableau, Power BI and i3 before every session</a:t>
            </a:r>
            <a:endParaRPr lang="en-US" sz="1150" dirty="0"/>
          </a:p>
          <a:p>
            <a:pPr marL="177800" indent="-177800">
              <a:spcAft>
                <a:spcPts val="400"/>
              </a:spcAft>
              <a:buSzPct val="100000"/>
              <a:buChar char="•"/>
            </a:pPr>
            <a:r>
              <a:rPr lang="en-US" sz="1150" dirty="0">
                <a:solidFill>
                  <a:srgbClr val="3D4453"/>
                </a:solidFill>
              </a:rPr>
              <a:t>Pick the one KPI gap</a:t>
            </a:r>
            <a:endParaRPr lang="en-US" sz="1150" dirty="0"/>
          </a:p>
          <a:p>
            <a:pPr marL="177800" indent="-177800">
              <a:spcAft>
                <a:spcPts val="400"/>
              </a:spcAft>
              <a:buSzPct val="100000"/>
              <a:buChar char="•"/>
            </a:pPr>
            <a:r>
              <a:rPr lang="en-US" sz="1150" dirty="0">
                <a:solidFill>
                  <a:srgbClr val="3D4453"/>
                </a:solidFill>
              </a:rPr>
              <a:t>Listen to 2 to 4 calls per agent</a:t>
            </a:r>
            <a:endParaRPr lang="en-US" sz="1150" dirty="0"/>
          </a:p>
          <a:p>
            <a:pPr marL="177800" indent="-177800">
              <a:spcAft>
                <a:spcPts val="400"/>
              </a:spcAft>
              <a:buSzPct val="100000"/>
              <a:buChar char="•"/>
            </a:pPr>
            <a:r>
              <a:rPr lang="en-US" sz="1150" dirty="0">
                <a:solidFill>
                  <a:srgbClr val="3D4453"/>
                </a:solidFill>
              </a:rPr>
              <a:t>Self-check with my Coaching Intelligence toolkit</a:t>
            </a:r>
            <a:endParaRPr lang="en-US" sz="1150" dirty="0"/>
          </a:p>
        </p:txBody>
      </p:sp>
      <p:sp>
        <p:nvSpPr>
          <p:cNvPr id="10" name="Ammar example 1"/>
          <p:cNvSpPr/>
          <p:nvPr/>
        </p:nvSpPr>
        <p:spPr>
          <a:xfrm>
            <a:off x="548640" y="5376672"/>
            <a:ext cx="2036003" cy="749808"/>
          </a:xfrm>
          <a:prstGeom prst="roundRect">
            <a:avLst>
              <a:gd name="adj" fmla="val 18293"/>
            </a:avLst>
          </a:prstGeom>
          <a:solidFill>
            <a:srgbClr val="121826"/>
          </a:solidFill>
          <a:ln/>
        </p:spPr>
      </p:sp>
      <p:sp>
        <p:nvSpPr>
          <p:cNvPr id="11" name="Paragraph"/>
          <p:cNvSpPr txBox="1"/>
          <p:nvPr/>
        </p:nvSpPr>
        <p:spPr>
          <a:xfrm>
            <a:off x="731520" y="5449824"/>
            <a:ext cx="1670243" cy="603504"/>
          </a:xfrm>
          <a:prstGeom prst="rect">
            <a:avLst/>
          </a:prstGeom>
          <a:noFill/>
          <a:ln/>
        </p:spPr>
        <p:txBody>
          <a:bodyPr wrap="square" lIns="0" tIns="0" rIns="0" bIns="0" rtlCol="0" anchor="ctr"/>
          <a:lstStyle/>
          <a:p>
            <a:pPr indent="0" marL="0">
              <a:buNone/>
            </a:pPr>
            <a:r>
              <a:rPr lang="en-US" sz="1150" dirty="0">
                <a:solidFill>
                  <a:srgbClr val="FFFFFF"/>
                </a:solidFill>
              </a:rPr>
              <a:t>tNPS 33.3 last week, up from −66.7 the week before</a:t>
            </a:r>
            <a:endParaRPr lang="en-US" sz="1150" dirty="0"/>
          </a:p>
        </p:txBody>
      </p:sp>
      <p:sp>
        <p:nvSpPr>
          <p:cNvPr id="12" name="Focus area 2 card"/>
          <p:cNvSpPr/>
          <p:nvPr/>
        </p:nvSpPr>
        <p:spPr>
          <a:xfrm>
            <a:off x="2813243" y="1691640"/>
            <a:ext cx="2036003" cy="3154680"/>
          </a:xfrm>
          <a:prstGeom prst="roundRect">
            <a:avLst>
              <a:gd name="adj" fmla="val 6737"/>
            </a:avLst>
          </a:prstGeom>
          <a:solidFill>
            <a:srgbClr val="F6F3EE"/>
          </a:solidFill>
          <a:ln/>
        </p:spPr>
      </p:sp>
      <p:sp>
        <p:nvSpPr>
          <p:cNvPr id="13" name="Icon circle"/>
          <p:cNvSpPr/>
          <p:nvPr/>
        </p:nvSpPr>
        <p:spPr>
          <a:xfrm>
            <a:off x="2996123" y="1874520"/>
            <a:ext cx="457200" cy="457200"/>
          </a:xfrm>
          <a:prstGeom prst="ellipse">
            <a:avLst/>
          </a:prstGeom>
          <a:solidFill>
            <a:srgbClr val="FDE9DF"/>
          </a:solidFill>
          <a:ln/>
        </p:spPr>
      </p:sp>
      <p:pic>
        <p:nvPicPr>
          <p:cNvPr id="14" name="Icon" descr="preencoded.png">    </p:cNvPr>
          <p:cNvPicPr>
            <a:picLocks noChangeAspect="1"/>
          </p:cNvPicPr>
          <p:nvPr/>
        </p:nvPicPr>
        <p:blipFill>
          <a:blip r:embed="rId2"/>
          <a:stretch>
            <a:fillRect/>
          </a:stretch>
        </p:blipFill>
        <p:spPr>
          <a:xfrm>
            <a:off x="3105851" y="1984248"/>
            <a:ext cx="237744" cy="237744"/>
          </a:xfrm>
          <a:prstGeom prst="rect">
            <a:avLst/>
          </a:prstGeom>
        </p:spPr>
      </p:pic>
      <p:sp>
        <p:nvSpPr>
          <p:cNvPr id="15" name="Step number"/>
          <p:cNvSpPr txBox="1"/>
          <p:nvPr/>
        </p:nvSpPr>
        <p:spPr>
          <a:xfrm>
            <a:off x="4300606" y="1874520"/>
            <a:ext cx="365760" cy="457200"/>
          </a:xfrm>
          <a:prstGeom prst="rect">
            <a:avLst/>
          </a:prstGeom>
          <a:noFill/>
          <a:ln/>
        </p:spPr>
        <p:txBody>
          <a:bodyPr wrap="square" lIns="0" tIns="0" rIns="0" bIns="0" rtlCol="0" anchor="ctr"/>
          <a:lstStyle/>
          <a:p>
            <a:pPr algn="r" indent="0" marL="0">
              <a:buNone/>
            </a:pPr>
            <a:r>
              <a:rPr lang="en-US" sz="2600" b="1" dirty="0">
                <a:solidFill>
                  <a:srgbClr val="F26522"/>
                </a:solidFill>
              </a:rPr>
              <a:t>2</a:t>
            </a:r>
            <a:endParaRPr lang="en-US" sz="2600" dirty="0"/>
          </a:p>
        </p:txBody>
      </p:sp>
      <p:sp>
        <p:nvSpPr>
          <p:cNvPr id="16" name="Focus area title"/>
          <p:cNvSpPr txBox="1"/>
          <p:nvPr/>
        </p:nvSpPr>
        <p:spPr>
          <a:xfrm>
            <a:off x="2996123" y="2441448"/>
            <a:ext cx="1670243" cy="457200"/>
          </a:xfrm>
          <a:prstGeom prst="rect">
            <a:avLst/>
          </a:prstGeom>
          <a:noFill/>
          <a:ln/>
        </p:spPr>
        <p:txBody>
          <a:bodyPr wrap="square" lIns="0" tIns="0" rIns="0" bIns="0" rtlCol="0" anchor="t"/>
          <a:lstStyle/>
          <a:p>
            <a:pPr indent="0" marL="0">
              <a:buNone/>
            </a:pPr>
            <a:r>
              <a:rPr lang="en-US" sz="1400" b="1" dirty="0">
                <a:solidFill>
                  <a:srgbClr val="121826"/>
                </a:solidFill>
              </a:rPr>
              <a:t>Root cause, not symptoms</a:t>
            </a:r>
            <a:endParaRPr lang="en-US" sz="1400" dirty="0"/>
          </a:p>
        </p:txBody>
      </p:sp>
      <p:sp>
        <p:nvSpPr>
          <p:cNvPr id="17" name="Focus area list"/>
          <p:cNvSpPr txBox="1"/>
          <p:nvPr/>
        </p:nvSpPr>
        <p:spPr>
          <a:xfrm>
            <a:off x="2996123" y="2935224"/>
            <a:ext cx="1715963" cy="18288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3D4453"/>
                </a:solidFill>
              </a:rPr>
              <a:t>“What was going through your mind at that moment?”</a:t>
            </a:r>
            <a:endParaRPr lang="en-US" sz="1150" dirty="0"/>
          </a:p>
          <a:p>
            <a:pPr marL="177800" indent="-177800">
              <a:spcAft>
                <a:spcPts val="400"/>
              </a:spcAft>
              <a:buSzPct val="100000"/>
              <a:buChar char="•"/>
            </a:pPr>
            <a:r>
              <a:rPr lang="en-US" sz="1150" dirty="0">
                <a:solidFill>
                  <a:srgbClr val="3D4453"/>
                </a:solidFill>
              </a:rPr>
              <a:t>Knowledge or skill, or will</a:t>
            </a:r>
            <a:endParaRPr lang="en-US" sz="1150" dirty="0"/>
          </a:p>
          <a:p>
            <a:pPr marL="177800" indent="-177800">
              <a:spcAft>
                <a:spcPts val="400"/>
              </a:spcAft>
              <a:buSzPct val="100000"/>
              <a:buChar char="•"/>
            </a:pPr>
            <a:r>
              <a:rPr lang="en-US" sz="1150" dirty="0">
                <a:solidFill>
                  <a:srgbClr val="3D4453"/>
                </a:solidFill>
              </a:rPr>
              <a:t>Found here: assurance, empathy, acknowledgement, rapport, tone of voice, unexplained mute and silence</a:t>
            </a:r>
            <a:endParaRPr lang="en-US" sz="1150" dirty="0"/>
          </a:p>
        </p:txBody>
      </p:sp>
      <p:sp>
        <p:nvSpPr>
          <p:cNvPr id="18" name="Ammar example 2"/>
          <p:cNvSpPr/>
          <p:nvPr/>
        </p:nvSpPr>
        <p:spPr>
          <a:xfrm>
            <a:off x="2813243" y="5376672"/>
            <a:ext cx="2036003" cy="749808"/>
          </a:xfrm>
          <a:prstGeom prst="roundRect">
            <a:avLst>
              <a:gd name="adj" fmla="val 18293"/>
            </a:avLst>
          </a:prstGeom>
          <a:solidFill>
            <a:srgbClr val="121826"/>
          </a:solidFill>
          <a:ln/>
        </p:spPr>
      </p:sp>
      <p:sp>
        <p:nvSpPr>
          <p:cNvPr id="19" name="Paragraph"/>
          <p:cNvSpPr txBox="1"/>
          <p:nvPr/>
        </p:nvSpPr>
        <p:spPr>
          <a:xfrm>
            <a:off x="2996123" y="5449824"/>
            <a:ext cx="1670243" cy="603504"/>
          </a:xfrm>
          <a:prstGeom prst="rect">
            <a:avLst/>
          </a:prstGeom>
          <a:noFill/>
          <a:ln/>
        </p:spPr>
        <p:txBody>
          <a:bodyPr wrap="square" lIns="0" tIns="0" rIns="0" bIns="0" rtlCol="0" anchor="ctr"/>
          <a:lstStyle/>
          <a:p>
            <a:pPr indent="0" marL="0">
              <a:buNone/>
            </a:pPr>
            <a:r>
              <a:rPr lang="en-US" sz="1150" dirty="0">
                <a:solidFill>
                  <a:srgbClr val="FFFFFF"/>
                </a:solidFill>
              </a:rPr>
              <a:t>Not knowledge: assurance, empathy, rapport, tone and unexplained mute</a:t>
            </a:r>
            <a:endParaRPr lang="en-US" sz="1150" dirty="0"/>
          </a:p>
        </p:txBody>
      </p:sp>
      <p:sp>
        <p:nvSpPr>
          <p:cNvPr id="20" name="Focus area 3 card"/>
          <p:cNvSpPr/>
          <p:nvPr/>
        </p:nvSpPr>
        <p:spPr>
          <a:xfrm>
            <a:off x="5077846" y="1691640"/>
            <a:ext cx="2036003" cy="3154680"/>
          </a:xfrm>
          <a:prstGeom prst="roundRect">
            <a:avLst>
              <a:gd name="adj" fmla="val 6737"/>
            </a:avLst>
          </a:prstGeom>
          <a:solidFill>
            <a:srgbClr val="F6F3EE"/>
          </a:solidFill>
          <a:ln/>
        </p:spPr>
      </p:sp>
      <p:sp>
        <p:nvSpPr>
          <p:cNvPr id="21" name="Icon circle"/>
          <p:cNvSpPr/>
          <p:nvPr/>
        </p:nvSpPr>
        <p:spPr>
          <a:xfrm>
            <a:off x="5260726" y="1874520"/>
            <a:ext cx="457200" cy="457200"/>
          </a:xfrm>
          <a:prstGeom prst="ellipse">
            <a:avLst/>
          </a:prstGeom>
          <a:solidFill>
            <a:srgbClr val="FDE9DF"/>
          </a:solidFill>
          <a:ln/>
        </p:spPr>
      </p:sp>
      <p:pic>
        <p:nvPicPr>
          <p:cNvPr id="22" name="Icon" descr="preencoded.png">    </p:cNvPr>
          <p:cNvPicPr>
            <a:picLocks noChangeAspect="1"/>
          </p:cNvPicPr>
          <p:nvPr/>
        </p:nvPicPr>
        <p:blipFill>
          <a:blip r:embed="rId3"/>
          <a:stretch>
            <a:fillRect/>
          </a:stretch>
        </p:blipFill>
        <p:spPr>
          <a:xfrm>
            <a:off x="5370454" y="1984248"/>
            <a:ext cx="237744" cy="237744"/>
          </a:xfrm>
          <a:prstGeom prst="rect">
            <a:avLst/>
          </a:prstGeom>
        </p:spPr>
      </p:pic>
      <p:sp>
        <p:nvSpPr>
          <p:cNvPr id="23" name="Step number"/>
          <p:cNvSpPr txBox="1"/>
          <p:nvPr/>
        </p:nvSpPr>
        <p:spPr>
          <a:xfrm>
            <a:off x="6565209" y="1874520"/>
            <a:ext cx="365760" cy="457200"/>
          </a:xfrm>
          <a:prstGeom prst="rect">
            <a:avLst/>
          </a:prstGeom>
          <a:noFill/>
          <a:ln/>
        </p:spPr>
        <p:txBody>
          <a:bodyPr wrap="square" lIns="0" tIns="0" rIns="0" bIns="0" rtlCol="0" anchor="ctr"/>
          <a:lstStyle/>
          <a:p>
            <a:pPr algn="r" indent="0" marL="0">
              <a:buNone/>
            </a:pPr>
            <a:r>
              <a:rPr lang="en-US" sz="2600" b="1" dirty="0">
                <a:solidFill>
                  <a:srgbClr val="F26522"/>
                </a:solidFill>
              </a:rPr>
              <a:t>3</a:t>
            </a:r>
            <a:endParaRPr lang="en-US" sz="2600" dirty="0"/>
          </a:p>
        </p:txBody>
      </p:sp>
      <p:sp>
        <p:nvSpPr>
          <p:cNvPr id="24" name="Focus area title"/>
          <p:cNvSpPr txBox="1"/>
          <p:nvPr/>
        </p:nvSpPr>
        <p:spPr>
          <a:xfrm>
            <a:off x="5260726" y="2441448"/>
            <a:ext cx="1670243" cy="457200"/>
          </a:xfrm>
          <a:prstGeom prst="rect">
            <a:avLst/>
          </a:prstGeom>
          <a:noFill/>
          <a:ln/>
        </p:spPr>
        <p:txBody>
          <a:bodyPr wrap="square" lIns="0" tIns="0" rIns="0" bIns="0" rtlCol="0" anchor="t"/>
          <a:lstStyle/>
          <a:p>
            <a:pPr indent="0" marL="0">
              <a:buNone/>
            </a:pPr>
            <a:r>
              <a:rPr lang="en-US" sz="1400" b="1" dirty="0">
                <a:solidFill>
                  <a:srgbClr val="121826"/>
                </a:solidFill>
              </a:rPr>
              <a:t>Techniques and questions</a:t>
            </a:r>
            <a:endParaRPr lang="en-US" sz="1400" dirty="0"/>
          </a:p>
        </p:txBody>
      </p:sp>
      <p:sp>
        <p:nvSpPr>
          <p:cNvPr id="25" name="Focus area list"/>
          <p:cNvSpPr txBox="1"/>
          <p:nvPr/>
        </p:nvSpPr>
        <p:spPr>
          <a:xfrm>
            <a:off x="5260726" y="2935224"/>
            <a:ext cx="1715963" cy="18288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3D4453"/>
                </a:solidFill>
              </a:rPr>
              <a:t>Open questions first</a:t>
            </a:r>
            <a:endParaRPr lang="en-US" sz="1150" dirty="0"/>
          </a:p>
          <a:p>
            <a:pPr marL="177800" indent="-177800">
              <a:spcAft>
                <a:spcPts val="400"/>
              </a:spcAft>
              <a:buSzPct val="100000"/>
              <a:buChar char="•"/>
            </a:pPr>
            <a:r>
              <a:rPr lang="en-US" sz="1150" dirty="0">
                <a:solidFill>
                  <a:srgbClr val="3D4453"/>
                </a:solidFill>
              </a:rPr>
              <a:t>The agent states the gap in their own words</a:t>
            </a:r>
            <a:endParaRPr lang="en-US" sz="1150" dirty="0"/>
          </a:p>
          <a:p>
            <a:pPr marL="177800" indent="-177800">
              <a:spcAft>
                <a:spcPts val="400"/>
              </a:spcAft>
              <a:buSzPct val="100000"/>
              <a:buChar char="•"/>
            </a:pPr>
            <a:r>
              <a:rPr lang="en-US" sz="1150" dirty="0">
                <a:solidFill>
                  <a:srgbClr val="3D4453"/>
                </a:solidFill>
              </a:rPr>
              <a:t>I model the behavior</a:t>
            </a:r>
            <a:endParaRPr lang="en-US" sz="1150" dirty="0"/>
          </a:p>
          <a:p>
            <a:pPr marL="177800" indent="-177800">
              <a:spcAft>
                <a:spcPts val="400"/>
              </a:spcAft>
              <a:buSzPct val="100000"/>
              <a:buChar char="•"/>
            </a:pPr>
            <a:r>
              <a:rPr lang="en-US" sz="1150" dirty="0">
                <a:solidFill>
                  <a:srgbClr val="3D4453"/>
                </a:solidFill>
              </a:rPr>
              <a:t>Role play it</a:t>
            </a:r>
            <a:endParaRPr lang="en-US" sz="1150" dirty="0"/>
          </a:p>
        </p:txBody>
      </p:sp>
      <p:sp>
        <p:nvSpPr>
          <p:cNvPr id="26" name="Ammar example 3"/>
          <p:cNvSpPr/>
          <p:nvPr/>
        </p:nvSpPr>
        <p:spPr>
          <a:xfrm>
            <a:off x="5077846" y="5376672"/>
            <a:ext cx="2036003" cy="749808"/>
          </a:xfrm>
          <a:prstGeom prst="roundRect">
            <a:avLst>
              <a:gd name="adj" fmla="val 18293"/>
            </a:avLst>
          </a:prstGeom>
          <a:solidFill>
            <a:srgbClr val="121826"/>
          </a:solidFill>
          <a:ln/>
        </p:spPr>
      </p:sp>
      <p:sp>
        <p:nvSpPr>
          <p:cNvPr id="27" name="Paragraph"/>
          <p:cNvSpPr txBox="1"/>
          <p:nvPr/>
        </p:nvSpPr>
        <p:spPr>
          <a:xfrm>
            <a:off x="5260726" y="5449824"/>
            <a:ext cx="1670243" cy="603504"/>
          </a:xfrm>
          <a:prstGeom prst="rect">
            <a:avLst/>
          </a:prstGeom>
          <a:noFill/>
          <a:ln/>
        </p:spPr>
        <p:txBody>
          <a:bodyPr wrap="square" lIns="0" tIns="0" rIns="0" bIns="0" rtlCol="0" anchor="ctr"/>
          <a:lstStyle/>
          <a:p>
            <a:pPr indent="0" marL="0">
              <a:buNone/>
            </a:pPr>
            <a:r>
              <a:rPr lang="en-US" sz="1150" dirty="0">
                <a:solidFill>
                  <a:srgbClr val="FFFFFF"/>
                </a:solidFill>
              </a:rPr>
              <a:t>He names the gap in his own words, then we role play it</a:t>
            </a:r>
            <a:endParaRPr lang="en-US" sz="1150" dirty="0"/>
          </a:p>
        </p:txBody>
      </p:sp>
      <p:sp>
        <p:nvSpPr>
          <p:cNvPr id="28" name="Focus area 4 card"/>
          <p:cNvSpPr/>
          <p:nvPr/>
        </p:nvSpPr>
        <p:spPr>
          <a:xfrm>
            <a:off x="7342449" y="1691640"/>
            <a:ext cx="2036003" cy="3154680"/>
          </a:xfrm>
          <a:prstGeom prst="roundRect">
            <a:avLst>
              <a:gd name="adj" fmla="val 6737"/>
            </a:avLst>
          </a:prstGeom>
          <a:solidFill>
            <a:srgbClr val="F6F3EE"/>
          </a:solidFill>
          <a:ln/>
        </p:spPr>
      </p:sp>
      <p:sp>
        <p:nvSpPr>
          <p:cNvPr id="29" name="Icon circle"/>
          <p:cNvSpPr/>
          <p:nvPr/>
        </p:nvSpPr>
        <p:spPr>
          <a:xfrm>
            <a:off x="7525329" y="1874520"/>
            <a:ext cx="457200" cy="457200"/>
          </a:xfrm>
          <a:prstGeom prst="ellipse">
            <a:avLst/>
          </a:prstGeom>
          <a:solidFill>
            <a:srgbClr val="FDE9DF"/>
          </a:solidFill>
          <a:ln/>
        </p:spPr>
      </p:sp>
      <p:pic>
        <p:nvPicPr>
          <p:cNvPr id="30" name="Icon" descr="preencoded.png">    </p:cNvPr>
          <p:cNvPicPr>
            <a:picLocks noChangeAspect="1"/>
          </p:cNvPicPr>
          <p:nvPr/>
        </p:nvPicPr>
        <p:blipFill>
          <a:blip r:embed="rId4"/>
          <a:stretch>
            <a:fillRect/>
          </a:stretch>
        </p:blipFill>
        <p:spPr>
          <a:xfrm>
            <a:off x="7635057" y="1984248"/>
            <a:ext cx="237744" cy="237744"/>
          </a:xfrm>
          <a:prstGeom prst="rect">
            <a:avLst/>
          </a:prstGeom>
        </p:spPr>
      </p:pic>
      <p:sp>
        <p:nvSpPr>
          <p:cNvPr id="31" name="Step number"/>
          <p:cNvSpPr txBox="1"/>
          <p:nvPr/>
        </p:nvSpPr>
        <p:spPr>
          <a:xfrm>
            <a:off x="8829812" y="1874520"/>
            <a:ext cx="365760" cy="457200"/>
          </a:xfrm>
          <a:prstGeom prst="rect">
            <a:avLst/>
          </a:prstGeom>
          <a:noFill/>
          <a:ln/>
        </p:spPr>
        <p:txBody>
          <a:bodyPr wrap="square" lIns="0" tIns="0" rIns="0" bIns="0" rtlCol="0" anchor="ctr"/>
          <a:lstStyle/>
          <a:p>
            <a:pPr algn="r" indent="0" marL="0">
              <a:buNone/>
            </a:pPr>
            <a:r>
              <a:rPr lang="en-US" sz="2600" b="1" dirty="0">
                <a:solidFill>
                  <a:srgbClr val="F26522"/>
                </a:solidFill>
              </a:rPr>
              <a:t>4</a:t>
            </a:r>
            <a:endParaRPr lang="en-US" sz="2600" dirty="0"/>
          </a:p>
        </p:txBody>
      </p:sp>
      <p:sp>
        <p:nvSpPr>
          <p:cNvPr id="32" name="Focus area title"/>
          <p:cNvSpPr txBox="1"/>
          <p:nvPr/>
        </p:nvSpPr>
        <p:spPr>
          <a:xfrm>
            <a:off x="7525329" y="2441448"/>
            <a:ext cx="1670243" cy="457200"/>
          </a:xfrm>
          <a:prstGeom prst="rect">
            <a:avLst/>
          </a:prstGeom>
          <a:noFill/>
          <a:ln/>
        </p:spPr>
        <p:txBody>
          <a:bodyPr wrap="square" lIns="0" tIns="0" rIns="0" bIns="0" rtlCol="0" anchor="t"/>
          <a:lstStyle/>
          <a:p>
            <a:pPr indent="0" marL="0">
              <a:buNone/>
            </a:pPr>
            <a:r>
              <a:rPr lang="en-US" sz="1400" b="1" dirty="0">
                <a:solidFill>
                  <a:srgbClr val="121826"/>
                </a:solidFill>
              </a:rPr>
              <a:t>Clear, measurable plan</a:t>
            </a:r>
            <a:endParaRPr lang="en-US" sz="1400" dirty="0"/>
          </a:p>
        </p:txBody>
      </p:sp>
      <p:sp>
        <p:nvSpPr>
          <p:cNvPr id="33" name="Focus area list"/>
          <p:cNvSpPr txBox="1"/>
          <p:nvPr/>
        </p:nvSpPr>
        <p:spPr>
          <a:xfrm>
            <a:off x="7525329" y="2935224"/>
            <a:ext cx="1715963" cy="18288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3D4453"/>
                </a:solidFill>
              </a:rPr>
              <a:t>One or two behaviors per session, never more</a:t>
            </a:r>
            <a:endParaRPr lang="en-US" sz="1150" dirty="0"/>
          </a:p>
          <a:p>
            <a:pPr marL="177800" indent="-177800">
              <a:spcAft>
                <a:spcPts val="400"/>
              </a:spcAft>
              <a:buSzPct val="100000"/>
              <a:buChar char="•"/>
            </a:pPr>
            <a:r>
              <a:rPr lang="en-US" sz="1150" dirty="0">
                <a:solidFill>
                  <a:srgbClr val="3D4453"/>
                </a:solidFill>
              </a:rPr>
              <a:t>A KPI target with the surveys behind it</a:t>
            </a:r>
            <a:endParaRPr lang="en-US" sz="1150" dirty="0"/>
          </a:p>
          <a:p>
            <a:pPr marL="177800" indent="-177800">
              <a:spcAft>
                <a:spcPts val="400"/>
              </a:spcAft>
              <a:buSzPct val="100000"/>
              <a:buChar char="•"/>
            </a:pPr>
            <a:r>
              <a:rPr lang="en-US" sz="1150" dirty="0">
                <a:solidFill>
                  <a:srgbClr val="3D4453"/>
                </a:solidFill>
              </a:rPr>
              <a:t>A follow-up date on every plan</a:t>
            </a:r>
            <a:endParaRPr lang="en-US" sz="1150" dirty="0"/>
          </a:p>
        </p:txBody>
      </p:sp>
      <p:sp>
        <p:nvSpPr>
          <p:cNvPr id="34" name="Ammar example 4"/>
          <p:cNvSpPr/>
          <p:nvPr/>
        </p:nvSpPr>
        <p:spPr>
          <a:xfrm>
            <a:off x="7342449" y="5376672"/>
            <a:ext cx="2036003" cy="749808"/>
          </a:xfrm>
          <a:prstGeom prst="roundRect">
            <a:avLst>
              <a:gd name="adj" fmla="val 18293"/>
            </a:avLst>
          </a:prstGeom>
          <a:solidFill>
            <a:srgbClr val="121826"/>
          </a:solidFill>
          <a:ln/>
        </p:spPr>
      </p:sp>
      <p:sp>
        <p:nvSpPr>
          <p:cNvPr id="35" name="Paragraph"/>
          <p:cNvSpPr txBox="1"/>
          <p:nvPr/>
        </p:nvSpPr>
        <p:spPr>
          <a:xfrm>
            <a:off x="7525329" y="5449824"/>
            <a:ext cx="1670243" cy="603504"/>
          </a:xfrm>
          <a:prstGeom prst="rect">
            <a:avLst/>
          </a:prstGeom>
          <a:noFill/>
          <a:ln/>
        </p:spPr>
        <p:txBody>
          <a:bodyPr wrap="square" lIns="0" tIns="0" rIns="0" bIns="0" rtlCol="0" anchor="ctr"/>
          <a:lstStyle/>
          <a:p>
            <a:pPr indent="0" marL="0">
              <a:buNone/>
            </a:pPr>
            <a:r>
              <a:rPr lang="en-US" sz="1150" dirty="0">
                <a:solidFill>
                  <a:srgbClr val="FFFFFF"/>
                </a:solidFill>
              </a:rPr>
              <a:t>Two at a time: acknowledgement and empathy first</a:t>
            </a:r>
            <a:endParaRPr lang="en-US" sz="1150" dirty="0"/>
          </a:p>
        </p:txBody>
      </p:sp>
      <p:sp>
        <p:nvSpPr>
          <p:cNvPr id="36" name="Focus area 5 card"/>
          <p:cNvSpPr/>
          <p:nvPr/>
        </p:nvSpPr>
        <p:spPr>
          <a:xfrm>
            <a:off x="9607052" y="1691640"/>
            <a:ext cx="2036003" cy="3154680"/>
          </a:xfrm>
          <a:prstGeom prst="roundRect">
            <a:avLst>
              <a:gd name="adj" fmla="val 6737"/>
            </a:avLst>
          </a:prstGeom>
          <a:solidFill>
            <a:srgbClr val="F6F3EE"/>
          </a:solidFill>
          <a:ln/>
        </p:spPr>
      </p:sp>
      <p:sp>
        <p:nvSpPr>
          <p:cNvPr id="37" name="Icon circle"/>
          <p:cNvSpPr/>
          <p:nvPr/>
        </p:nvSpPr>
        <p:spPr>
          <a:xfrm>
            <a:off x="9789932" y="1874520"/>
            <a:ext cx="457200" cy="457200"/>
          </a:xfrm>
          <a:prstGeom prst="ellipse">
            <a:avLst/>
          </a:prstGeom>
          <a:solidFill>
            <a:srgbClr val="FDE9DF"/>
          </a:solidFill>
          <a:ln/>
        </p:spPr>
      </p:sp>
      <p:pic>
        <p:nvPicPr>
          <p:cNvPr id="38" name="Icon" descr="preencoded.png">    </p:cNvPr>
          <p:cNvPicPr>
            <a:picLocks noChangeAspect="1"/>
          </p:cNvPicPr>
          <p:nvPr/>
        </p:nvPicPr>
        <p:blipFill>
          <a:blip r:embed="rId5"/>
          <a:stretch>
            <a:fillRect/>
          </a:stretch>
        </p:blipFill>
        <p:spPr>
          <a:xfrm>
            <a:off x="9899660" y="1984248"/>
            <a:ext cx="237744" cy="237744"/>
          </a:xfrm>
          <a:prstGeom prst="rect">
            <a:avLst/>
          </a:prstGeom>
        </p:spPr>
      </p:pic>
      <p:sp>
        <p:nvSpPr>
          <p:cNvPr id="39" name="Step number"/>
          <p:cNvSpPr txBox="1"/>
          <p:nvPr/>
        </p:nvSpPr>
        <p:spPr>
          <a:xfrm>
            <a:off x="11094415" y="1874520"/>
            <a:ext cx="365760" cy="457200"/>
          </a:xfrm>
          <a:prstGeom prst="rect">
            <a:avLst/>
          </a:prstGeom>
          <a:noFill/>
          <a:ln/>
        </p:spPr>
        <p:txBody>
          <a:bodyPr wrap="square" lIns="0" tIns="0" rIns="0" bIns="0" rtlCol="0" anchor="ctr"/>
          <a:lstStyle/>
          <a:p>
            <a:pPr algn="r" indent="0" marL="0">
              <a:buNone/>
            </a:pPr>
            <a:r>
              <a:rPr lang="en-US" sz="2600" b="1" dirty="0">
                <a:solidFill>
                  <a:srgbClr val="F26522"/>
                </a:solidFill>
              </a:rPr>
              <a:t>5</a:t>
            </a:r>
            <a:endParaRPr lang="en-US" sz="2600" dirty="0"/>
          </a:p>
        </p:txBody>
      </p:sp>
      <p:sp>
        <p:nvSpPr>
          <p:cNvPr id="40" name="Focus area title"/>
          <p:cNvSpPr txBox="1"/>
          <p:nvPr/>
        </p:nvSpPr>
        <p:spPr>
          <a:xfrm>
            <a:off x="9789932" y="2441448"/>
            <a:ext cx="1670243" cy="457200"/>
          </a:xfrm>
          <a:prstGeom prst="rect">
            <a:avLst/>
          </a:prstGeom>
          <a:noFill/>
          <a:ln/>
        </p:spPr>
        <p:txBody>
          <a:bodyPr wrap="square" lIns="0" tIns="0" rIns="0" bIns="0" rtlCol="0" anchor="t"/>
          <a:lstStyle/>
          <a:p>
            <a:pPr indent="0" marL="0">
              <a:buNone/>
            </a:pPr>
            <a:r>
              <a:rPr lang="en-US" sz="1400" b="1" dirty="0">
                <a:solidFill>
                  <a:srgbClr val="121826"/>
                </a:solidFill>
              </a:rPr>
              <a:t>Best practice and consistency</a:t>
            </a:r>
            <a:endParaRPr lang="en-US" sz="1400" dirty="0"/>
          </a:p>
        </p:txBody>
      </p:sp>
      <p:sp>
        <p:nvSpPr>
          <p:cNvPr id="41" name="Focus area list"/>
          <p:cNvSpPr txBox="1"/>
          <p:nvPr/>
        </p:nvSpPr>
        <p:spPr>
          <a:xfrm>
            <a:off x="9789932" y="2935224"/>
            <a:ext cx="1715963" cy="18288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rgbClr val="3D4453"/>
                </a:solidFill>
              </a:rPr>
              <a:t>Weekly session, 15 to 30 minutes</a:t>
            </a:r>
            <a:endParaRPr lang="en-US" sz="1150" dirty="0"/>
          </a:p>
          <a:p>
            <a:pPr marL="177800" indent="-177800">
              <a:spcAft>
                <a:spcPts val="400"/>
              </a:spcAft>
              <a:buSzPct val="100000"/>
              <a:buChar char="•"/>
            </a:pPr>
            <a:r>
              <a:rPr lang="en-US" sz="1150" dirty="0">
                <a:solidFill>
                  <a:srgbClr val="3D4453"/>
                </a:solidFill>
              </a:rPr>
              <a:t>Follow-up by listening to calls</a:t>
            </a:r>
            <a:endParaRPr lang="en-US" sz="1150" dirty="0"/>
          </a:p>
          <a:p>
            <a:pPr marL="177800" indent="-177800">
              <a:spcAft>
                <a:spcPts val="400"/>
              </a:spcAft>
              <a:buSzPct val="100000"/>
              <a:buChar char="•"/>
            </a:pPr>
            <a:r>
              <a:rPr lang="en-US" sz="1150" dirty="0">
                <a:solidFill>
                  <a:srgbClr val="3D4453"/>
                </a:solidFill>
              </a:rPr>
              <a:t>Weekly huddle on the most-missed behavior</a:t>
            </a:r>
            <a:endParaRPr lang="en-US" sz="1150" dirty="0"/>
          </a:p>
          <a:p>
            <a:pPr marL="177800" indent="-177800">
              <a:spcAft>
                <a:spcPts val="400"/>
              </a:spcAft>
              <a:buSzPct val="100000"/>
              <a:buChar char="•"/>
            </a:pPr>
            <a:r>
              <a:rPr lang="en-US" sz="1150" dirty="0">
                <a:solidFill>
                  <a:srgbClr val="3D4453"/>
                </a:solidFill>
              </a:rPr>
              <a:t>Calibration pack every week</a:t>
            </a:r>
            <a:endParaRPr lang="en-US" sz="1150" dirty="0"/>
          </a:p>
        </p:txBody>
      </p:sp>
      <p:sp>
        <p:nvSpPr>
          <p:cNvPr id="42" name="Ammar example 5"/>
          <p:cNvSpPr/>
          <p:nvPr/>
        </p:nvSpPr>
        <p:spPr>
          <a:xfrm>
            <a:off x="9607052" y="5376672"/>
            <a:ext cx="2036003" cy="749808"/>
          </a:xfrm>
          <a:prstGeom prst="roundRect">
            <a:avLst>
              <a:gd name="adj" fmla="val 18293"/>
            </a:avLst>
          </a:prstGeom>
          <a:solidFill>
            <a:srgbClr val="121826"/>
          </a:solidFill>
          <a:ln/>
        </p:spPr>
      </p:sp>
      <p:sp>
        <p:nvSpPr>
          <p:cNvPr id="43" name="Paragraph"/>
          <p:cNvSpPr txBox="1"/>
          <p:nvPr/>
        </p:nvSpPr>
        <p:spPr>
          <a:xfrm>
            <a:off x="9789932" y="5449824"/>
            <a:ext cx="1670243" cy="603504"/>
          </a:xfrm>
          <a:prstGeom prst="rect">
            <a:avLst/>
          </a:prstGeom>
          <a:noFill/>
          <a:ln/>
        </p:spPr>
        <p:txBody>
          <a:bodyPr wrap="square" lIns="0" tIns="0" rIns="0" bIns="0" rtlCol="0" anchor="ctr"/>
          <a:lstStyle/>
          <a:p>
            <a:pPr indent="0" marL="0">
              <a:buNone/>
            </a:pPr>
            <a:r>
              <a:rPr lang="en-US" sz="1150" dirty="0">
                <a:solidFill>
                  <a:srgbClr val="FFFFFF"/>
                </a:solidFill>
              </a:rPr>
              <a:t>2 calls a week, side by side, every week</a:t>
            </a:r>
            <a:endParaRPr lang="en-US" sz="1150" dirty="0"/>
          </a:p>
        </p:txBody>
      </p:sp>
      <p:sp>
        <p:nvSpPr>
          <p:cNvPr id="44" name="Example label"/>
          <p:cNvSpPr txBox="1"/>
          <p:nvPr/>
        </p:nvSpPr>
        <p:spPr>
          <a:xfrm>
            <a:off x="548640" y="4992624"/>
            <a:ext cx="11094415" cy="274320"/>
          </a:xfrm>
          <a:prstGeom prst="rect">
            <a:avLst/>
          </a:prstGeom>
          <a:noFill/>
          <a:ln/>
        </p:spPr>
        <p:txBody>
          <a:bodyPr wrap="square" lIns="0" tIns="0" rIns="0" bIns="0" rtlCol="0" anchor="ctr"/>
          <a:lstStyle/>
          <a:p>
            <a:pPr indent="0" marL="0">
              <a:buNone/>
            </a:pPr>
            <a:r>
              <a:rPr lang="en-US" sz="1250" b="1" dirty="0">
                <a:solidFill>
                  <a:srgbClr val="C94A10"/>
                </a:solidFill>
              </a:rPr>
              <a:t>Live example: </a:t>
            </a:r>
            <a:pPr indent="0" marL="0">
              <a:buNone/>
            </a:pPr>
            <a:r>
              <a:rPr lang="en-US" sz="1250" b="1" dirty="0">
                <a:solidFill>
                  <a:srgbClr val="121826"/>
                </a:solidFill>
              </a:rPr>
              <a:t>Mohammed Ammar, the same five steps on one agent</a:t>
            </a:r>
            <a:endParaRPr lang="en-US" sz="1250" dirty="0"/>
          </a:p>
        </p:txBody>
      </p:sp>
      <p:sp>
        <p:nvSpPr>
          <p:cNvPr id="4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gallery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219" fill="hold">
                      <p:stCondLst>
                        <p:cond delay="indefinite"/>
                        <p:cond evt="onBegin" delay="0">
                          <p:tn val="2"/>
                        </p:cond>
                      </p:stCondLst>
                      <p:childTnLst>
                        <p:par>
                          <p:cTn id="220" fill="hold">
                            <p:stCondLst>
                              <p:cond delay="0"/>
                            </p:stCondLst>
                            <p:childTnLst>
                              <p:par>
                                <p:cTn id="5" presetID="22" presetClass="entr" presetSubtype="8" grpId="0" fill="hold"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550"/>
                                        <p:tgtEl>
                                          <p:spTgt spid="2"/>
                                        </p:tgtEl>
                                      </p:cBhvr>
                                    </p:animEffect>
                                  </p:childTnLst>
                                </p:cTn>
                              </p:par>
                              <p:par>
                                <p:cTn id="10" presetID="42" presetClass="entr" presetSubtype="0" grpId="0" fill="hold" nodeType="with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750"/>
                                        <p:tgtEl>
                                          <p:spTgt spid="3"/>
                                        </p:tgtEl>
                                      </p:cBhvr>
                                    </p:animEffect>
                                    <p:anim calcmode="lin" valueType="num">
                                      <p:cBhvr>
                                        <p:cTn id="8" dur="750" decel="100000" fill="hold"/>
                                        <p:tgtEl>
                                          <p:spTgt spid="3"/>
                                        </p:tgtEl>
                                        <p:attrNameLst>
                                          <p:attrName>ppt_x</p:attrName>
                                        </p:attrNameLst>
                                      </p:cBhvr>
                                      <p:tavLst>
                                        <p:tav tm="0">
                                          <p:val>
                                            <p:strVal val="#ppt_x"/>
                                          </p:val>
                                        </p:tav>
                                        <p:tav tm="100000">
                                          <p:val>
                                            <p:strVal val="#ppt_x"/>
                                          </p:val>
                                        </p:tav>
                                      </p:tavLst>
                                    </p:anim>
                                    <p:anim calcmode="lin" valueType="num">
                                      <p:cBhvr>
                                        <p:cTn id="9" dur="750" decel="100000" fill="hold"/>
                                        <p:tgtEl>
                                          <p:spTgt spid="3"/>
                                        </p:tgtEl>
                                        <p:attrNameLst>
                                          <p:attrName>ppt_y</p:attrName>
                                        </p:attrNameLst>
                                      </p:cBhvr>
                                      <p:tavLst>
                                        <p:tav tm="0">
                                          <p:val>
                                            <p:strVal val="#ppt_y+.08"/>
                                          </p:val>
                                        </p:tav>
                                        <p:tav tm="100000">
                                          <p:val>
                                            <p:strVal val="#ppt_y"/>
                                          </p:val>
                                        </p:tav>
                                      </p:tavLst>
                                    </p:anim>
                                  </p:childTnLst>
                                </p:cTn>
                              </p:par>
                              <p:par>
                                <p:cTn id="15" presetID="42" presetClass="entr" presetSubtype="0" grpId="0" fill="hold" nodeType="withEffect">
                                  <p:stCondLst>
                                    <p:cond delay="60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750"/>
                                        <p:tgtEl>
                                          <p:spTgt spid="4"/>
                                        </p:tgtEl>
                                      </p:cBhvr>
                                    </p:animEffect>
                                    <p:anim calcmode="lin" valueType="num">
                                      <p:cBhvr>
                                        <p:cTn id="13" dur="750" decel="100000" fill="hold"/>
                                        <p:tgtEl>
                                          <p:spTgt spid="4"/>
                                        </p:tgtEl>
                                        <p:attrNameLst>
                                          <p:attrName>ppt_x</p:attrName>
                                        </p:attrNameLst>
                                      </p:cBhvr>
                                      <p:tavLst>
                                        <p:tav tm="0">
                                          <p:val>
                                            <p:strVal val="#ppt_x"/>
                                          </p:val>
                                        </p:tav>
                                        <p:tav tm="100000">
                                          <p:val>
                                            <p:strVal val="#ppt_x"/>
                                          </p:val>
                                        </p:tav>
                                      </p:tavLst>
                                    </p:anim>
                                    <p:anim calcmode="lin" valueType="num">
                                      <p:cBhvr>
                                        <p:cTn id="14" dur="750" decel="100000" fill="hold"/>
                                        <p:tgtEl>
                                          <p:spTgt spid="4"/>
                                        </p:tgtEl>
                                        <p:attrNameLst>
                                          <p:attrName>ppt_y</p:attrName>
                                        </p:attrNameLst>
                                      </p:cBhvr>
                                      <p:tavLst>
                                        <p:tav tm="0">
                                          <p:val>
                                            <p:strVal val="#ppt_y+.08"/>
                                          </p:val>
                                        </p:tav>
                                        <p:tav tm="100000">
                                          <p:val>
                                            <p:strVal val="#ppt_y"/>
                                          </p:val>
                                        </p:tav>
                                      </p:tavLst>
                                    </p:anim>
                                  </p:childTnLst>
                                </p:cTn>
                              </p:par>
                              <p:par>
                                <p:cTn id="20" presetID="42" presetClass="entr" presetSubtype="0" grpId="0" fill="hold" nodeType="withEffect">
                                  <p:stCondLst>
                                    <p:cond delay="60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50"/>
                                        <p:tgtEl>
                                          <p:spTgt spid="5"/>
                                        </p:tgtEl>
                                      </p:cBhvr>
                                    </p:animEffect>
                                    <p:anim calcmode="lin" valueType="num">
                                      <p:cBhvr>
                                        <p:cTn id="18" dur="750" decel="100000" fill="hold"/>
                                        <p:tgtEl>
                                          <p:spTgt spid="5"/>
                                        </p:tgtEl>
                                        <p:attrNameLst>
                                          <p:attrName>ppt_x</p:attrName>
                                        </p:attrNameLst>
                                      </p:cBhvr>
                                      <p:tavLst>
                                        <p:tav tm="0">
                                          <p:val>
                                            <p:strVal val="#ppt_x"/>
                                          </p:val>
                                        </p:tav>
                                        <p:tav tm="100000">
                                          <p:val>
                                            <p:strVal val="#ppt_x"/>
                                          </p:val>
                                        </p:tav>
                                      </p:tavLst>
                                    </p:anim>
                                    <p:anim calcmode="lin" valueType="num">
                                      <p:cBhvr>
                                        <p:cTn id="19" dur="750" decel="100000" fill="hold"/>
                                        <p:tgtEl>
                                          <p:spTgt spid="5"/>
                                        </p:tgtEl>
                                        <p:attrNameLst>
                                          <p:attrName>ppt_y</p:attrName>
                                        </p:attrNameLst>
                                      </p:cBhvr>
                                      <p:tavLst>
                                        <p:tav tm="0">
                                          <p:val>
                                            <p:strVal val="#ppt_y+.08"/>
                                          </p:val>
                                        </p:tav>
                                        <p:tav tm="100000">
                                          <p:val>
                                            <p:strVal val="#ppt_y"/>
                                          </p:val>
                                        </p:tav>
                                      </p:tavLst>
                                    </p:anim>
                                  </p:childTnLst>
                                </p:cTn>
                              </p:par>
                              <p:par>
                                <p:cTn id="25" presetID="42" presetClass="entr" presetSubtype="0" grpId="0" fill="hold" nodeType="withEffect">
                                  <p:stCondLst>
                                    <p:cond delay="6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50"/>
                                        <p:tgtEl>
                                          <p:spTgt spid="6"/>
                                        </p:tgtEl>
                                      </p:cBhvr>
                                    </p:animEffect>
                                    <p:anim calcmode="lin" valueType="num">
                                      <p:cBhvr>
                                        <p:cTn id="23" dur="750" decel="100000" fill="hold"/>
                                        <p:tgtEl>
                                          <p:spTgt spid="6"/>
                                        </p:tgtEl>
                                        <p:attrNameLst>
                                          <p:attrName>ppt_x</p:attrName>
                                        </p:attrNameLst>
                                      </p:cBhvr>
                                      <p:tavLst>
                                        <p:tav tm="0">
                                          <p:val>
                                            <p:strVal val="#ppt_x"/>
                                          </p:val>
                                        </p:tav>
                                        <p:tav tm="100000">
                                          <p:val>
                                            <p:strVal val="#ppt_x"/>
                                          </p:val>
                                        </p:tav>
                                      </p:tavLst>
                                    </p:anim>
                                    <p:anim calcmode="lin" valueType="num">
                                      <p:cBhvr>
                                        <p:cTn id="24" dur="750" decel="100000" fill="hold"/>
                                        <p:tgtEl>
                                          <p:spTgt spid="6"/>
                                        </p:tgtEl>
                                        <p:attrNameLst>
                                          <p:attrName>ppt_y</p:attrName>
                                        </p:attrNameLst>
                                      </p:cBhvr>
                                      <p:tavLst>
                                        <p:tav tm="0">
                                          <p:val>
                                            <p:strVal val="#ppt_y+.08"/>
                                          </p:val>
                                        </p:tav>
                                        <p:tav tm="100000">
                                          <p:val>
                                            <p:strVal val="#ppt_y"/>
                                          </p:val>
                                        </p:tav>
                                      </p:tavLst>
                                    </p:anim>
                                  </p:childTnLst>
                                </p:cTn>
                              </p:par>
                              <p:par>
                                <p:cTn id="30" presetID="42" presetClass="entr" presetSubtype="0" grpId="0" fill="hold" nodeType="withEffect">
                                  <p:stCondLst>
                                    <p:cond delay="60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750"/>
                                        <p:tgtEl>
                                          <p:spTgt spid="7"/>
                                        </p:tgtEl>
                                      </p:cBhvr>
                                    </p:animEffect>
                                    <p:anim calcmode="lin" valueType="num">
                                      <p:cBhvr>
                                        <p:cTn id="28" dur="750" decel="100000" fill="hold"/>
                                        <p:tgtEl>
                                          <p:spTgt spid="7"/>
                                        </p:tgtEl>
                                        <p:attrNameLst>
                                          <p:attrName>ppt_x</p:attrName>
                                        </p:attrNameLst>
                                      </p:cBhvr>
                                      <p:tavLst>
                                        <p:tav tm="0">
                                          <p:val>
                                            <p:strVal val="#ppt_x"/>
                                          </p:val>
                                        </p:tav>
                                        <p:tav tm="100000">
                                          <p:val>
                                            <p:strVal val="#ppt_x"/>
                                          </p:val>
                                        </p:tav>
                                      </p:tavLst>
                                    </p:anim>
                                    <p:anim calcmode="lin" valueType="num">
                                      <p:cBhvr>
                                        <p:cTn id="29" dur="750" decel="100000" fill="hold"/>
                                        <p:tgtEl>
                                          <p:spTgt spid="7"/>
                                        </p:tgtEl>
                                        <p:attrNameLst>
                                          <p:attrName>ppt_y</p:attrName>
                                        </p:attrNameLst>
                                      </p:cBhvr>
                                      <p:tavLst>
                                        <p:tav tm="0">
                                          <p:val>
                                            <p:strVal val="#ppt_y+.08"/>
                                          </p:val>
                                        </p:tav>
                                        <p:tav tm="100000">
                                          <p:val>
                                            <p:strVal val="#ppt_y"/>
                                          </p:val>
                                        </p:tav>
                                      </p:tavLst>
                                    </p:anim>
                                  </p:childTnLst>
                                </p:cTn>
                              </p:par>
                              <p:par>
                                <p:cTn id="35" presetID="42" presetClass="entr" presetSubtype="0" grpId="0" fill="hold" nodeType="withEffect">
                                  <p:stCondLst>
                                    <p:cond delay="60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750"/>
                                        <p:tgtEl>
                                          <p:spTgt spid="8"/>
                                        </p:tgtEl>
                                      </p:cBhvr>
                                    </p:animEffect>
                                    <p:anim calcmode="lin" valueType="num">
                                      <p:cBhvr>
                                        <p:cTn id="33" dur="750" decel="100000" fill="hold"/>
                                        <p:tgtEl>
                                          <p:spTgt spid="8"/>
                                        </p:tgtEl>
                                        <p:attrNameLst>
                                          <p:attrName>ppt_x</p:attrName>
                                        </p:attrNameLst>
                                      </p:cBhvr>
                                      <p:tavLst>
                                        <p:tav tm="0">
                                          <p:val>
                                            <p:strVal val="#ppt_x"/>
                                          </p:val>
                                        </p:tav>
                                        <p:tav tm="100000">
                                          <p:val>
                                            <p:strVal val="#ppt_x"/>
                                          </p:val>
                                        </p:tav>
                                      </p:tavLst>
                                    </p:anim>
                                    <p:anim calcmode="lin" valueType="num">
                                      <p:cBhvr>
                                        <p:cTn id="34" dur="750" decel="100000" fill="hold"/>
                                        <p:tgtEl>
                                          <p:spTgt spid="8"/>
                                        </p:tgtEl>
                                        <p:attrNameLst>
                                          <p:attrName>ppt_y</p:attrName>
                                        </p:attrNameLst>
                                      </p:cBhvr>
                                      <p:tavLst>
                                        <p:tav tm="0">
                                          <p:val>
                                            <p:strVal val="#ppt_y+.08"/>
                                          </p:val>
                                        </p:tav>
                                        <p:tav tm="100000">
                                          <p:val>
                                            <p:strVal val="#ppt_y"/>
                                          </p:val>
                                        </p:tav>
                                      </p:tavLst>
                                    </p:anim>
                                  </p:childTnLst>
                                </p:cTn>
                              </p:par>
                              <p:par>
                                <p:cTn id="40" presetID="42" presetClass="entr" presetSubtype="0" grpId="0" fill="hold" nodeType="withEffect">
                                  <p:stCondLst>
                                    <p:cond delay="60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750"/>
                                        <p:tgtEl>
                                          <p:spTgt spid="9"/>
                                        </p:tgtEl>
                                      </p:cBhvr>
                                    </p:animEffect>
                                    <p:anim calcmode="lin" valueType="num">
                                      <p:cBhvr>
                                        <p:cTn id="38" dur="750" decel="100000" fill="hold"/>
                                        <p:tgtEl>
                                          <p:spTgt spid="9"/>
                                        </p:tgtEl>
                                        <p:attrNameLst>
                                          <p:attrName>ppt_x</p:attrName>
                                        </p:attrNameLst>
                                      </p:cBhvr>
                                      <p:tavLst>
                                        <p:tav tm="0">
                                          <p:val>
                                            <p:strVal val="#ppt_x"/>
                                          </p:val>
                                        </p:tav>
                                        <p:tav tm="100000">
                                          <p:val>
                                            <p:strVal val="#ppt_x"/>
                                          </p:val>
                                        </p:tav>
                                      </p:tavLst>
                                    </p:anim>
                                    <p:anim calcmode="lin" valueType="num">
                                      <p:cBhvr>
                                        <p:cTn id="39" dur="750" decel="100000" fill="hold"/>
                                        <p:tgtEl>
                                          <p:spTgt spid="9"/>
                                        </p:tgtEl>
                                        <p:attrNameLst>
                                          <p:attrName>ppt_y</p:attrName>
                                        </p:attrNameLst>
                                      </p:cBhvr>
                                      <p:tavLst>
                                        <p:tav tm="0">
                                          <p:val>
                                            <p:strVal val="#ppt_y+.08"/>
                                          </p:val>
                                        </p:tav>
                                        <p:tav tm="100000">
                                          <p:val>
                                            <p:strVal val="#ppt_y"/>
                                          </p:val>
                                        </p:tav>
                                      </p:tavLst>
                                    </p:anim>
                                  </p:childTnLst>
                                </p:cTn>
                              </p:par>
                              <p:par>
                                <p:cTn id="45" presetID="42" presetClass="entr" presetSubtype="0" grpId="0" fill="hold" nodeType="withEffect">
                                  <p:stCondLst>
                                    <p:cond delay="78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750"/>
                                        <p:tgtEl>
                                          <p:spTgt spid="12"/>
                                        </p:tgtEl>
                                      </p:cBhvr>
                                    </p:animEffect>
                                    <p:anim calcmode="lin" valueType="num">
                                      <p:cBhvr>
                                        <p:cTn id="43" dur="750" decel="100000" fill="hold"/>
                                        <p:tgtEl>
                                          <p:spTgt spid="12"/>
                                        </p:tgtEl>
                                        <p:attrNameLst>
                                          <p:attrName>ppt_x</p:attrName>
                                        </p:attrNameLst>
                                      </p:cBhvr>
                                      <p:tavLst>
                                        <p:tav tm="0">
                                          <p:val>
                                            <p:strVal val="#ppt_x"/>
                                          </p:val>
                                        </p:tav>
                                        <p:tav tm="100000">
                                          <p:val>
                                            <p:strVal val="#ppt_x"/>
                                          </p:val>
                                        </p:tav>
                                      </p:tavLst>
                                    </p:anim>
                                    <p:anim calcmode="lin" valueType="num">
                                      <p:cBhvr>
                                        <p:cTn id="44" dur="750" decel="100000" fill="hold"/>
                                        <p:tgtEl>
                                          <p:spTgt spid="12"/>
                                        </p:tgtEl>
                                        <p:attrNameLst>
                                          <p:attrName>ppt_y</p:attrName>
                                        </p:attrNameLst>
                                      </p:cBhvr>
                                      <p:tavLst>
                                        <p:tav tm="0">
                                          <p:val>
                                            <p:strVal val="#ppt_y+.08"/>
                                          </p:val>
                                        </p:tav>
                                        <p:tav tm="100000">
                                          <p:val>
                                            <p:strVal val="#ppt_y"/>
                                          </p:val>
                                        </p:tav>
                                      </p:tavLst>
                                    </p:anim>
                                  </p:childTnLst>
                                </p:cTn>
                              </p:par>
                              <p:par>
                                <p:cTn id="50" presetID="42" presetClass="entr" presetSubtype="0" grpId="0" fill="hold" nodeType="withEffect">
                                  <p:stCondLst>
                                    <p:cond delay="78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750"/>
                                        <p:tgtEl>
                                          <p:spTgt spid="13"/>
                                        </p:tgtEl>
                                      </p:cBhvr>
                                    </p:animEffect>
                                    <p:anim calcmode="lin" valueType="num">
                                      <p:cBhvr>
                                        <p:cTn id="48" dur="750" decel="100000" fill="hold"/>
                                        <p:tgtEl>
                                          <p:spTgt spid="13"/>
                                        </p:tgtEl>
                                        <p:attrNameLst>
                                          <p:attrName>ppt_x</p:attrName>
                                        </p:attrNameLst>
                                      </p:cBhvr>
                                      <p:tavLst>
                                        <p:tav tm="0">
                                          <p:val>
                                            <p:strVal val="#ppt_x"/>
                                          </p:val>
                                        </p:tav>
                                        <p:tav tm="100000">
                                          <p:val>
                                            <p:strVal val="#ppt_x"/>
                                          </p:val>
                                        </p:tav>
                                      </p:tavLst>
                                    </p:anim>
                                    <p:anim calcmode="lin" valueType="num">
                                      <p:cBhvr>
                                        <p:cTn id="49" dur="750" decel="100000" fill="hold"/>
                                        <p:tgtEl>
                                          <p:spTgt spid="13"/>
                                        </p:tgtEl>
                                        <p:attrNameLst>
                                          <p:attrName>ppt_y</p:attrName>
                                        </p:attrNameLst>
                                      </p:cBhvr>
                                      <p:tavLst>
                                        <p:tav tm="0">
                                          <p:val>
                                            <p:strVal val="#ppt_y+.08"/>
                                          </p:val>
                                        </p:tav>
                                        <p:tav tm="100000">
                                          <p:val>
                                            <p:strVal val="#ppt_y"/>
                                          </p:val>
                                        </p:tav>
                                      </p:tavLst>
                                    </p:anim>
                                  </p:childTnLst>
                                </p:cTn>
                              </p:par>
                              <p:par>
                                <p:cTn id="55" presetID="42" presetClass="entr" presetSubtype="0" grpId="0" fill="hold" nodeType="withEffect">
                                  <p:stCondLst>
                                    <p:cond delay="78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750"/>
                                        <p:tgtEl>
                                          <p:spTgt spid="14"/>
                                        </p:tgtEl>
                                      </p:cBhvr>
                                    </p:animEffect>
                                    <p:anim calcmode="lin" valueType="num">
                                      <p:cBhvr>
                                        <p:cTn id="53" dur="750" decel="100000" fill="hold"/>
                                        <p:tgtEl>
                                          <p:spTgt spid="14"/>
                                        </p:tgtEl>
                                        <p:attrNameLst>
                                          <p:attrName>ppt_x</p:attrName>
                                        </p:attrNameLst>
                                      </p:cBhvr>
                                      <p:tavLst>
                                        <p:tav tm="0">
                                          <p:val>
                                            <p:strVal val="#ppt_x"/>
                                          </p:val>
                                        </p:tav>
                                        <p:tav tm="100000">
                                          <p:val>
                                            <p:strVal val="#ppt_x"/>
                                          </p:val>
                                        </p:tav>
                                      </p:tavLst>
                                    </p:anim>
                                    <p:anim calcmode="lin" valueType="num">
                                      <p:cBhvr>
                                        <p:cTn id="54" dur="750" decel="100000" fill="hold"/>
                                        <p:tgtEl>
                                          <p:spTgt spid="14"/>
                                        </p:tgtEl>
                                        <p:attrNameLst>
                                          <p:attrName>ppt_y</p:attrName>
                                        </p:attrNameLst>
                                      </p:cBhvr>
                                      <p:tavLst>
                                        <p:tav tm="0">
                                          <p:val>
                                            <p:strVal val="#ppt_y+.08"/>
                                          </p:val>
                                        </p:tav>
                                        <p:tav tm="100000">
                                          <p:val>
                                            <p:strVal val="#ppt_y"/>
                                          </p:val>
                                        </p:tav>
                                      </p:tavLst>
                                    </p:anim>
                                  </p:childTnLst>
                                </p:cTn>
                              </p:par>
                              <p:par>
                                <p:cTn id="60" presetID="42" presetClass="entr" presetSubtype="0" grpId="0" fill="hold" nodeType="withEffect">
                                  <p:stCondLst>
                                    <p:cond delay="780"/>
                                  </p:stCondLst>
                                  <p:childTnLst>
                                    <p:set>
                                      <p:cBhvr>
                                        <p:cTn id="56" dur="1" fill="hold">
                                          <p:stCondLst>
                                            <p:cond delay="0"/>
                                          </p:stCondLst>
                                        </p:cTn>
                                        <p:tgtEl>
                                          <p:spTgt spid="15"/>
                                        </p:tgtEl>
                                        <p:attrNameLst>
                                          <p:attrName>style.visibility</p:attrName>
                                        </p:attrNameLst>
                                      </p:cBhvr>
                                      <p:to>
                                        <p:strVal val="visible"/>
                                      </p:to>
                                    </p:set>
                                    <p:animEffect transition="in" filter="fade">
                                      <p:cBhvr>
                                        <p:cTn id="57" dur="750"/>
                                        <p:tgtEl>
                                          <p:spTgt spid="15"/>
                                        </p:tgtEl>
                                      </p:cBhvr>
                                    </p:animEffect>
                                    <p:anim calcmode="lin" valueType="num">
                                      <p:cBhvr>
                                        <p:cTn id="58" dur="750" decel="100000" fill="hold"/>
                                        <p:tgtEl>
                                          <p:spTgt spid="15"/>
                                        </p:tgtEl>
                                        <p:attrNameLst>
                                          <p:attrName>ppt_x</p:attrName>
                                        </p:attrNameLst>
                                      </p:cBhvr>
                                      <p:tavLst>
                                        <p:tav tm="0">
                                          <p:val>
                                            <p:strVal val="#ppt_x"/>
                                          </p:val>
                                        </p:tav>
                                        <p:tav tm="100000">
                                          <p:val>
                                            <p:strVal val="#ppt_x"/>
                                          </p:val>
                                        </p:tav>
                                      </p:tavLst>
                                    </p:anim>
                                    <p:anim calcmode="lin" valueType="num">
                                      <p:cBhvr>
                                        <p:cTn id="59" dur="750" decel="100000" fill="hold"/>
                                        <p:tgtEl>
                                          <p:spTgt spid="15"/>
                                        </p:tgtEl>
                                        <p:attrNameLst>
                                          <p:attrName>ppt_y</p:attrName>
                                        </p:attrNameLst>
                                      </p:cBhvr>
                                      <p:tavLst>
                                        <p:tav tm="0">
                                          <p:val>
                                            <p:strVal val="#ppt_y+.08"/>
                                          </p:val>
                                        </p:tav>
                                        <p:tav tm="100000">
                                          <p:val>
                                            <p:strVal val="#ppt_y"/>
                                          </p:val>
                                        </p:tav>
                                      </p:tavLst>
                                    </p:anim>
                                  </p:childTnLst>
                                </p:cTn>
                              </p:par>
                              <p:par>
                                <p:cTn id="65" presetID="42" presetClass="entr" presetSubtype="0" grpId="0" fill="hold" nodeType="withEffect">
                                  <p:stCondLst>
                                    <p:cond delay="780"/>
                                  </p:stCondLst>
                                  <p:childTnLst>
                                    <p:set>
                                      <p:cBhvr>
                                        <p:cTn id="61" dur="1" fill="hold">
                                          <p:stCondLst>
                                            <p:cond delay="0"/>
                                          </p:stCondLst>
                                        </p:cTn>
                                        <p:tgtEl>
                                          <p:spTgt spid="16"/>
                                        </p:tgtEl>
                                        <p:attrNameLst>
                                          <p:attrName>style.visibility</p:attrName>
                                        </p:attrNameLst>
                                      </p:cBhvr>
                                      <p:to>
                                        <p:strVal val="visible"/>
                                      </p:to>
                                    </p:set>
                                    <p:animEffect transition="in" filter="fade">
                                      <p:cBhvr>
                                        <p:cTn id="62" dur="750"/>
                                        <p:tgtEl>
                                          <p:spTgt spid="16"/>
                                        </p:tgtEl>
                                      </p:cBhvr>
                                    </p:animEffect>
                                    <p:anim calcmode="lin" valueType="num">
                                      <p:cBhvr>
                                        <p:cTn id="63" dur="750" decel="100000" fill="hold"/>
                                        <p:tgtEl>
                                          <p:spTgt spid="16"/>
                                        </p:tgtEl>
                                        <p:attrNameLst>
                                          <p:attrName>ppt_x</p:attrName>
                                        </p:attrNameLst>
                                      </p:cBhvr>
                                      <p:tavLst>
                                        <p:tav tm="0">
                                          <p:val>
                                            <p:strVal val="#ppt_x"/>
                                          </p:val>
                                        </p:tav>
                                        <p:tav tm="100000">
                                          <p:val>
                                            <p:strVal val="#ppt_x"/>
                                          </p:val>
                                        </p:tav>
                                      </p:tavLst>
                                    </p:anim>
                                    <p:anim calcmode="lin" valueType="num">
                                      <p:cBhvr>
                                        <p:cTn id="64" dur="750" decel="100000" fill="hold"/>
                                        <p:tgtEl>
                                          <p:spTgt spid="16"/>
                                        </p:tgtEl>
                                        <p:attrNameLst>
                                          <p:attrName>ppt_y</p:attrName>
                                        </p:attrNameLst>
                                      </p:cBhvr>
                                      <p:tavLst>
                                        <p:tav tm="0">
                                          <p:val>
                                            <p:strVal val="#ppt_y+.08"/>
                                          </p:val>
                                        </p:tav>
                                        <p:tav tm="100000">
                                          <p:val>
                                            <p:strVal val="#ppt_y"/>
                                          </p:val>
                                        </p:tav>
                                      </p:tavLst>
                                    </p:anim>
                                  </p:childTnLst>
                                </p:cTn>
                              </p:par>
                              <p:par>
                                <p:cTn id="70" presetID="42" presetClass="entr" presetSubtype="0" grpId="0" fill="hold" nodeType="withEffect">
                                  <p:stCondLst>
                                    <p:cond delay="780"/>
                                  </p:stCondLst>
                                  <p:childTnLst>
                                    <p:set>
                                      <p:cBhvr>
                                        <p:cTn id="66" dur="1" fill="hold">
                                          <p:stCondLst>
                                            <p:cond delay="0"/>
                                          </p:stCondLst>
                                        </p:cTn>
                                        <p:tgtEl>
                                          <p:spTgt spid="17"/>
                                        </p:tgtEl>
                                        <p:attrNameLst>
                                          <p:attrName>style.visibility</p:attrName>
                                        </p:attrNameLst>
                                      </p:cBhvr>
                                      <p:to>
                                        <p:strVal val="visible"/>
                                      </p:to>
                                    </p:set>
                                    <p:animEffect transition="in" filter="fade">
                                      <p:cBhvr>
                                        <p:cTn id="67" dur="750"/>
                                        <p:tgtEl>
                                          <p:spTgt spid="17"/>
                                        </p:tgtEl>
                                      </p:cBhvr>
                                    </p:animEffect>
                                    <p:anim calcmode="lin" valueType="num">
                                      <p:cBhvr>
                                        <p:cTn id="68" dur="750" decel="100000" fill="hold"/>
                                        <p:tgtEl>
                                          <p:spTgt spid="17"/>
                                        </p:tgtEl>
                                        <p:attrNameLst>
                                          <p:attrName>ppt_x</p:attrName>
                                        </p:attrNameLst>
                                      </p:cBhvr>
                                      <p:tavLst>
                                        <p:tav tm="0">
                                          <p:val>
                                            <p:strVal val="#ppt_x"/>
                                          </p:val>
                                        </p:tav>
                                        <p:tav tm="100000">
                                          <p:val>
                                            <p:strVal val="#ppt_x"/>
                                          </p:val>
                                        </p:tav>
                                      </p:tavLst>
                                    </p:anim>
                                    <p:anim calcmode="lin" valueType="num">
                                      <p:cBhvr>
                                        <p:cTn id="69" dur="750" decel="100000" fill="hold"/>
                                        <p:tgtEl>
                                          <p:spTgt spid="17"/>
                                        </p:tgtEl>
                                        <p:attrNameLst>
                                          <p:attrName>ppt_y</p:attrName>
                                        </p:attrNameLst>
                                      </p:cBhvr>
                                      <p:tavLst>
                                        <p:tav tm="0">
                                          <p:val>
                                            <p:strVal val="#ppt_y+.08"/>
                                          </p:val>
                                        </p:tav>
                                        <p:tav tm="100000">
                                          <p:val>
                                            <p:strVal val="#ppt_y"/>
                                          </p:val>
                                        </p:tav>
                                      </p:tavLst>
                                    </p:anim>
                                  </p:childTnLst>
                                </p:cTn>
                              </p:par>
                              <p:par>
                                <p:cTn id="75" presetID="42" presetClass="entr" presetSubtype="0" grpId="0" fill="hold" nodeType="withEffect">
                                  <p:stCondLst>
                                    <p:cond delay="960"/>
                                  </p:stCondLst>
                                  <p:childTnLst>
                                    <p:set>
                                      <p:cBhvr>
                                        <p:cTn id="71" dur="1" fill="hold">
                                          <p:stCondLst>
                                            <p:cond delay="0"/>
                                          </p:stCondLst>
                                        </p:cTn>
                                        <p:tgtEl>
                                          <p:spTgt spid="20"/>
                                        </p:tgtEl>
                                        <p:attrNameLst>
                                          <p:attrName>style.visibility</p:attrName>
                                        </p:attrNameLst>
                                      </p:cBhvr>
                                      <p:to>
                                        <p:strVal val="visible"/>
                                      </p:to>
                                    </p:set>
                                    <p:animEffect transition="in" filter="fade">
                                      <p:cBhvr>
                                        <p:cTn id="72" dur="750"/>
                                        <p:tgtEl>
                                          <p:spTgt spid="20"/>
                                        </p:tgtEl>
                                      </p:cBhvr>
                                    </p:animEffect>
                                    <p:anim calcmode="lin" valueType="num">
                                      <p:cBhvr>
                                        <p:cTn id="73" dur="750" decel="100000" fill="hold"/>
                                        <p:tgtEl>
                                          <p:spTgt spid="20"/>
                                        </p:tgtEl>
                                        <p:attrNameLst>
                                          <p:attrName>ppt_x</p:attrName>
                                        </p:attrNameLst>
                                      </p:cBhvr>
                                      <p:tavLst>
                                        <p:tav tm="0">
                                          <p:val>
                                            <p:strVal val="#ppt_x"/>
                                          </p:val>
                                        </p:tav>
                                        <p:tav tm="100000">
                                          <p:val>
                                            <p:strVal val="#ppt_x"/>
                                          </p:val>
                                        </p:tav>
                                      </p:tavLst>
                                    </p:anim>
                                    <p:anim calcmode="lin" valueType="num">
                                      <p:cBhvr>
                                        <p:cTn id="74" dur="750" decel="100000" fill="hold"/>
                                        <p:tgtEl>
                                          <p:spTgt spid="20"/>
                                        </p:tgtEl>
                                        <p:attrNameLst>
                                          <p:attrName>ppt_y</p:attrName>
                                        </p:attrNameLst>
                                      </p:cBhvr>
                                      <p:tavLst>
                                        <p:tav tm="0">
                                          <p:val>
                                            <p:strVal val="#ppt_y+.08"/>
                                          </p:val>
                                        </p:tav>
                                        <p:tav tm="100000">
                                          <p:val>
                                            <p:strVal val="#ppt_y"/>
                                          </p:val>
                                        </p:tav>
                                      </p:tavLst>
                                    </p:anim>
                                  </p:childTnLst>
                                </p:cTn>
                              </p:par>
                              <p:par>
                                <p:cTn id="80" presetID="42" presetClass="entr" presetSubtype="0" grpId="0" fill="hold" nodeType="withEffect">
                                  <p:stCondLst>
                                    <p:cond delay="960"/>
                                  </p:stCondLst>
                                  <p:childTnLst>
                                    <p:set>
                                      <p:cBhvr>
                                        <p:cTn id="76" dur="1" fill="hold">
                                          <p:stCondLst>
                                            <p:cond delay="0"/>
                                          </p:stCondLst>
                                        </p:cTn>
                                        <p:tgtEl>
                                          <p:spTgt spid="21"/>
                                        </p:tgtEl>
                                        <p:attrNameLst>
                                          <p:attrName>style.visibility</p:attrName>
                                        </p:attrNameLst>
                                      </p:cBhvr>
                                      <p:to>
                                        <p:strVal val="visible"/>
                                      </p:to>
                                    </p:set>
                                    <p:animEffect transition="in" filter="fade">
                                      <p:cBhvr>
                                        <p:cTn id="77" dur="750"/>
                                        <p:tgtEl>
                                          <p:spTgt spid="21"/>
                                        </p:tgtEl>
                                      </p:cBhvr>
                                    </p:animEffect>
                                    <p:anim calcmode="lin" valueType="num">
                                      <p:cBhvr>
                                        <p:cTn id="78" dur="750" decel="100000" fill="hold"/>
                                        <p:tgtEl>
                                          <p:spTgt spid="21"/>
                                        </p:tgtEl>
                                        <p:attrNameLst>
                                          <p:attrName>ppt_x</p:attrName>
                                        </p:attrNameLst>
                                      </p:cBhvr>
                                      <p:tavLst>
                                        <p:tav tm="0">
                                          <p:val>
                                            <p:strVal val="#ppt_x"/>
                                          </p:val>
                                        </p:tav>
                                        <p:tav tm="100000">
                                          <p:val>
                                            <p:strVal val="#ppt_x"/>
                                          </p:val>
                                        </p:tav>
                                      </p:tavLst>
                                    </p:anim>
                                    <p:anim calcmode="lin" valueType="num">
                                      <p:cBhvr>
                                        <p:cTn id="79" dur="750" decel="100000" fill="hold"/>
                                        <p:tgtEl>
                                          <p:spTgt spid="21"/>
                                        </p:tgtEl>
                                        <p:attrNameLst>
                                          <p:attrName>ppt_y</p:attrName>
                                        </p:attrNameLst>
                                      </p:cBhvr>
                                      <p:tavLst>
                                        <p:tav tm="0">
                                          <p:val>
                                            <p:strVal val="#ppt_y+.08"/>
                                          </p:val>
                                        </p:tav>
                                        <p:tav tm="100000">
                                          <p:val>
                                            <p:strVal val="#ppt_y"/>
                                          </p:val>
                                        </p:tav>
                                      </p:tavLst>
                                    </p:anim>
                                  </p:childTnLst>
                                </p:cTn>
                              </p:par>
                              <p:par>
                                <p:cTn id="85" presetID="42" presetClass="entr" presetSubtype="0" grpId="0" fill="hold" nodeType="withEffect">
                                  <p:stCondLst>
                                    <p:cond delay="96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750"/>
                                        <p:tgtEl>
                                          <p:spTgt spid="22"/>
                                        </p:tgtEl>
                                      </p:cBhvr>
                                    </p:animEffect>
                                    <p:anim calcmode="lin" valueType="num">
                                      <p:cBhvr>
                                        <p:cTn id="83" dur="750" decel="100000" fill="hold"/>
                                        <p:tgtEl>
                                          <p:spTgt spid="22"/>
                                        </p:tgtEl>
                                        <p:attrNameLst>
                                          <p:attrName>ppt_x</p:attrName>
                                        </p:attrNameLst>
                                      </p:cBhvr>
                                      <p:tavLst>
                                        <p:tav tm="0">
                                          <p:val>
                                            <p:strVal val="#ppt_x"/>
                                          </p:val>
                                        </p:tav>
                                        <p:tav tm="100000">
                                          <p:val>
                                            <p:strVal val="#ppt_x"/>
                                          </p:val>
                                        </p:tav>
                                      </p:tavLst>
                                    </p:anim>
                                    <p:anim calcmode="lin" valueType="num">
                                      <p:cBhvr>
                                        <p:cTn id="84" dur="750" decel="100000" fill="hold"/>
                                        <p:tgtEl>
                                          <p:spTgt spid="22"/>
                                        </p:tgtEl>
                                        <p:attrNameLst>
                                          <p:attrName>ppt_y</p:attrName>
                                        </p:attrNameLst>
                                      </p:cBhvr>
                                      <p:tavLst>
                                        <p:tav tm="0">
                                          <p:val>
                                            <p:strVal val="#ppt_y+.08"/>
                                          </p:val>
                                        </p:tav>
                                        <p:tav tm="100000">
                                          <p:val>
                                            <p:strVal val="#ppt_y"/>
                                          </p:val>
                                        </p:tav>
                                      </p:tavLst>
                                    </p:anim>
                                  </p:childTnLst>
                                </p:cTn>
                              </p:par>
                              <p:par>
                                <p:cTn id="90" presetID="42" presetClass="entr" presetSubtype="0" grpId="0" fill="hold" nodeType="withEffect">
                                  <p:stCondLst>
                                    <p:cond delay="960"/>
                                  </p:stCondLst>
                                  <p:childTnLst>
                                    <p:set>
                                      <p:cBhvr>
                                        <p:cTn id="86" dur="1" fill="hold">
                                          <p:stCondLst>
                                            <p:cond delay="0"/>
                                          </p:stCondLst>
                                        </p:cTn>
                                        <p:tgtEl>
                                          <p:spTgt spid="23"/>
                                        </p:tgtEl>
                                        <p:attrNameLst>
                                          <p:attrName>style.visibility</p:attrName>
                                        </p:attrNameLst>
                                      </p:cBhvr>
                                      <p:to>
                                        <p:strVal val="visible"/>
                                      </p:to>
                                    </p:set>
                                    <p:animEffect transition="in" filter="fade">
                                      <p:cBhvr>
                                        <p:cTn id="87" dur="750"/>
                                        <p:tgtEl>
                                          <p:spTgt spid="23"/>
                                        </p:tgtEl>
                                      </p:cBhvr>
                                    </p:animEffect>
                                    <p:anim calcmode="lin" valueType="num">
                                      <p:cBhvr>
                                        <p:cTn id="88" dur="750" decel="100000" fill="hold"/>
                                        <p:tgtEl>
                                          <p:spTgt spid="23"/>
                                        </p:tgtEl>
                                        <p:attrNameLst>
                                          <p:attrName>ppt_x</p:attrName>
                                        </p:attrNameLst>
                                      </p:cBhvr>
                                      <p:tavLst>
                                        <p:tav tm="0">
                                          <p:val>
                                            <p:strVal val="#ppt_x"/>
                                          </p:val>
                                        </p:tav>
                                        <p:tav tm="100000">
                                          <p:val>
                                            <p:strVal val="#ppt_x"/>
                                          </p:val>
                                        </p:tav>
                                      </p:tavLst>
                                    </p:anim>
                                    <p:anim calcmode="lin" valueType="num">
                                      <p:cBhvr>
                                        <p:cTn id="89" dur="750" decel="100000" fill="hold"/>
                                        <p:tgtEl>
                                          <p:spTgt spid="23"/>
                                        </p:tgtEl>
                                        <p:attrNameLst>
                                          <p:attrName>ppt_y</p:attrName>
                                        </p:attrNameLst>
                                      </p:cBhvr>
                                      <p:tavLst>
                                        <p:tav tm="0">
                                          <p:val>
                                            <p:strVal val="#ppt_y+.08"/>
                                          </p:val>
                                        </p:tav>
                                        <p:tav tm="100000">
                                          <p:val>
                                            <p:strVal val="#ppt_y"/>
                                          </p:val>
                                        </p:tav>
                                      </p:tavLst>
                                    </p:anim>
                                  </p:childTnLst>
                                </p:cTn>
                              </p:par>
                              <p:par>
                                <p:cTn id="95" presetID="42" presetClass="entr" presetSubtype="0" grpId="0" fill="hold" nodeType="withEffect">
                                  <p:stCondLst>
                                    <p:cond delay="96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750"/>
                                        <p:tgtEl>
                                          <p:spTgt spid="24"/>
                                        </p:tgtEl>
                                      </p:cBhvr>
                                    </p:animEffect>
                                    <p:anim calcmode="lin" valueType="num">
                                      <p:cBhvr>
                                        <p:cTn id="93" dur="750" decel="100000" fill="hold"/>
                                        <p:tgtEl>
                                          <p:spTgt spid="24"/>
                                        </p:tgtEl>
                                        <p:attrNameLst>
                                          <p:attrName>ppt_x</p:attrName>
                                        </p:attrNameLst>
                                      </p:cBhvr>
                                      <p:tavLst>
                                        <p:tav tm="0">
                                          <p:val>
                                            <p:strVal val="#ppt_x"/>
                                          </p:val>
                                        </p:tav>
                                        <p:tav tm="100000">
                                          <p:val>
                                            <p:strVal val="#ppt_x"/>
                                          </p:val>
                                        </p:tav>
                                      </p:tavLst>
                                    </p:anim>
                                    <p:anim calcmode="lin" valueType="num">
                                      <p:cBhvr>
                                        <p:cTn id="94" dur="750" decel="100000" fill="hold"/>
                                        <p:tgtEl>
                                          <p:spTgt spid="24"/>
                                        </p:tgtEl>
                                        <p:attrNameLst>
                                          <p:attrName>ppt_y</p:attrName>
                                        </p:attrNameLst>
                                      </p:cBhvr>
                                      <p:tavLst>
                                        <p:tav tm="0">
                                          <p:val>
                                            <p:strVal val="#ppt_y+.08"/>
                                          </p:val>
                                        </p:tav>
                                        <p:tav tm="100000">
                                          <p:val>
                                            <p:strVal val="#ppt_y"/>
                                          </p:val>
                                        </p:tav>
                                      </p:tavLst>
                                    </p:anim>
                                  </p:childTnLst>
                                </p:cTn>
                              </p:par>
                              <p:par>
                                <p:cTn id="100" presetID="42" presetClass="entr" presetSubtype="0" grpId="0" fill="hold" nodeType="withEffect">
                                  <p:stCondLst>
                                    <p:cond delay="96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750"/>
                                        <p:tgtEl>
                                          <p:spTgt spid="25"/>
                                        </p:tgtEl>
                                      </p:cBhvr>
                                    </p:animEffect>
                                    <p:anim calcmode="lin" valueType="num">
                                      <p:cBhvr>
                                        <p:cTn id="98" dur="750" decel="100000" fill="hold"/>
                                        <p:tgtEl>
                                          <p:spTgt spid="25"/>
                                        </p:tgtEl>
                                        <p:attrNameLst>
                                          <p:attrName>ppt_x</p:attrName>
                                        </p:attrNameLst>
                                      </p:cBhvr>
                                      <p:tavLst>
                                        <p:tav tm="0">
                                          <p:val>
                                            <p:strVal val="#ppt_x"/>
                                          </p:val>
                                        </p:tav>
                                        <p:tav tm="100000">
                                          <p:val>
                                            <p:strVal val="#ppt_x"/>
                                          </p:val>
                                        </p:tav>
                                      </p:tavLst>
                                    </p:anim>
                                    <p:anim calcmode="lin" valueType="num">
                                      <p:cBhvr>
                                        <p:cTn id="99" dur="750" decel="100000" fill="hold"/>
                                        <p:tgtEl>
                                          <p:spTgt spid="25"/>
                                        </p:tgtEl>
                                        <p:attrNameLst>
                                          <p:attrName>ppt_y</p:attrName>
                                        </p:attrNameLst>
                                      </p:cBhvr>
                                      <p:tavLst>
                                        <p:tav tm="0">
                                          <p:val>
                                            <p:strVal val="#ppt_y+.08"/>
                                          </p:val>
                                        </p:tav>
                                        <p:tav tm="100000">
                                          <p:val>
                                            <p:strVal val="#ppt_y"/>
                                          </p:val>
                                        </p:tav>
                                      </p:tavLst>
                                    </p:anim>
                                  </p:childTnLst>
                                </p:cTn>
                              </p:par>
                              <p:par>
                                <p:cTn id="105" presetID="42" presetClass="entr" presetSubtype="0" grpId="0" fill="hold" nodeType="withEffect">
                                  <p:stCondLst>
                                    <p:cond delay="114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50"/>
                                        <p:tgtEl>
                                          <p:spTgt spid="28"/>
                                        </p:tgtEl>
                                      </p:cBhvr>
                                    </p:animEffect>
                                    <p:anim calcmode="lin" valueType="num">
                                      <p:cBhvr>
                                        <p:cTn id="103" dur="750" decel="100000" fill="hold"/>
                                        <p:tgtEl>
                                          <p:spTgt spid="28"/>
                                        </p:tgtEl>
                                        <p:attrNameLst>
                                          <p:attrName>ppt_x</p:attrName>
                                        </p:attrNameLst>
                                      </p:cBhvr>
                                      <p:tavLst>
                                        <p:tav tm="0">
                                          <p:val>
                                            <p:strVal val="#ppt_x"/>
                                          </p:val>
                                        </p:tav>
                                        <p:tav tm="100000">
                                          <p:val>
                                            <p:strVal val="#ppt_x"/>
                                          </p:val>
                                        </p:tav>
                                      </p:tavLst>
                                    </p:anim>
                                    <p:anim calcmode="lin" valueType="num">
                                      <p:cBhvr>
                                        <p:cTn id="104" dur="750" decel="100000" fill="hold"/>
                                        <p:tgtEl>
                                          <p:spTgt spid="28"/>
                                        </p:tgtEl>
                                        <p:attrNameLst>
                                          <p:attrName>ppt_y</p:attrName>
                                        </p:attrNameLst>
                                      </p:cBhvr>
                                      <p:tavLst>
                                        <p:tav tm="0">
                                          <p:val>
                                            <p:strVal val="#ppt_y+.08"/>
                                          </p:val>
                                        </p:tav>
                                        <p:tav tm="100000">
                                          <p:val>
                                            <p:strVal val="#ppt_y"/>
                                          </p:val>
                                        </p:tav>
                                      </p:tavLst>
                                    </p:anim>
                                  </p:childTnLst>
                                </p:cTn>
                              </p:par>
                              <p:par>
                                <p:cTn id="110" presetID="42" presetClass="entr" presetSubtype="0" grpId="0" fill="hold" nodeType="withEffect">
                                  <p:stCondLst>
                                    <p:cond delay="1140"/>
                                  </p:stCondLst>
                                  <p:childTnLst>
                                    <p:set>
                                      <p:cBhvr>
                                        <p:cTn id="106" dur="1" fill="hold">
                                          <p:stCondLst>
                                            <p:cond delay="0"/>
                                          </p:stCondLst>
                                        </p:cTn>
                                        <p:tgtEl>
                                          <p:spTgt spid="29"/>
                                        </p:tgtEl>
                                        <p:attrNameLst>
                                          <p:attrName>style.visibility</p:attrName>
                                        </p:attrNameLst>
                                      </p:cBhvr>
                                      <p:to>
                                        <p:strVal val="visible"/>
                                      </p:to>
                                    </p:set>
                                    <p:animEffect transition="in" filter="fade">
                                      <p:cBhvr>
                                        <p:cTn id="107" dur="750"/>
                                        <p:tgtEl>
                                          <p:spTgt spid="29"/>
                                        </p:tgtEl>
                                      </p:cBhvr>
                                    </p:animEffect>
                                    <p:anim calcmode="lin" valueType="num">
                                      <p:cBhvr>
                                        <p:cTn id="108" dur="750" decel="100000" fill="hold"/>
                                        <p:tgtEl>
                                          <p:spTgt spid="29"/>
                                        </p:tgtEl>
                                        <p:attrNameLst>
                                          <p:attrName>ppt_x</p:attrName>
                                        </p:attrNameLst>
                                      </p:cBhvr>
                                      <p:tavLst>
                                        <p:tav tm="0">
                                          <p:val>
                                            <p:strVal val="#ppt_x"/>
                                          </p:val>
                                        </p:tav>
                                        <p:tav tm="100000">
                                          <p:val>
                                            <p:strVal val="#ppt_x"/>
                                          </p:val>
                                        </p:tav>
                                      </p:tavLst>
                                    </p:anim>
                                    <p:anim calcmode="lin" valueType="num">
                                      <p:cBhvr>
                                        <p:cTn id="109" dur="750" decel="100000" fill="hold"/>
                                        <p:tgtEl>
                                          <p:spTgt spid="29"/>
                                        </p:tgtEl>
                                        <p:attrNameLst>
                                          <p:attrName>ppt_y</p:attrName>
                                        </p:attrNameLst>
                                      </p:cBhvr>
                                      <p:tavLst>
                                        <p:tav tm="0">
                                          <p:val>
                                            <p:strVal val="#ppt_y+.08"/>
                                          </p:val>
                                        </p:tav>
                                        <p:tav tm="100000">
                                          <p:val>
                                            <p:strVal val="#ppt_y"/>
                                          </p:val>
                                        </p:tav>
                                      </p:tavLst>
                                    </p:anim>
                                  </p:childTnLst>
                                </p:cTn>
                              </p:par>
                              <p:par>
                                <p:cTn id="115" presetID="42" presetClass="entr" presetSubtype="0" grpId="0" fill="hold" nodeType="withEffect">
                                  <p:stCondLst>
                                    <p:cond delay="1140"/>
                                  </p:stCondLst>
                                  <p:childTnLst>
                                    <p:set>
                                      <p:cBhvr>
                                        <p:cTn id="111" dur="1" fill="hold">
                                          <p:stCondLst>
                                            <p:cond delay="0"/>
                                          </p:stCondLst>
                                        </p:cTn>
                                        <p:tgtEl>
                                          <p:spTgt spid="30"/>
                                        </p:tgtEl>
                                        <p:attrNameLst>
                                          <p:attrName>style.visibility</p:attrName>
                                        </p:attrNameLst>
                                      </p:cBhvr>
                                      <p:to>
                                        <p:strVal val="visible"/>
                                      </p:to>
                                    </p:set>
                                    <p:animEffect transition="in" filter="fade">
                                      <p:cBhvr>
                                        <p:cTn id="112" dur="750"/>
                                        <p:tgtEl>
                                          <p:spTgt spid="30"/>
                                        </p:tgtEl>
                                      </p:cBhvr>
                                    </p:animEffect>
                                    <p:anim calcmode="lin" valueType="num">
                                      <p:cBhvr>
                                        <p:cTn id="113" dur="750" decel="100000" fill="hold"/>
                                        <p:tgtEl>
                                          <p:spTgt spid="30"/>
                                        </p:tgtEl>
                                        <p:attrNameLst>
                                          <p:attrName>ppt_x</p:attrName>
                                        </p:attrNameLst>
                                      </p:cBhvr>
                                      <p:tavLst>
                                        <p:tav tm="0">
                                          <p:val>
                                            <p:strVal val="#ppt_x"/>
                                          </p:val>
                                        </p:tav>
                                        <p:tav tm="100000">
                                          <p:val>
                                            <p:strVal val="#ppt_x"/>
                                          </p:val>
                                        </p:tav>
                                      </p:tavLst>
                                    </p:anim>
                                    <p:anim calcmode="lin" valueType="num">
                                      <p:cBhvr>
                                        <p:cTn id="114" dur="750" decel="100000" fill="hold"/>
                                        <p:tgtEl>
                                          <p:spTgt spid="30"/>
                                        </p:tgtEl>
                                        <p:attrNameLst>
                                          <p:attrName>ppt_y</p:attrName>
                                        </p:attrNameLst>
                                      </p:cBhvr>
                                      <p:tavLst>
                                        <p:tav tm="0">
                                          <p:val>
                                            <p:strVal val="#ppt_y+.08"/>
                                          </p:val>
                                        </p:tav>
                                        <p:tav tm="100000">
                                          <p:val>
                                            <p:strVal val="#ppt_y"/>
                                          </p:val>
                                        </p:tav>
                                      </p:tavLst>
                                    </p:anim>
                                  </p:childTnLst>
                                </p:cTn>
                              </p:par>
                              <p:par>
                                <p:cTn id="120" presetID="42" presetClass="entr" presetSubtype="0" grpId="0" fill="hold" nodeType="withEffect">
                                  <p:stCondLst>
                                    <p:cond delay="114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50"/>
                                        <p:tgtEl>
                                          <p:spTgt spid="31"/>
                                        </p:tgtEl>
                                      </p:cBhvr>
                                    </p:animEffect>
                                    <p:anim calcmode="lin" valueType="num">
                                      <p:cBhvr>
                                        <p:cTn id="118" dur="750" decel="100000" fill="hold"/>
                                        <p:tgtEl>
                                          <p:spTgt spid="31"/>
                                        </p:tgtEl>
                                        <p:attrNameLst>
                                          <p:attrName>ppt_x</p:attrName>
                                        </p:attrNameLst>
                                      </p:cBhvr>
                                      <p:tavLst>
                                        <p:tav tm="0">
                                          <p:val>
                                            <p:strVal val="#ppt_x"/>
                                          </p:val>
                                        </p:tav>
                                        <p:tav tm="100000">
                                          <p:val>
                                            <p:strVal val="#ppt_x"/>
                                          </p:val>
                                        </p:tav>
                                      </p:tavLst>
                                    </p:anim>
                                    <p:anim calcmode="lin" valueType="num">
                                      <p:cBhvr>
                                        <p:cTn id="119" dur="750" decel="100000" fill="hold"/>
                                        <p:tgtEl>
                                          <p:spTgt spid="31"/>
                                        </p:tgtEl>
                                        <p:attrNameLst>
                                          <p:attrName>ppt_y</p:attrName>
                                        </p:attrNameLst>
                                      </p:cBhvr>
                                      <p:tavLst>
                                        <p:tav tm="0">
                                          <p:val>
                                            <p:strVal val="#ppt_y+.08"/>
                                          </p:val>
                                        </p:tav>
                                        <p:tav tm="100000">
                                          <p:val>
                                            <p:strVal val="#ppt_y"/>
                                          </p:val>
                                        </p:tav>
                                      </p:tavLst>
                                    </p:anim>
                                  </p:childTnLst>
                                </p:cTn>
                              </p:par>
                              <p:par>
                                <p:cTn id="125" presetID="42" presetClass="entr" presetSubtype="0" grpId="0" fill="hold" nodeType="withEffect">
                                  <p:stCondLst>
                                    <p:cond delay="114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750"/>
                                        <p:tgtEl>
                                          <p:spTgt spid="32"/>
                                        </p:tgtEl>
                                      </p:cBhvr>
                                    </p:animEffect>
                                    <p:anim calcmode="lin" valueType="num">
                                      <p:cBhvr>
                                        <p:cTn id="123" dur="750" decel="100000" fill="hold"/>
                                        <p:tgtEl>
                                          <p:spTgt spid="32"/>
                                        </p:tgtEl>
                                        <p:attrNameLst>
                                          <p:attrName>ppt_x</p:attrName>
                                        </p:attrNameLst>
                                      </p:cBhvr>
                                      <p:tavLst>
                                        <p:tav tm="0">
                                          <p:val>
                                            <p:strVal val="#ppt_x"/>
                                          </p:val>
                                        </p:tav>
                                        <p:tav tm="100000">
                                          <p:val>
                                            <p:strVal val="#ppt_x"/>
                                          </p:val>
                                        </p:tav>
                                      </p:tavLst>
                                    </p:anim>
                                    <p:anim calcmode="lin" valueType="num">
                                      <p:cBhvr>
                                        <p:cTn id="124" dur="750" decel="100000" fill="hold"/>
                                        <p:tgtEl>
                                          <p:spTgt spid="32"/>
                                        </p:tgtEl>
                                        <p:attrNameLst>
                                          <p:attrName>ppt_y</p:attrName>
                                        </p:attrNameLst>
                                      </p:cBhvr>
                                      <p:tavLst>
                                        <p:tav tm="0">
                                          <p:val>
                                            <p:strVal val="#ppt_y+.08"/>
                                          </p:val>
                                        </p:tav>
                                        <p:tav tm="100000">
                                          <p:val>
                                            <p:strVal val="#ppt_y"/>
                                          </p:val>
                                        </p:tav>
                                      </p:tavLst>
                                    </p:anim>
                                  </p:childTnLst>
                                </p:cTn>
                              </p:par>
                              <p:par>
                                <p:cTn id="130" presetID="42" presetClass="entr" presetSubtype="0" grpId="0" fill="hold" nodeType="withEffect">
                                  <p:stCondLst>
                                    <p:cond delay="1140"/>
                                  </p:stCondLst>
                                  <p:childTnLst>
                                    <p:set>
                                      <p:cBhvr>
                                        <p:cTn id="126" dur="1" fill="hold">
                                          <p:stCondLst>
                                            <p:cond delay="0"/>
                                          </p:stCondLst>
                                        </p:cTn>
                                        <p:tgtEl>
                                          <p:spTgt spid="33"/>
                                        </p:tgtEl>
                                        <p:attrNameLst>
                                          <p:attrName>style.visibility</p:attrName>
                                        </p:attrNameLst>
                                      </p:cBhvr>
                                      <p:to>
                                        <p:strVal val="visible"/>
                                      </p:to>
                                    </p:set>
                                    <p:animEffect transition="in" filter="fade">
                                      <p:cBhvr>
                                        <p:cTn id="127" dur="750"/>
                                        <p:tgtEl>
                                          <p:spTgt spid="33"/>
                                        </p:tgtEl>
                                      </p:cBhvr>
                                    </p:animEffect>
                                    <p:anim calcmode="lin" valueType="num">
                                      <p:cBhvr>
                                        <p:cTn id="128" dur="750" decel="100000" fill="hold"/>
                                        <p:tgtEl>
                                          <p:spTgt spid="33"/>
                                        </p:tgtEl>
                                        <p:attrNameLst>
                                          <p:attrName>ppt_x</p:attrName>
                                        </p:attrNameLst>
                                      </p:cBhvr>
                                      <p:tavLst>
                                        <p:tav tm="0">
                                          <p:val>
                                            <p:strVal val="#ppt_x"/>
                                          </p:val>
                                        </p:tav>
                                        <p:tav tm="100000">
                                          <p:val>
                                            <p:strVal val="#ppt_x"/>
                                          </p:val>
                                        </p:tav>
                                      </p:tavLst>
                                    </p:anim>
                                    <p:anim calcmode="lin" valueType="num">
                                      <p:cBhvr>
                                        <p:cTn id="129" dur="750" decel="100000" fill="hold"/>
                                        <p:tgtEl>
                                          <p:spTgt spid="33"/>
                                        </p:tgtEl>
                                        <p:attrNameLst>
                                          <p:attrName>ppt_y</p:attrName>
                                        </p:attrNameLst>
                                      </p:cBhvr>
                                      <p:tavLst>
                                        <p:tav tm="0">
                                          <p:val>
                                            <p:strVal val="#ppt_y+.08"/>
                                          </p:val>
                                        </p:tav>
                                        <p:tav tm="100000">
                                          <p:val>
                                            <p:strVal val="#ppt_y"/>
                                          </p:val>
                                        </p:tav>
                                      </p:tavLst>
                                    </p:anim>
                                  </p:childTnLst>
                                </p:cTn>
                              </p:par>
                              <p:par>
                                <p:cTn id="135" presetID="42" presetClass="entr" presetSubtype="0" grpId="0" fill="hold" nodeType="withEffect">
                                  <p:stCondLst>
                                    <p:cond delay="1320"/>
                                  </p:stCondLst>
                                  <p:childTnLst>
                                    <p:set>
                                      <p:cBhvr>
                                        <p:cTn id="131" dur="1" fill="hold">
                                          <p:stCondLst>
                                            <p:cond delay="0"/>
                                          </p:stCondLst>
                                        </p:cTn>
                                        <p:tgtEl>
                                          <p:spTgt spid="36"/>
                                        </p:tgtEl>
                                        <p:attrNameLst>
                                          <p:attrName>style.visibility</p:attrName>
                                        </p:attrNameLst>
                                      </p:cBhvr>
                                      <p:to>
                                        <p:strVal val="visible"/>
                                      </p:to>
                                    </p:set>
                                    <p:animEffect transition="in" filter="fade">
                                      <p:cBhvr>
                                        <p:cTn id="132" dur="750"/>
                                        <p:tgtEl>
                                          <p:spTgt spid="36"/>
                                        </p:tgtEl>
                                      </p:cBhvr>
                                    </p:animEffect>
                                    <p:anim calcmode="lin" valueType="num">
                                      <p:cBhvr>
                                        <p:cTn id="133" dur="750" decel="100000" fill="hold"/>
                                        <p:tgtEl>
                                          <p:spTgt spid="36"/>
                                        </p:tgtEl>
                                        <p:attrNameLst>
                                          <p:attrName>ppt_x</p:attrName>
                                        </p:attrNameLst>
                                      </p:cBhvr>
                                      <p:tavLst>
                                        <p:tav tm="0">
                                          <p:val>
                                            <p:strVal val="#ppt_x"/>
                                          </p:val>
                                        </p:tav>
                                        <p:tav tm="100000">
                                          <p:val>
                                            <p:strVal val="#ppt_x"/>
                                          </p:val>
                                        </p:tav>
                                      </p:tavLst>
                                    </p:anim>
                                    <p:anim calcmode="lin" valueType="num">
                                      <p:cBhvr>
                                        <p:cTn id="134" dur="750" decel="100000" fill="hold"/>
                                        <p:tgtEl>
                                          <p:spTgt spid="36"/>
                                        </p:tgtEl>
                                        <p:attrNameLst>
                                          <p:attrName>ppt_y</p:attrName>
                                        </p:attrNameLst>
                                      </p:cBhvr>
                                      <p:tavLst>
                                        <p:tav tm="0">
                                          <p:val>
                                            <p:strVal val="#ppt_y+.08"/>
                                          </p:val>
                                        </p:tav>
                                        <p:tav tm="100000">
                                          <p:val>
                                            <p:strVal val="#ppt_y"/>
                                          </p:val>
                                        </p:tav>
                                      </p:tavLst>
                                    </p:anim>
                                  </p:childTnLst>
                                </p:cTn>
                              </p:par>
                              <p:par>
                                <p:cTn id="140" presetID="42" presetClass="entr" presetSubtype="0" grpId="0" fill="hold" nodeType="withEffect">
                                  <p:stCondLst>
                                    <p:cond delay="1320"/>
                                  </p:stCondLst>
                                  <p:childTnLst>
                                    <p:set>
                                      <p:cBhvr>
                                        <p:cTn id="136" dur="1" fill="hold">
                                          <p:stCondLst>
                                            <p:cond delay="0"/>
                                          </p:stCondLst>
                                        </p:cTn>
                                        <p:tgtEl>
                                          <p:spTgt spid="37"/>
                                        </p:tgtEl>
                                        <p:attrNameLst>
                                          <p:attrName>style.visibility</p:attrName>
                                        </p:attrNameLst>
                                      </p:cBhvr>
                                      <p:to>
                                        <p:strVal val="visible"/>
                                      </p:to>
                                    </p:set>
                                    <p:animEffect transition="in" filter="fade">
                                      <p:cBhvr>
                                        <p:cTn id="137" dur="750"/>
                                        <p:tgtEl>
                                          <p:spTgt spid="37"/>
                                        </p:tgtEl>
                                      </p:cBhvr>
                                    </p:animEffect>
                                    <p:anim calcmode="lin" valueType="num">
                                      <p:cBhvr>
                                        <p:cTn id="138" dur="750" decel="100000" fill="hold"/>
                                        <p:tgtEl>
                                          <p:spTgt spid="37"/>
                                        </p:tgtEl>
                                        <p:attrNameLst>
                                          <p:attrName>ppt_x</p:attrName>
                                        </p:attrNameLst>
                                      </p:cBhvr>
                                      <p:tavLst>
                                        <p:tav tm="0">
                                          <p:val>
                                            <p:strVal val="#ppt_x"/>
                                          </p:val>
                                        </p:tav>
                                        <p:tav tm="100000">
                                          <p:val>
                                            <p:strVal val="#ppt_x"/>
                                          </p:val>
                                        </p:tav>
                                      </p:tavLst>
                                    </p:anim>
                                    <p:anim calcmode="lin" valueType="num">
                                      <p:cBhvr>
                                        <p:cTn id="139" dur="750" decel="100000" fill="hold"/>
                                        <p:tgtEl>
                                          <p:spTgt spid="37"/>
                                        </p:tgtEl>
                                        <p:attrNameLst>
                                          <p:attrName>ppt_y</p:attrName>
                                        </p:attrNameLst>
                                      </p:cBhvr>
                                      <p:tavLst>
                                        <p:tav tm="0">
                                          <p:val>
                                            <p:strVal val="#ppt_y+.08"/>
                                          </p:val>
                                        </p:tav>
                                        <p:tav tm="100000">
                                          <p:val>
                                            <p:strVal val="#ppt_y"/>
                                          </p:val>
                                        </p:tav>
                                      </p:tavLst>
                                    </p:anim>
                                  </p:childTnLst>
                                </p:cTn>
                              </p:par>
                              <p:par>
                                <p:cTn id="145" presetID="42" presetClass="entr" presetSubtype="0" grpId="0" fill="hold" nodeType="withEffect">
                                  <p:stCondLst>
                                    <p:cond delay="1320"/>
                                  </p:stCondLst>
                                  <p:childTnLst>
                                    <p:set>
                                      <p:cBhvr>
                                        <p:cTn id="141" dur="1" fill="hold">
                                          <p:stCondLst>
                                            <p:cond delay="0"/>
                                          </p:stCondLst>
                                        </p:cTn>
                                        <p:tgtEl>
                                          <p:spTgt spid="38"/>
                                        </p:tgtEl>
                                        <p:attrNameLst>
                                          <p:attrName>style.visibility</p:attrName>
                                        </p:attrNameLst>
                                      </p:cBhvr>
                                      <p:to>
                                        <p:strVal val="visible"/>
                                      </p:to>
                                    </p:set>
                                    <p:animEffect transition="in" filter="fade">
                                      <p:cBhvr>
                                        <p:cTn id="142" dur="750"/>
                                        <p:tgtEl>
                                          <p:spTgt spid="38"/>
                                        </p:tgtEl>
                                      </p:cBhvr>
                                    </p:animEffect>
                                    <p:anim calcmode="lin" valueType="num">
                                      <p:cBhvr>
                                        <p:cTn id="143" dur="750" decel="100000" fill="hold"/>
                                        <p:tgtEl>
                                          <p:spTgt spid="38"/>
                                        </p:tgtEl>
                                        <p:attrNameLst>
                                          <p:attrName>ppt_x</p:attrName>
                                        </p:attrNameLst>
                                      </p:cBhvr>
                                      <p:tavLst>
                                        <p:tav tm="0">
                                          <p:val>
                                            <p:strVal val="#ppt_x"/>
                                          </p:val>
                                        </p:tav>
                                        <p:tav tm="100000">
                                          <p:val>
                                            <p:strVal val="#ppt_x"/>
                                          </p:val>
                                        </p:tav>
                                      </p:tavLst>
                                    </p:anim>
                                    <p:anim calcmode="lin" valueType="num">
                                      <p:cBhvr>
                                        <p:cTn id="144" dur="750" decel="100000" fill="hold"/>
                                        <p:tgtEl>
                                          <p:spTgt spid="38"/>
                                        </p:tgtEl>
                                        <p:attrNameLst>
                                          <p:attrName>ppt_y</p:attrName>
                                        </p:attrNameLst>
                                      </p:cBhvr>
                                      <p:tavLst>
                                        <p:tav tm="0">
                                          <p:val>
                                            <p:strVal val="#ppt_y+.08"/>
                                          </p:val>
                                        </p:tav>
                                        <p:tav tm="100000">
                                          <p:val>
                                            <p:strVal val="#ppt_y"/>
                                          </p:val>
                                        </p:tav>
                                      </p:tavLst>
                                    </p:anim>
                                  </p:childTnLst>
                                </p:cTn>
                              </p:par>
                              <p:par>
                                <p:cTn id="150" presetID="42" presetClass="entr" presetSubtype="0" grpId="0" fill="hold" nodeType="withEffect">
                                  <p:stCondLst>
                                    <p:cond delay="1320"/>
                                  </p:stCondLst>
                                  <p:childTnLst>
                                    <p:set>
                                      <p:cBhvr>
                                        <p:cTn id="146" dur="1" fill="hold">
                                          <p:stCondLst>
                                            <p:cond delay="0"/>
                                          </p:stCondLst>
                                        </p:cTn>
                                        <p:tgtEl>
                                          <p:spTgt spid="39"/>
                                        </p:tgtEl>
                                        <p:attrNameLst>
                                          <p:attrName>style.visibility</p:attrName>
                                        </p:attrNameLst>
                                      </p:cBhvr>
                                      <p:to>
                                        <p:strVal val="visible"/>
                                      </p:to>
                                    </p:set>
                                    <p:animEffect transition="in" filter="fade">
                                      <p:cBhvr>
                                        <p:cTn id="147" dur="750"/>
                                        <p:tgtEl>
                                          <p:spTgt spid="39"/>
                                        </p:tgtEl>
                                      </p:cBhvr>
                                    </p:animEffect>
                                    <p:anim calcmode="lin" valueType="num">
                                      <p:cBhvr>
                                        <p:cTn id="148" dur="750" decel="100000" fill="hold"/>
                                        <p:tgtEl>
                                          <p:spTgt spid="39"/>
                                        </p:tgtEl>
                                        <p:attrNameLst>
                                          <p:attrName>ppt_x</p:attrName>
                                        </p:attrNameLst>
                                      </p:cBhvr>
                                      <p:tavLst>
                                        <p:tav tm="0">
                                          <p:val>
                                            <p:strVal val="#ppt_x"/>
                                          </p:val>
                                        </p:tav>
                                        <p:tav tm="100000">
                                          <p:val>
                                            <p:strVal val="#ppt_x"/>
                                          </p:val>
                                        </p:tav>
                                      </p:tavLst>
                                    </p:anim>
                                    <p:anim calcmode="lin" valueType="num">
                                      <p:cBhvr>
                                        <p:cTn id="149" dur="750" decel="100000" fill="hold"/>
                                        <p:tgtEl>
                                          <p:spTgt spid="39"/>
                                        </p:tgtEl>
                                        <p:attrNameLst>
                                          <p:attrName>ppt_y</p:attrName>
                                        </p:attrNameLst>
                                      </p:cBhvr>
                                      <p:tavLst>
                                        <p:tav tm="0">
                                          <p:val>
                                            <p:strVal val="#ppt_y+.08"/>
                                          </p:val>
                                        </p:tav>
                                        <p:tav tm="100000">
                                          <p:val>
                                            <p:strVal val="#ppt_y"/>
                                          </p:val>
                                        </p:tav>
                                      </p:tavLst>
                                    </p:anim>
                                  </p:childTnLst>
                                </p:cTn>
                              </p:par>
                              <p:par>
                                <p:cTn id="155" presetID="42" presetClass="entr" presetSubtype="0" grpId="0" fill="hold" nodeType="withEffect">
                                  <p:stCondLst>
                                    <p:cond delay="1320"/>
                                  </p:stCondLst>
                                  <p:childTnLst>
                                    <p:set>
                                      <p:cBhvr>
                                        <p:cTn id="151" dur="1" fill="hold">
                                          <p:stCondLst>
                                            <p:cond delay="0"/>
                                          </p:stCondLst>
                                        </p:cTn>
                                        <p:tgtEl>
                                          <p:spTgt spid="40"/>
                                        </p:tgtEl>
                                        <p:attrNameLst>
                                          <p:attrName>style.visibility</p:attrName>
                                        </p:attrNameLst>
                                      </p:cBhvr>
                                      <p:to>
                                        <p:strVal val="visible"/>
                                      </p:to>
                                    </p:set>
                                    <p:animEffect transition="in" filter="fade">
                                      <p:cBhvr>
                                        <p:cTn id="152" dur="750"/>
                                        <p:tgtEl>
                                          <p:spTgt spid="40"/>
                                        </p:tgtEl>
                                      </p:cBhvr>
                                    </p:animEffect>
                                    <p:anim calcmode="lin" valueType="num">
                                      <p:cBhvr>
                                        <p:cTn id="153" dur="750" decel="100000" fill="hold"/>
                                        <p:tgtEl>
                                          <p:spTgt spid="40"/>
                                        </p:tgtEl>
                                        <p:attrNameLst>
                                          <p:attrName>ppt_x</p:attrName>
                                        </p:attrNameLst>
                                      </p:cBhvr>
                                      <p:tavLst>
                                        <p:tav tm="0">
                                          <p:val>
                                            <p:strVal val="#ppt_x"/>
                                          </p:val>
                                        </p:tav>
                                        <p:tav tm="100000">
                                          <p:val>
                                            <p:strVal val="#ppt_x"/>
                                          </p:val>
                                        </p:tav>
                                      </p:tavLst>
                                    </p:anim>
                                    <p:anim calcmode="lin" valueType="num">
                                      <p:cBhvr>
                                        <p:cTn id="154" dur="750" decel="100000" fill="hold"/>
                                        <p:tgtEl>
                                          <p:spTgt spid="40"/>
                                        </p:tgtEl>
                                        <p:attrNameLst>
                                          <p:attrName>ppt_y</p:attrName>
                                        </p:attrNameLst>
                                      </p:cBhvr>
                                      <p:tavLst>
                                        <p:tav tm="0">
                                          <p:val>
                                            <p:strVal val="#ppt_y+.08"/>
                                          </p:val>
                                        </p:tav>
                                        <p:tav tm="100000">
                                          <p:val>
                                            <p:strVal val="#ppt_y"/>
                                          </p:val>
                                        </p:tav>
                                      </p:tavLst>
                                    </p:anim>
                                  </p:childTnLst>
                                </p:cTn>
                              </p:par>
                              <p:par>
                                <p:cTn id="160" presetID="42" presetClass="entr" presetSubtype="0" grpId="0" fill="hold" nodeType="withEffect">
                                  <p:stCondLst>
                                    <p:cond delay="132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50"/>
                                        <p:tgtEl>
                                          <p:spTgt spid="41"/>
                                        </p:tgtEl>
                                      </p:cBhvr>
                                    </p:animEffect>
                                    <p:anim calcmode="lin" valueType="num">
                                      <p:cBhvr>
                                        <p:cTn id="158" dur="750" decel="100000" fill="hold"/>
                                        <p:tgtEl>
                                          <p:spTgt spid="41"/>
                                        </p:tgtEl>
                                        <p:attrNameLst>
                                          <p:attrName>ppt_x</p:attrName>
                                        </p:attrNameLst>
                                      </p:cBhvr>
                                      <p:tavLst>
                                        <p:tav tm="0">
                                          <p:val>
                                            <p:strVal val="#ppt_x"/>
                                          </p:val>
                                        </p:tav>
                                        <p:tav tm="100000">
                                          <p:val>
                                            <p:strVal val="#ppt_x"/>
                                          </p:val>
                                        </p:tav>
                                      </p:tavLst>
                                    </p:anim>
                                    <p:anim calcmode="lin" valueType="num">
                                      <p:cBhvr>
                                        <p:cTn id="159" dur="750" decel="100000" fill="hold"/>
                                        <p:tgtEl>
                                          <p:spTgt spid="41"/>
                                        </p:tgtEl>
                                        <p:attrNameLst>
                                          <p:attrName>ppt_y</p:attrName>
                                        </p:attrNameLst>
                                      </p:cBhvr>
                                      <p:tavLst>
                                        <p:tav tm="0">
                                          <p:val>
                                            <p:strVal val="#ppt_y+.08"/>
                                          </p:val>
                                        </p:tav>
                                        <p:tav tm="100000">
                                          <p:val>
                                            <p:strVal val="#ppt_y"/>
                                          </p:val>
                                        </p:tav>
                                      </p:tavLst>
                                    </p:anim>
                                  </p:childTnLst>
                                </p:cTn>
                              </p:par>
                              <p:par>
                                <p:cTn id="165" presetID="53" presetClass="entr" presetSubtype="16" grpId="0" fill="hold" nodeType="withEffect">
                                  <p:stCondLst>
                                    <p:cond delay="1500"/>
                                  </p:stCondLst>
                                  <p:childTnLst>
                                    <p:set>
                                      <p:cBhvr>
                                        <p:cTn id="161" dur="1" fill="hold">
                                          <p:stCondLst>
                                            <p:cond delay="0"/>
                                          </p:stCondLst>
                                        </p:cTn>
                                        <p:tgtEl>
                                          <p:spTgt spid="7"/>
                                        </p:tgtEl>
                                        <p:attrNameLst>
                                          <p:attrName>style.visibility</p:attrName>
                                        </p:attrNameLst>
                                      </p:cBhvr>
                                      <p:to>
                                        <p:strVal val="visible"/>
                                      </p:to>
                                    </p:set>
                                    <p:anim calcmode="lin" valueType="num">
                                      <p:cBhvr>
                                        <p:cTn id="162" dur="500" decel="100000" fill="hold"/>
                                        <p:tgtEl>
                                          <p:spTgt spid="7"/>
                                        </p:tgtEl>
                                        <p:attrNameLst>
                                          <p:attrName>ppt_w</p:attrName>
                                        </p:attrNameLst>
                                      </p:cBhvr>
                                      <p:tavLst>
                                        <p:tav tm="0">
                                          <p:val>
                                            <p:fltVal val="0"/>
                                          </p:val>
                                        </p:tav>
                                        <p:tav tm="100000">
                                          <p:val>
                                            <p:strVal val="#ppt_w"/>
                                          </p:val>
                                        </p:tav>
                                      </p:tavLst>
                                    </p:anim>
                                    <p:anim calcmode="lin" valueType="num">
                                      <p:cBhvr>
                                        <p:cTn id="163" dur="500" decel="100000" fill="hold"/>
                                        <p:tgtEl>
                                          <p:spTgt spid="7"/>
                                        </p:tgtEl>
                                        <p:attrNameLst>
                                          <p:attrName>ppt_h</p:attrName>
                                        </p:attrNameLst>
                                      </p:cBhvr>
                                      <p:tavLst>
                                        <p:tav tm="0">
                                          <p:val>
                                            <p:fltVal val="0"/>
                                          </p:val>
                                        </p:tav>
                                        <p:tav tm="100000">
                                          <p:val>
                                            <p:strVal val="#ppt_h"/>
                                          </p:val>
                                        </p:tav>
                                      </p:tavLst>
                                    </p:anim>
                                    <p:animEffect transition="in" filter="fade">
                                      <p:cBhvr>
                                        <p:cTn id="164" dur="500"/>
                                        <p:tgtEl>
                                          <p:spTgt spid="7"/>
                                        </p:tgtEl>
                                      </p:cBhvr>
                                    </p:animEffect>
                                  </p:childTnLst>
                                </p:cTn>
                              </p:par>
                              <p:par>
                                <p:cTn id="170" presetID="53" presetClass="entr" presetSubtype="16" grpId="0" fill="hold" nodeType="withEffect">
                                  <p:stCondLst>
                                    <p:cond delay="1500"/>
                                  </p:stCondLst>
                                  <p:childTnLst>
                                    <p:set>
                                      <p:cBhvr>
                                        <p:cTn id="166" dur="1" fill="hold">
                                          <p:stCondLst>
                                            <p:cond delay="0"/>
                                          </p:stCondLst>
                                        </p:cTn>
                                        <p:tgtEl>
                                          <p:spTgt spid="15"/>
                                        </p:tgtEl>
                                        <p:attrNameLst>
                                          <p:attrName>style.visibility</p:attrName>
                                        </p:attrNameLst>
                                      </p:cBhvr>
                                      <p:to>
                                        <p:strVal val="visible"/>
                                      </p:to>
                                    </p:set>
                                    <p:anim calcmode="lin" valueType="num">
                                      <p:cBhvr>
                                        <p:cTn id="167" dur="500" decel="100000" fill="hold"/>
                                        <p:tgtEl>
                                          <p:spTgt spid="15"/>
                                        </p:tgtEl>
                                        <p:attrNameLst>
                                          <p:attrName>ppt_w</p:attrName>
                                        </p:attrNameLst>
                                      </p:cBhvr>
                                      <p:tavLst>
                                        <p:tav tm="0">
                                          <p:val>
                                            <p:fltVal val="0"/>
                                          </p:val>
                                        </p:tav>
                                        <p:tav tm="100000">
                                          <p:val>
                                            <p:strVal val="#ppt_w"/>
                                          </p:val>
                                        </p:tav>
                                      </p:tavLst>
                                    </p:anim>
                                    <p:anim calcmode="lin" valueType="num">
                                      <p:cBhvr>
                                        <p:cTn id="168" dur="500" decel="100000" fill="hold"/>
                                        <p:tgtEl>
                                          <p:spTgt spid="15"/>
                                        </p:tgtEl>
                                        <p:attrNameLst>
                                          <p:attrName>ppt_h</p:attrName>
                                        </p:attrNameLst>
                                      </p:cBhvr>
                                      <p:tavLst>
                                        <p:tav tm="0">
                                          <p:val>
                                            <p:fltVal val="0"/>
                                          </p:val>
                                        </p:tav>
                                        <p:tav tm="100000">
                                          <p:val>
                                            <p:strVal val="#ppt_h"/>
                                          </p:val>
                                        </p:tav>
                                      </p:tavLst>
                                    </p:anim>
                                    <p:animEffect transition="in" filter="fade">
                                      <p:cBhvr>
                                        <p:cTn id="169" dur="500"/>
                                        <p:tgtEl>
                                          <p:spTgt spid="15"/>
                                        </p:tgtEl>
                                      </p:cBhvr>
                                    </p:animEffect>
                                  </p:childTnLst>
                                </p:cTn>
                              </p:par>
                              <p:par>
                                <p:cTn id="175" presetID="53" presetClass="entr" presetSubtype="16" grpId="0" fill="hold" nodeType="withEffect">
                                  <p:stCondLst>
                                    <p:cond delay="1500"/>
                                  </p:stCondLst>
                                  <p:childTnLst>
                                    <p:set>
                                      <p:cBhvr>
                                        <p:cTn id="171" dur="1" fill="hold">
                                          <p:stCondLst>
                                            <p:cond delay="0"/>
                                          </p:stCondLst>
                                        </p:cTn>
                                        <p:tgtEl>
                                          <p:spTgt spid="23"/>
                                        </p:tgtEl>
                                        <p:attrNameLst>
                                          <p:attrName>style.visibility</p:attrName>
                                        </p:attrNameLst>
                                      </p:cBhvr>
                                      <p:to>
                                        <p:strVal val="visible"/>
                                      </p:to>
                                    </p:set>
                                    <p:anim calcmode="lin" valueType="num">
                                      <p:cBhvr>
                                        <p:cTn id="172" dur="500" decel="100000" fill="hold"/>
                                        <p:tgtEl>
                                          <p:spTgt spid="23"/>
                                        </p:tgtEl>
                                        <p:attrNameLst>
                                          <p:attrName>ppt_w</p:attrName>
                                        </p:attrNameLst>
                                      </p:cBhvr>
                                      <p:tavLst>
                                        <p:tav tm="0">
                                          <p:val>
                                            <p:fltVal val="0"/>
                                          </p:val>
                                        </p:tav>
                                        <p:tav tm="100000">
                                          <p:val>
                                            <p:strVal val="#ppt_w"/>
                                          </p:val>
                                        </p:tav>
                                      </p:tavLst>
                                    </p:anim>
                                    <p:anim calcmode="lin" valueType="num">
                                      <p:cBhvr>
                                        <p:cTn id="173" dur="500" decel="100000" fill="hold"/>
                                        <p:tgtEl>
                                          <p:spTgt spid="23"/>
                                        </p:tgtEl>
                                        <p:attrNameLst>
                                          <p:attrName>ppt_h</p:attrName>
                                        </p:attrNameLst>
                                      </p:cBhvr>
                                      <p:tavLst>
                                        <p:tav tm="0">
                                          <p:val>
                                            <p:fltVal val="0"/>
                                          </p:val>
                                        </p:tav>
                                        <p:tav tm="100000">
                                          <p:val>
                                            <p:strVal val="#ppt_h"/>
                                          </p:val>
                                        </p:tav>
                                      </p:tavLst>
                                    </p:anim>
                                    <p:animEffect transition="in" filter="fade">
                                      <p:cBhvr>
                                        <p:cTn id="174" dur="500"/>
                                        <p:tgtEl>
                                          <p:spTgt spid="23"/>
                                        </p:tgtEl>
                                      </p:cBhvr>
                                    </p:animEffect>
                                  </p:childTnLst>
                                </p:cTn>
                              </p:par>
                              <p:par>
                                <p:cTn id="180" presetID="53" presetClass="entr" presetSubtype="16" grpId="0" fill="hold" nodeType="withEffect">
                                  <p:stCondLst>
                                    <p:cond delay="1500"/>
                                  </p:stCondLst>
                                  <p:childTnLst>
                                    <p:set>
                                      <p:cBhvr>
                                        <p:cTn id="176" dur="1" fill="hold">
                                          <p:stCondLst>
                                            <p:cond delay="0"/>
                                          </p:stCondLst>
                                        </p:cTn>
                                        <p:tgtEl>
                                          <p:spTgt spid="31"/>
                                        </p:tgtEl>
                                        <p:attrNameLst>
                                          <p:attrName>style.visibility</p:attrName>
                                        </p:attrNameLst>
                                      </p:cBhvr>
                                      <p:to>
                                        <p:strVal val="visible"/>
                                      </p:to>
                                    </p:set>
                                    <p:anim calcmode="lin" valueType="num">
                                      <p:cBhvr>
                                        <p:cTn id="177" dur="500" decel="100000" fill="hold"/>
                                        <p:tgtEl>
                                          <p:spTgt spid="31"/>
                                        </p:tgtEl>
                                        <p:attrNameLst>
                                          <p:attrName>ppt_w</p:attrName>
                                        </p:attrNameLst>
                                      </p:cBhvr>
                                      <p:tavLst>
                                        <p:tav tm="0">
                                          <p:val>
                                            <p:fltVal val="0"/>
                                          </p:val>
                                        </p:tav>
                                        <p:tav tm="100000">
                                          <p:val>
                                            <p:strVal val="#ppt_w"/>
                                          </p:val>
                                        </p:tav>
                                      </p:tavLst>
                                    </p:anim>
                                    <p:anim calcmode="lin" valueType="num">
                                      <p:cBhvr>
                                        <p:cTn id="178" dur="500" decel="100000" fill="hold"/>
                                        <p:tgtEl>
                                          <p:spTgt spid="31"/>
                                        </p:tgtEl>
                                        <p:attrNameLst>
                                          <p:attrName>ppt_h</p:attrName>
                                        </p:attrNameLst>
                                      </p:cBhvr>
                                      <p:tavLst>
                                        <p:tav tm="0">
                                          <p:val>
                                            <p:fltVal val="0"/>
                                          </p:val>
                                        </p:tav>
                                        <p:tav tm="100000">
                                          <p:val>
                                            <p:strVal val="#ppt_h"/>
                                          </p:val>
                                        </p:tav>
                                      </p:tavLst>
                                    </p:anim>
                                    <p:animEffect transition="in" filter="fade">
                                      <p:cBhvr>
                                        <p:cTn id="179" dur="500"/>
                                        <p:tgtEl>
                                          <p:spTgt spid="31"/>
                                        </p:tgtEl>
                                      </p:cBhvr>
                                    </p:animEffect>
                                  </p:childTnLst>
                                </p:cTn>
                              </p:par>
                              <p:par>
                                <p:cTn id="185" presetID="53" presetClass="entr" presetSubtype="16" grpId="0" fill="hold" nodeType="withEffect">
                                  <p:stCondLst>
                                    <p:cond delay="1500"/>
                                  </p:stCondLst>
                                  <p:childTnLst>
                                    <p:set>
                                      <p:cBhvr>
                                        <p:cTn id="181" dur="1" fill="hold">
                                          <p:stCondLst>
                                            <p:cond delay="0"/>
                                          </p:stCondLst>
                                        </p:cTn>
                                        <p:tgtEl>
                                          <p:spTgt spid="39"/>
                                        </p:tgtEl>
                                        <p:attrNameLst>
                                          <p:attrName>style.visibility</p:attrName>
                                        </p:attrNameLst>
                                      </p:cBhvr>
                                      <p:to>
                                        <p:strVal val="visible"/>
                                      </p:to>
                                    </p:set>
                                    <p:anim calcmode="lin" valueType="num">
                                      <p:cBhvr>
                                        <p:cTn id="182" dur="500" decel="100000" fill="hold"/>
                                        <p:tgtEl>
                                          <p:spTgt spid="39"/>
                                        </p:tgtEl>
                                        <p:attrNameLst>
                                          <p:attrName>ppt_w</p:attrName>
                                        </p:attrNameLst>
                                      </p:cBhvr>
                                      <p:tavLst>
                                        <p:tav tm="0">
                                          <p:val>
                                            <p:fltVal val="0"/>
                                          </p:val>
                                        </p:tav>
                                        <p:tav tm="100000">
                                          <p:val>
                                            <p:strVal val="#ppt_w"/>
                                          </p:val>
                                        </p:tav>
                                      </p:tavLst>
                                    </p:anim>
                                    <p:anim calcmode="lin" valueType="num">
                                      <p:cBhvr>
                                        <p:cTn id="183" dur="500" decel="100000" fill="hold"/>
                                        <p:tgtEl>
                                          <p:spTgt spid="39"/>
                                        </p:tgtEl>
                                        <p:attrNameLst>
                                          <p:attrName>ppt_h</p:attrName>
                                        </p:attrNameLst>
                                      </p:cBhvr>
                                      <p:tavLst>
                                        <p:tav tm="0">
                                          <p:val>
                                            <p:fltVal val="0"/>
                                          </p:val>
                                        </p:tav>
                                        <p:tav tm="100000">
                                          <p:val>
                                            <p:strVal val="#ppt_h"/>
                                          </p:val>
                                        </p:tav>
                                      </p:tavLst>
                                    </p:anim>
                                    <p:animEffect transition="in" filter="fade">
                                      <p:cBhvr>
                                        <p:cTn id="184" dur="500"/>
                                        <p:tgtEl>
                                          <p:spTgt spid="39"/>
                                        </p:tgtEl>
                                      </p:cBhvr>
                                    </p:animEffect>
                                  </p:childTnLst>
                                </p:cTn>
                              </p:par>
                              <p:par>
                                <p:cTn id="188" presetID="22" presetClass="entr" presetSubtype="8" grpId="0" fill="hold" nodeType="withEffect">
                                  <p:stCondLst>
                                    <p:cond delay="1850"/>
                                  </p:stCondLst>
                                  <p:childTnLst>
                                    <p:set>
                                      <p:cBhvr>
                                        <p:cTn id="186" dur="1" fill="hold">
                                          <p:stCondLst>
                                            <p:cond delay="0"/>
                                          </p:stCondLst>
                                        </p:cTn>
                                        <p:tgtEl>
                                          <p:spTgt spid="44"/>
                                        </p:tgtEl>
                                        <p:attrNameLst>
                                          <p:attrName>style.visibility</p:attrName>
                                        </p:attrNameLst>
                                      </p:cBhvr>
                                      <p:to>
                                        <p:strVal val="visible"/>
                                      </p:to>
                                    </p:set>
                                    <p:animEffect transition="in" filter="wipe(left)">
                                      <p:cBhvr>
                                        <p:cTn id="187" dur="550"/>
                                        <p:tgtEl>
                                          <p:spTgt spid="44"/>
                                        </p:tgtEl>
                                      </p:cBhvr>
                                    </p:animEffect>
                                  </p:childTnLst>
                                </p:cTn>
                              </p:par>
                              <p:par>
                                <p:cTn id="191" presetID="22" presetClass="entr" presetSubtype="8" grpId="0" fill="hold" nodeType="withEffect">
                                  <p:stCondLst>
                                    <p:cond delay="2050"/>
                                  </p:stCondLst>
                                  <p:childTnLst>
                                    <p:set>
                                      <p:cBhvr>
                                        <p:cTn id="189" dur="1" fill="hold">
                                          <p:stCondLst>
                                            <p:cond delay="0"/>
                                          </p:stCondLst>
                                        </p:cTn>
                                        <p:tgtEl>
                                          <p:spTgt spid="10"/>
                                        </p:tgtEl>
                                        <p:attrNameLst>
                                          <p:attrName>style.visibility</p:attrName>
                                        </p:attrNameLst>
                                      </p:cBhvr>
                                      <p:to>
                                        <p:strVal val="visible"/>
                                      </p:to>
                                    </p:set>
                                    <p:animEffect transition="in" filter="wipe(left)">
                                      <p:cBhvr>
                                        <p:cTn id="190" dur="550"/>
                                        <p:tgtEl>
                                          <p:spTgt spid="10"/>
                                        </p:tgtEl>
                                      </p:cBhvr>
                                    </p:animEffect>
                                  </p:childTnLst>
                                </p:cTn>
                              </p:par>
                              <p:par>
                                <p:cTn id="194" presetID="22" presetClass="entr" presetSubtype="8" grpId="0" fill="hold" nodeType="withEffect">
                                  <p:stCondLst>
                                    <p:cond delay="2050"/>
                                  </p:stCondLst>
                                  <p:childTnLst>
                                    <p:set>
                                      <p:cBhvr>
                                        <p:cTn id="192" dur="1" fill="hold">
                                          <p:stCondLst>
                                            <p:cond delay="0"/>
                                          </p:stCondLst>
                                        </p:cTn>
                                        <p:tgtEl>
                                          <p:spTgt spid="11"/>
                                        </p:tgtEl>
                                        <p:attrNameLst>
                                          <p:attrName>style.visibility</p:attrName>
                                        </p:attrNameLst>
                                      </p:cBhvr>
                                      <p:to>
                                        <p:strVal val="visible"/>
                                      </p:to>
                                    </p:set>
                                    <p:animEffect transition="in" filter="wipe(left)">
                                      <p:cBhvr>
                                        <p:cTn id="193" dur="550"/>
                                        <p:tgtEl>
                                          <p:spTgt spid="11"/>
                                        </p:tgtEl>
                                      </p:cBhvr>
                                    </p:animEffect>
                                  </p:childTnLst>
                                </p:cTn>
                              </p:par>
                              <p:par>
                                <p:cTn id="197" presetID="22" presetClass="entr" presetSubtype="8" grpId="0" fill="hold" nodeType="withEffect">
                                  <p:stCondLst>
                                    <p:cond delay="2210"/>
                                  </p:stCondLst>
                                  <p:childTnLst>
                                    <p:set>
                                      <p:cBhvr>
                                        <p:cTn id="195" dur="1" fill="hold">
                                          <p:stCondLst>
                                            <p:cond delay="0"/>
                                          </p:stCondLst>
                                        </p:cTn>
                                        <p:tgtEl>
                                          <p:spTgt spid="18"/>
                                        </p:tgtEl>
                                        <p:attrNameLst>
                                          <p:attrName>style.visibility</p:attrName>
                                        </p:attrNameLst>
                                      </p:cBhvr>
                                      <p:to>
                                        <p:strVal val="visible"/>
                                      </p:to>
                                    </p:set>
                                    <p:animEffect transition="in" filter="wipe(left)">
                                      <p:cBhvr>
                                        <p:cTn id="196" dur="550"/>
                                        <p:tgtEl>
                                          <p:spTgt spid="18"/>
                                        </p:tgtEl>
                                      </p:cBhvr>
                                    </p:animEffect>
                                  </p:childTnLst>
                                </p:cTn>
                              </p:par>
                              <p:par>
                                <p:cTn id="200" presetID="22" presetClass="entr" presetSubtype="8" grpId="0" fill="hold" nodeType="withEffect">
                                  <p:stCondLst>
                                    <p:cond delay="2210"/>
                                  </p:stCondLst>
                                  <p:childTnLst>
                                    <p:set>
                                      <p:cBhvr>
                                        <p:cTn id="198" dur="1" fill="hold">
                                          <p:stCondLst>
                                            <p:cond delay="0"/>
                                          </p:stCondLst>
                                        </p:cTn>
                                        <p:tgtEl>
                                          <p:spTgt spid="19"/>
                                        </p:tgtEl>
                                        <p:attrNameLst>
                                          <p:attrName>style.visibility</p:attrName>
                                        </p:attrNameLst>
                                      </p:cBhvr>
                                      <p:to>
                                        <p:strVal val="visible"/>
                                      </p:to>
                                    </p:set>
                                    <p:animEffect transition="in" filter="wipe(left)">
                                      <p:cBhvr>
                                        <p:cTn id="199" dur="550"/>
                                        <p:tgtEl>
                                          <p:spTgt spid="19"/>
                                        </p:tgtEl>
                                      </p:cBhvr>
                                    </p:animEffect>
                                  </p:childTnLst>
                                </p:cTn>
                              </p:par>
                              <p:par>
                                <p:cTn id="203" presetID="22" presetClass="entr" presetSubtype="8" grpId="0" fill="hold" nodeType="withEffect">
                                  <p:stCondLst>
                                    <p:cond delay="2370"/>
                                  </p:stCondLst>
                                  <p:childTnLst>
                                    <p:set>
                                      <p:cBhvr>
                                        <p:cTn id="201" dur="1" fill="hold">
                                          <p:stCondLst>
                                            <p:cond delay="0"/>
                                          </p:stCondLst>
                                        </p:cTn>
                                        <p:tgtEl>
                                          <p:spTgt spid="26"/>
                                        </p:tgtEl>
                                        <p:attrNameLst>
                                          <p:attrName>style.visibility</p:attrName>
                                        </p:attrNameLst>
                                      </p:cBhvr>
                                      <p:to>
                                        <p:strVal val="visible"/>
                                      </p:to>
                                    </p:set>
                                    <p:animEffect transition="in" filter="wipe(left)">
                                      <p:cBhvr>
                                        <p:cTn id="202" dur="550"/>
                                        <p:tgtEl>
                                          <p:spTgt spid="26"/>
                                        </p:tgtEl>
                                      </p:cBhvr>
                                    </p:animEffect>
                                  </p:childTnLst>
                                </p:cTn>
                              </p:par>
                              <p:par>
                                <p:cTn id="206" presetID="22" presetClass="entr" presetSubtype="8" grpId="0" fill="hold" nodeType="withEffect">
                                  <p:stCondLst>
                                    <p:cond delay="2370"/>
                                  </p:stCondLst>
                                  <p:childTnLst>
                                    <p:set>
                                      <p:cBhvr>
                                        <p:cTn id="204" dur="1" fill="hold">
                                          <p:stCondLst>
                                            <p:cond delay="0"/>
                                          </p:stCondLst>
                                        </p:cTn>
                                        <p:tgtEl>
                                          <p:spTgt spid="27"/>
                                        </p:tgtEl>
                                        <p:attrNameLst>
                                          <p:attrName>style.visibility</p:attrName>
                                        </p:attrNameLst>
                                      </p:cBhvr>
                                      <p:to>
                                        <p:strVal val="visible"/>
                                      </p:to>
                                    </p:set>
                                    <p:animEffect transition="in" filter="wipe(left)">
                                      <p:cBhvr>
                                        <p:cTn id="205" dur="550"/>
                                        <p:tgtEl>
                                          <p:spTgt spid="27"/>
                                        </p:tgtEl>
                                      </p:cBhvr>
                                    </p:animEffect>
                                  </p:childTnLst>
                                </p:cTn>
                              </p:par>
                              <p:par>
                                <p:cTn id="209" presetID="22" presetClass="entr" presetSubtype="8" grpId="0" fill="hold" nodeType="withEffect">
                                  <p:stCondLst>
                                    <p:cond delay="2530"/>
                                  </p:stCondLst>
                                  <p:childTnLst>
                                    <p:set>
                                      <p:cBhvr>
                                        <p:cTn id="207" dur="1" fill="hold">
                                          <p:stCondLst>
                                            <p:cond delay="0"/>
                                          </p:stCondLst>
                                        </p:cTn>
                                        <p:tgtEl>
                                          <p:spTgt spid="34"/>
                                        </p:tgtEl>
                                        <p:attrNameLst>
                                          <p:attrName>style.visibility</p:attrName>
                                        </p:attrNameLst>
                                      </p:cBhvr>
                                      <p:to>
                                        <p:strVal val="visible"/>
                                      </p:to>
                                    </p:set>
                                    <p:animEffect transition="in" filter="wipe(left)">
                                      <p:cBhvr>
                                        <p:cTn id="208" dur="550"/>
                                        <p:tgtEl>
                                          <p:spTgt spid="34"/>
                                        </p:tgtEl>
                                      </p:cBhvr>
                                    </p:animEffect>
                                  </p:childTnLst>
                                </p:cTn>
                              </p:par>
                              <p:par>
                                <p:cTn id="212" presetID="22" presetClass="entr" presetSubtype="8" grpId="0" fill="hold" nodeType="withEffect">
                                  <p:stCondLst>
                                    <p:cond delay="2530"/>
                                  </p:stCondLst>
                                  <p:childTnLst>
                                    <p:set>
                                      <p:cBhvr>
                                        <p:cTn id="210" dur="1" fill="hold">
                                          <p:stCondLst>
                                            <p:cond delay="0"/>
                                          </p:stCondLst>
                                        </p:cTn>
                                        <p:tgtEl>
                                          <p:spTgt spid="35"/>
                                        </p:tgtEl>
                                        <p:attrNameLst>
                                          <p:attrName>style.visibility</p:attrName>
                                        </p:attrNameLst>
                                      </p:cBhvr>
                                      <p:to>
                                        <p:strVal val="visible"/>
                                      </p:to>
                                    </p:set>
                                    <p:animEffect transition="in" filter="wipe(left)">
                                      <p:cBhvr>
                                        <p:cTn id="211" dur="550"/>
                                        <p:tgtEl>
                                          <p:spTgt spid="35"/>
                                        </p:tgtEl>
                                      </p:cBhvr>
                                    </p:animEffect>
                                  </p:childTnLst>
                                </p:cTn>
                              </p:par>
                              <p:par>
                                <p:cTn id="215" presetID="22" presetClass="entr" presetSubtype="8" grpId="0" fill="hold" nodeType="withEffect">
                                  <p:stCondLst>
                                    <p:cond delay="2690"/>
                                  </p:stCondLst>
                                  <p:childTnLst>
                                    <p:set>
                                      <p:cBhvr>
                                        <p:cTn id="213" dur="1" fill="hold">
                                          <p:stCondLst>
                                            <p:cond delay="0"/>
                                          </p:stCondLst>
                                        </p:cTn>
                                        <p:tgtEl>
                                          <p:spTgt spid="42"/>
                                        </p:tgtEl>
                                        <p:attrNameLst>
                                          <p:attrName>style.visibility</p:attrName>
                                        </p:attrNameLst>
                                      </p:cBhvr>
                                      <p:to>
                                        <p:strVal val="visible"/>
                                      </p:to>
                                    </p:set>
                                    <p:animEffect transition="in" filter="wipe(left)">
                                      <p:cBhvr>
                                        <p:cTn id="214" dur="550"/>
                                        <p:tgtEl>
                                          <p:spTgt spid="42"/>
                                        </p:tgtEl>
                                      </p:cBhvr>
                                    </p:animEffect>
                                  </p:childTnLst>
                                </p:cTn>
                              </p:par>
                              <p:par>
                                <p:cTn id="218" presetID="22" presetClass="entr" presetSubtype="8" grpId="0" fill="hold" nodeType="withEffect">
                                  <p:stCondLst>
                                    <p:cond delay="2690"/>
                                  </p:stCondLst>
                                  <p:childTnLst>
                                    <p:set>
                                      <p:cBhvr>
                                        <p:cTn id="216" dur="1" fill="hold">
                                          <p:stCondLst>
                                            <p:cond delay="0"/>
                                          </p:stCondLst>
                                        </p:cTn>
                                        <p:tgtEl>
                                          <p:spTgt spid="43"/>
                                        </p:tgtEl>
                                        <p:attrNameLst>
                                          <p:attrName>style.visibility</p:attrName>
                                        </p:attrNameLst>
                                      </p:cBhvr>
                                      <p:to>
                                        <p:strVal val="visible"/>
                                      </p:to>
                                    </p:set>
                                    <p:animEffect transition="in" filter="wipe(left)">
                                      <p:cBhvr>
                                        <p:cTn id="217" dur="5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7" grpId="0" animBg="1"/>
      <p:bldP spid="8"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P spid="4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C94A10"/>
                </a:solidFill>
              </a:rPr>
              <a:t>THE NEXT 30 DAYS</a:t>
            </a:r>
            <a:endParaRPr lang="en-US" sz="1200" dirty="0"/>
          </a:p>
        </p:txBody>
      </p:sp>
      <p:sp>
        <p:nvSpPr>
          <p:cNvPr id="3" name="Text 0"/>
          <p:cNvSpPr/>
          <p:nvPr>
            <p:ph idx="100" type="title" hasCustomPrompt="1"/>
          </p:nvPr>
        </p:nvSpPr>
        <p:spPr>
          <a:xfrm>
            <a:off x="548640" y="74980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latin typeface="Calibri" pitchFamily="34" charset="0"/>
                <a:ea typeface="Calibri" pitchFamily="34" charset="-122"/>
                <a:cs typeface="Calibri" pitchFamily="34" charset="-120"/>
              </a:rPr>
              <a:t>Keep Ammar at the 33 target every week</a:t>
            </a:r>
            <a:endParaRPr lang="en-US" sz="3200" dirty="0"/>
          </a:p>
        </p:txBody>
      </p:sp>
      <p:sp>
        <p:nvSpPr>
          <p:cNvPr id="4" name="Stat card"/>
          <p:cNvSpPr/>
          <p:nvPr/>
        </p:nvSpPr>
        <p:spPr>
          <a:xfrm>
            <a:off x="548640" y="1691640"/>
            <a:ext cx="3515258" cy="1325880"/>
          </a:xfrm>
          <a:prstGeom prst="roundRect">
            <a:avLst>
              <a:gd name="adj" fmla="val 10345"/>
            </a:avLst>
          </a:prstGeom>
          <a:solidFill>
            <a:srgbClr val="FFFFFF"/>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5" name="Stat number"/>
          <p:cNvSpPr txBox="1"/>
          <p:nvPr/>
        </p:nvSpPr>
        <p:spPr>
          <a:xfrm>
            <a:off x="822960" y="1828800"/>
            <a:ext cx="2966618" cy="621792"/>
          </a:xfrm>
          <a:prstGeom prst="rect">
            <a:avLst/>
          </a:prstGeom>
          <a:noFill/>
          <a:ln/>
        </p:spPr>
        <p:txBody>
          <a:bodyPr wrap="square" lIns="0" tIns="0" rIns="0" bIns="0" rtlCol="0" anchor="ctr"/>
          <a:lstStyle/>
          <a:p>
            <a:pPr indent="0" marL="0">
              <a:buNone/>
            </a:pPr>
            <a:r>
              <a:rPr lang="en-US" sz="3600" b="1" dirty="0">
                <a:solidFill>
                  <a:srgbClr val="1E7F5C"/>
                </a:solidFill>
              </a:rPr>
              <a:t>4 promoters</a:t>
            </a:r>
            <a:endParaRPr lang="en-US" sz="3600" dirty="0"/>
          </a:p>
        </p:txBody>
      </p:sp>
      <p:sp>
        <p:nvSpPr>
          <p:cNvPr id="6" name="Paragraph"/>
          <p:cNvSpPr txBox="1"/>
          <p:nvPr/>
        </p:nvSpPr>
        <p:spPr>
          <a:xfrm>
            <a:off x="822960" y="2496312"/>
            <a:ext cx="2966618" cy="41148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and 2 detractors last week, up from 1 and 5 the week before</a:t>
            </a:r>
            <a:endParaRPr lang="en-US" sz="1250" dirty="0"/>
          </a:p>
        </p:txBody>
      </p:sp>
      <p:sp>
        <p:nvSpPr>
          <p:cNvPr id="7" name="Stat card"/>
          <p:cNvSpPr/>
          <p:nvPr/>
        </p:nvSpPr>
        <p:spPr>
          <a:xfrm>
            <a:off x="4338218" y="1691640"/>
            <a:ext cx="3515258" cy="1325880"/>
          </a:xfrm>
          <a:prstGeom prst="roundRect">
            <a:avLst>
              <a:gd name="adj" fmla="val 10345"/>
            </a:avLst>
          </a:prstGeom>
          <a:solidFill>
            <a:srgbClr val="FFFFFF"/>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8" name="Stat number"/>
          <p:cNvSpPr txBox="1"/>
          <p:nvPr/>
        </p:nvSpPr>
        <p:spPr>
          <a:xfrm>
            <a:off x="4612538" y="1828800"/>
            <a:ext cx="2966618" cy="621792"/>
          </a:xfrm>
          <a:prstGeom prst="rect">
            <a:avLst/>
          </a:prstGeom>
          <a:noFill/>
          <a:ln/>
        </p:spPr>
        <p:txBody>
          <a:bodyPr wrap="square" lIns="0" tIns="0" rIns="0" bIns="0" rtlCol="0" anchor="ctr"/>
          <a:lstStyle/>
          <a:p>
            <a:pPr indent="0" marL="0">
              <a:buNone/>
            </a:pPr>
            <a:r>
              <a:rPr lang="en-US" sz="3600" b="1" dirty="0">
                <a:solidFill>
                  <a:srgbClr val="1E7F5C"/>
                </a:solidFill>
              </a:rPr>
              <a:t>−66.7 → 33.3</a:t>
            </a:r>
            <a:endParaRPr lang="en-US" sz="3600" dirty="0"/>
          </a:p>
        </p:txBody>
      </p:sp>
      <p:sp>
        <p:nvSpPr>
          <p:cNvPr id="9" name="Paragraph"/>
          <p:cNvSpPr txBox="1"/>
          <p:nvPr/>
        </p:nvSpPr>
        <p:spPr>
          <a:xfrm>
            <a:off x="4612538" y="2496312"/>
            <a:ext cx="2966618" cy="41148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his tNPS week over week, now at the 33 target</a:t>
            </a:r>
            <a:endParaRPr lang="en-US" sz="1250" dirty="0"/>
          </a:p>
        </p:txBody>
      </p:sp>
      <p:sp>
        <p:nvSpPr>
          <p:cNvPr id="10" name="Stat card"/>
          <p:cNvSpPr/>
          <p:nvPr/>
        </p:nvSpPr>
        <p:spPr>
          <a:xfrm>
            <a:off x="8127797" y="1691640"/>
            <a:ext cx="3515258" cy="1325880"/>
          </a:xfrm>
          <a:prstGeom prst="roundRect">
            <a:avLst>
              <a:gd name="adj" fmla="val 10345"/>
            </a:avLst>
          </a:prstGeom>
          <a:solidFill>
            <a:srgbClr val="FFFFFF"/>
          </a:solidFill>
          <a:ln w="9525">
            <a:solidFill>
              <a:srgbClr val="E3DED7"/>
            </a:solidFill>
            <a:prstDash val="solid"/>
          </a:ln>
          <a:effectLst>
            <a:outerShdw sx="100000" sy="100000" kx="0" ky="0" algn="bl" rotWithShape="0" blurRad="76200" dist="25400" dir="5400000">
              <a:srgbClr val="000000">
                <a:alpha val="8000"/>
              </a:srgbClr>
            </a:outerShdw>
          </a:effectLst>
        </p:spPr>
      </p:sp>
      <p:sp>
        <p:nvSpPr>
          <p:cNvPr id="11" name="Stat number"/>
          <p:cNvSpPr txBox="1"/>
          <p:nvPr/>
        </p:nvSpPr>
        <p:spPr>
          <a:xfrm>
            <a:off x="8402117" y="1828800"/>
            <a:ext cx="2966618" cy="621792"/>
          </a:xfrm>
          <a:prstGeom prst="rect">
            <a:avLst/>
          </a:prstGeom>
          <a:noFill/>
          <a:ln/>
        </p:spPr>
        <p:txBody>
          <a:bodyPr wrap="square" lIns="0" tIns="0" rIns="0" bIns="0" rtlCol="0" anchor="ctr"/>
          <a:lstStyle/>
          <a:p>
            <a:pPr indent="0" marL="0">
              <a:buNone/>
            </a:pPr>
            <a:r>
              <a:rPr lang="en-US" sz="3600" b="1" dirty="0">
                <a:solidFill>
                  <a:srgbClr val="C94A10"/>
                </a:solidFill>
              </a:rPr>
              <a:t>3 steps</a:t>
            </a:r>
            <a:endParaRPr lang="en-US" sz="3600" dirty="0"/>
          </a:p>
        </p:txBody>
      </p:sp>
      <p:sp>
        <p:nvSpPr>
          <p:cNvPr id="12" name="Paragraph"/>
          <p:cNvSpPr txBox="1"/>
          <p:nvPr/>
        </p:nvSpPr>
        <p:spPr>
          <a:xfrm>
            <a:off x="8402117" y="2496312"/>
            <a:ext cx="2966618" cy="411480"/>
          </a:xfrm>
          <a:prstGeom prst="rect">
            <a:avLst/>
          </a:prstGeom>
          <a:noFill/>
          <a:ln/>
        </p:spPr>
        <p:txBody>
          <a:bodyPr wrap="square" lIns="0" tIns="0" rIns="0" bIns="0" rtlCol="0" anchor="t"/>
          <a:lstStyle/>
          <a:p>
            <a:pPr indent="0" marL="0">
              <a:spcAft>
                <a:spcPts val="400"/>
              </a:spcAft>
              <a:buNone/>
            </a:pPr>
            <a:r>
              <a:rPr lang="en-US" sz="1250" dirty="0">
                <a:solidFill>
                  <a:srgbClr val="3D4453"/>
                </a:solidFill>
              </a:rPr>
              <a:t>two behaviors a week, then a full review in week 4</a:t>
            </a:r>
            <a:endParaRPr lang="en-US" sz="1250" dirty="0"/>
          </a:p>
        </p:txBody>
      </p:sp>
      <p:sp>
        <p:nvSpPr>
          <p:cNvPr id="13" name="Goals card"/>
          <p:cNvSpPr/>
          <p:nvPr/>
        </p:nvSpPr>
        <p:spPr>
          <a:xfrm>
            <a:off x="548640" y="3291840"/>
            <a:ext cx="4343400" cy="2834640"/>
          </a:xfrm>
          <a:prstGeom prst="roundRect">
            <a:avLst>
              <a:gd name="adj" fmla="val 4839"/>
            </a:avLst>
          </a:prstGeom>
          <a:solidFill>
            <a:srgbClr val="F6F3EE"/>
          </a:solidFill>
          <a:ln/>
        </p:spPr>
      </p:sp>
      <p:sp>
        <p:nvSpPr>
          <p:cNvPr id="14" name="Icon circle"/>
          <p:cNvSpPr/>
          <p:nvPr/>
        </p:nvSpPr>
        <p:spPr>
          <a:xfrm>
            <a:off x="777240" y="3493008"/>
            <a:ext cx="457200" cy="457200"/>
          </a:xfrm>
          <a:prstGeom prst="ellipse">
            <a:avLst/>
          </a:prstGeom>
          <a:solidFill>
            <a:srgbClr val="FDE9DF"/>
          </a:solidFill>
          <a:ln/>
        </p:spPr>
      </p:sp>
      <p:pic>
        <p:nvPicPr>
          <p:cNvPr id="15" name="Icon" descr="preencoded.png">    </p:cNvPr>
          <p:cNvPicPr>
            <a:picLocks noChangeAspect="1"/>
          </p:cNvPicPr>
          <p:nvPr/>
        </p:nvPicPr>
        <p:blipFill>
          <a:blip r:embed="rId1"/>
          <a:stretch>
            <a:fillRect/>
          </a:stretch>
        </p:blipFill>
        <p:spPr>
          <a:xfrm>
            <a:off x="886968" y="3602736"/>
            <a:ext cx="237744" cy="237744"/>
          </a:xfrm>
          <a:prstGeom prst="rect">
            <a:avLst/>
          </a:prstGeom>
        </p:spPr>
      </p:pic>
      <p:sp>
        <p:nvSpPr>
          <p:cNvPr id="16" name="Goals heading"/>
          <p:cNvSpPr txBox="1"/>
          <p:nvPr/>
        </p:nvSpPr>
        <p:spPr>
          <a:xfrm>
            <a:off x="1371600" y="3538728"/>
            <a:ext cx="3337560" cy="365760"/>
          </a:xfrm>
          <a:prstGeom prst="rect">
            <a:avLst/>
          </a:prstGeom>
          <a:noFill/>
          <a:ln/>
        </p:spPr>
        <p:txBody>
          <a:bodyPr wrap="square" lIns="0" tIns="0" rIns="0" bIns="0" rtlCol="0" anchor="ctr"/>
          <a:lstStyle/>
          <a:p>
            <a:pPr indent="0" marL="0">
              <a:buNone/>
            </a:pPr>
            <a:r>
              <a:rPr lang="en-US" sz="1600" b="1" dirty="0">
                <a:solidFill>
                  <a:srgbClr val="121826"/>
                </a:solidFill>
              </a:rPr>
              <a:t>Measurable goals</a:t>
            </a:r>
            <a:endParaRPr lang="en-US" sz="1600" dirty="0"/>
          </a:p>
        </p:txBody>
      </p:sp>
      <p:graphicFrame>
        <p:nvGraphicFramePr>
          <p:cNvPr id="17" name="Goals table"/>
          <p:cNvGraphicFramePr>
            <a:graphicFrameLocks noGrp="1"/>
          </p:cNvGraphicFramePr>
          <p:nvPr>
            <p:extLst>
              <p:ext uri="{D42A27DB-BD31-4B8C-83A1-F6EECF244321}">
                <p14:modId xmlns:p14="http://schemas.microsoft.com/office/powerpoint/2010/main" val="1579011935"/>
              </p:ext>
            </p:extLst>
          </p:nvPr>
        </p:nvGraphicFramePr>
        <p:xfrm>
          <a:off x="777240" y="4069080"/>
          <a:ext cx="3886200" cy="914400"/>
        </p:xfrm>
        <a:graphic>
          <a:graphicData uri="http://schemas.openxmlformats.org/drawingml/2006/table">
            <a:tbl>
              <a:tblPr/>
              <a:tblGrid>
                <a:gridCol w="1143000"/>
                <a:gridCol w="731520"/>
                <a:gridCol w="2011680"/>
              </a:tblGrid>
              <a:tr h="329184">
                <a:tc>
                  <a:txBody>
                    <a:bodyPr/>
                    <a:lstStyle/>
                    <a:p>
                      <a:pPr algn="l" indent="0" marL="0">
                        <a:buNone/>
                      </a:pPr>
                      <a:r>
                        <a:rPr lang="en-US" sz="1050" b="1" dirty="0">
                          <a:solidFill>
                            <a:srgbClr val="6B7280"/>
                          </a:solidFill>
                          <a:latin typeface="Calibri" pitchFamily="34" charset="0"/>
                          <a:ea typeface="Calibri" pitchFamily="34" charset="-122"/>
                          <a:cs typeface="Calibri" pitchFamily="34" charset="-120"/>
                        </a:rPr>
                        <a:t>KPI</a:t>
                      </a:r>
                      <a:endParaRPr lang="en-US" sz="10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algn="l" indent="0" marL="0">
                        <a:buNone/>
                      </a:pPr>
                      <a:r>
                        <a:rPr lang="en-US" sz="1050" b="1" dirty="0">
                          <a:solidFill>
                            <a:srgbClr val="6B7280"/>
                          </a:solidFill>
                          <a:latin typeface="Calibri" pitchFamily="34" charset="0"/>
                          <a:ea typeface="Calibri" pitchFamily="34" charset="-122"/>
                          <a:cs typeface="Calibri" pitchFamily="34" charset="-120"/>
                        </a:rPr>
                        <a:t>Now</a:t>
                      </a:r>
                      <a:endParaRPr lang="en-US" sz="10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algn="l" indent="0" marL="0">
                        <a:buNone/>
                      </a:pPr>
                      <a:r>
                        <a:rPr lang="en-US" sz="1050" b="1" dirty="0">
                          <a:solidFill>
                            <a:srgbClr val="6B7280"/>
                          </a:solidFill>
                          <a:latin typeface="Calibri" pitchFamily="34" charset="0"/>
                          <a:ea typeface="Calibri" pitchFamily="34" charset="-122"/>
                          <a:cs typeface="Calibri" pitchFamily="34" charset="-120"/>
                        </a:rPr>
                        <a:t>Goal</a:t>
                      </a:r>
                      <a:endParaRPr lang="en-US" sz="10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r>
              <a:tr h="329184">
                <a:tc>
                  <a:txBody>
                    <a:bodyPr/>
                    <a:lstStyle/>
                    <a:p>
                      <a:pPr indent="0" marL="0">
                        <a:buNone/>
                      </a:pPr>
                      <a:r>
                        <a:rPr lang="en-US" sz="1250" b="1" dirty="0">
                          <a:solidFill>
                            <a:srgbClr val="121826"/>
                          </a:solidFill>
                          <a:latin typeface="Calibri" pitchFamily="34" charset="0"/>
                          <a:ea typeface="Calibri" pitchFamily="34" charset="-122"/>
                          <a:cs typeface="Calibri" pitchFamily="34" charset="-120"/>
                        </a:rPr>
                        <a:t>tNPS</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b="1" dirty="0">
                          <a:solidFill>
                            <a:srgbClr val="1E7F5C"/>
                          </a:solidFill>
                          <a:latin typeface="Calibri" pitchFamily="34" charset="0"/>
                          <a:ea typeface="Calibri" pitchFamily="34" charset="-122"/>
                          <a:cs typeface="Calibri" pitchFamily="34" charset="-120"/>
                        </a:rPr>
                        <a:t>33.3</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dirty="0">
                          <a:solidFill>
                            <a:srgbClr val="3D4453"/>
                          </a:solidFill>
                          <a:latin typeface="Calibri" pitchFamily="34" charset="0"/>
                          <a:ea typeface="Calibri" pitchFamily="34" charset="-122"/>
                          <a:cs typeface="Calibri" pitchFamily="34" charset="-120"/>
                        </a:rPr>
                        <a:t>33 or better every week</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r>
              <a:tr h="329184">
                <a:tc>
                  <a:txBody>
                    <a:bodyPr/>
                    <a:lstStyle/>
                    <a:p>
                      <a:pPr indent="0" marL="0">
                        <a:buNone/>
                      </a:pPr>
                      <a:r>
                        <a:rPr lang="en-US" sz="1250" b="1" dirty="0">
                          <a:solidFill>
                            <a:srgbClr val="121826"/>
                          </a:solidFill>
                          <a:latin typeface="Calibri" pitchFamily="34" charset="0"/>
                          <a:ea typeface="Calibri" pitchFamily="34" charset="-122"/>
                          <a:cs typeface="Calibri" pitchFamily="34" charset="-120"/>
                        </a:rPr>
                        <a:t>Detractors</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b="1" dirty="0">
                          <a:solidFill>
                            <a:srgbClr val="B42318"/>
                          </a:solidFill>
                          <a:latin typeface="Calibri" pitchFamily="34" charset="0"/>
                          <a:ea typeface="Calibri" pitchFamily="34" charset="-122"/>
                          <a:cs typeface="Calibri" pitchFamily="34" charset="-120"/>
                        </a:rPr>
                        <a:t>2</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dirty="0">
                          <a:solidFill>
                            <a:srgbClr val="3D4453"/>
                          </a:solidFill>
                          <a:latin typeface="Calibri" pitchFamily="34" charset="0"/>
                          <a:ea typeface="Calibri" pitchFamily="34" charset="-122"/>
                          <a:cs typeface="Calibri" pitchFamily="34" charset="-120"/>
                        </a:rPr>
                        <a:t>1 or fewer a week</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r>
              <a:tr h="329184">
                <a:tc>
                  <a:txBody>
                    <a:bodyPr/>
                    <a:lstStyle/>
                    <a:p>
                      <a:pPr indent="0" marL="0">
                        <a:buNone/>
                      </a:pPr>
                      <a:r>
                        <a:rPr lang="en-US" sz="1250" b="1" dirty="0">
                          <a:solidFill>
                            <a:srgbClr val="121826"/>
                          </a:solidFill>
                          <a:latin typeface="Calibri" pitchFamily="34" charset="0"/>
                          <a:ea typeface="Calibri" pitchFamily="34" charset="-122"/>
                          <a:cs typeface="Calibri" pitchFamily="34" charset="-120"/>
                        </a:rPr>
                        <a:t>aiCR</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b="1" dirty="0">
                          <a:solidFill>
                            <a:srgbClr val="B42318"/>
                          </a:solidFill>
                          <a:latin typeface="Calibri" pitchFamily="34" charset="0"/>
                          <a:ea typeface="Calibri" pitchFamily="34" charset="-122"/>
                          <a:cs typeface="Calibri" pitchFamily="34" charset="-120"/>
                        </a:rPr>
                        <a:t>61.3%</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dirty="0">
                          <a:solidFill>
                            <a:srgbClr val="3D4453"/>
                          </a:solidFill>
                          <a:latin typeface="Calibri" pitchFamily="34" charset="0"/>
                          <a:ea typeface="Calibri" pitchFamily="34" charset="-122"/>
                          <a:cs typeface="Calibri" pitchFamily="34" charset="-120"/>
                        </a:rPr>
                        <a:t>62% or higher</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r>
              <a:tr h="329184">
                <a:tc>
                  <a:txBody>
                    <a:bodyPr/>
                    <a:lstStyle/>
                    <a:p>
                      <a:pPr indent="0" marL="0">
                        <a:buNone/>
                      </a:pPr>
                      <a:r>
                        <a:rPr lang="en-US" sz="1250" b="1" dirty="0">
                          <a:solidFill>
                            <a:srgbClr val="121826"/>
                          </a:solidFill>
                          <a:latin typeface="Calibri" pitchFamily="34" charset="0"/>
                          <a:ea typeface="Calibri" pitchFamily="34" charset="-122"/>
                          <a:cs typeface="Calibri" pitchFamily="34" charset="-120"/>
                        </a:rPr>
                        <a:t>Behaviors</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c>
                  <a:txBody>
                    <a:bodyPr/>
                    <a:lstStyle/>
                    <a:p>
                      <a:pPr indent="0" marL="0">
                        <a:buNone/>
                      </a:pPr>
                      <a:r>
                        <a:rPr lang="en-US" sz="1250" dirty="0">
                          <a:solidFill>
                            <a:srgbClr val="3D4453"/>
                          </a:solidFill>
                          <a:latin typeface="Calibri" pitchFamily="34" charset="0"/>
                          <a:ea typeface="Calibri" pitchFamily="34" charset="-122"/>
                          <a:cs typeface="Calibri" pitchFamily="34" charset="-120"/>
                        </a:rPr>
                        <a:t>Each step on 3 of 3 reviewed calls</a:t>
                      </a:r>
                      <a:endParaRPr lang="en-US" sz="1250" dirty="0">
                        <a:latin typeface="Calibri" charset="0"/>
                        <a:ea typeface="Calibri" charset="0"/>
                        <a:cs typeface="Calibri" charset="0"/>
                      </a:endParaRPr>
                    </a:p>
                  </a:txBody>
                  <a:tcPr marL="0" marR="54864" marT="27432" marB="27432">
                    <a:lnL w="0" cap="flat" cmpd="sng" algn="ctr">
                      <a:noFill/>
                    </a:lnL>
                    <a:lnR w="0" cap="flat" cmpd="sng" algn="ctr">
                      <a:noFill/>
                    </a:lnR>
                    <a:lnT w="0" cap="flat" cmpd="sng" algn="ctr">
                      <a:noFill/>
                    </a:lnT>
                    <a:lnB w="9525" cap="flat" cmpd="sng" algn="ctr">
                      <a:solidFill>
                        <a:srgbClr val="E3DED7"/>
                      </a:solidFill>
                      <a:prstDash val="solid"/>
                      <a:round/>
                      <a:headEnd type="none" w="med" len="med"/>
                      <a:tailEnd type="none" w="med" len="med"/>
                    </a:lnB>
                  </a:tcPr>
                </a:tc>
              </a:tr>
            </a:tbl>
          </a:graphicData>
        </a:graphic>
      </p:graphicFrame>
      <p:sp>
        <p:nvSpPr>
          <p:cNvPr id="18" name="Cadence card"/>
          <p:cNvSpPr/>
          <p:nvPr/>
        </p:nvSpPr>
        <p:spPr>
          <a:xfrm>
            <a:off x="5166360" y="3291840"/>
            <a:ext cx="3611880" cy="2834640"/>
          </a:xfrm>
          <a:prstGeom prst="roundRect">
            <a:avLst>
              <a:gd name="adj" fmla="val 4839"/>
            </a:avLst>
          </a:prstGeom>
          <a:solidFill>
            <a:srgbClr val="F6F3EE"/>
          </a:solidFill>
          <a:ln/>
        </p:spPr>
      </p:sp>
      <p:sp>
        <p:nvSpPr>
          <p:cNvPr id="19" name="Icon circle"/>
          <p:cNvSpPr/>
          <p:nvPr/>
        </p:nvSpPr>
        <p:spPr>
          <a:xfrm>
            <a:off x="5394960" y="3493008"/>
            <a:ext cx="457200" cy="457200"/>
          </a:xfrm>
          <a:prstGeom prst="ellipse">
            <a:avLst/>
          </a:prstGeom>
          <a:solidFill>
            <a:srgbClr val="FDE9DF"/>
          </a:solidFill>
          <a:ln/>
        </p:spPr>
      </p:sp>
      <p:pic>
        <p:nvPicPr>
          <p:cNvPr id="20" name="Icon" descr="preencoded.png">    </p:cNvPr>
          <p:cNvPicPr>
            <a:picLocks noChangeAspect="1"/>
          </p:cNvPicPr>
          <p:nvPr/>
        </p:nvPicPr>
        <p:blipFill>
          <a:blip r:embed="rId2"/>
          <a:stretch>
            <a:fillRect/>
          </a:stretch>
        </p:blipFill>
        <p:spPr>
          <a:xfrm>
            <a:off x="5504688" y="3602736"/>
            <a:ext cx="237744" cy="237744"/>
          </a:xfrm>
          <a:prstGeom prst="rect">
            <a:avLst/>
          </a:prstGeom>
        </p:spPr>
      </p:pic>
      <p:sp>
        <p:nvSpPr>
          <p:cNvPr id="21" name="Cadence heading"/>
          <p:cNvSpPr txBox="1"/>
          <p:nvPr/>
        </p:nvSpPr>
        <p:spPr>
          <a:xfrm>
            <a:off x="5989320" y="3538728"/>
            <a:ext cx="2606040" cy="365760"/>
          </a:xfrm>
          <a:prstGeom prst="rect">
            <a:avLst/>
          </a:prstGeom>
          <a:noFill/>
          <a:ln/>
        </p:spPr>
        <p:txBody>
          <a:bodyPr wrap="square" lIns="0" tIns="0" rIns="0" bIns="0" rtlCol="0" anchor="ctr"/>
          <a:lstStyle/>
          <a:p>
            <a:pPr indent="0" marL="0">
              <a:buNone/>
            </a:pPr>
            <a:r>
              <a:rPr lang="en-US" sz="1600" b="1" dirty="0">
                <a:solidFill>
                  <a:srgbClr val="121826"/>
                </a:solidFill>
              </a:rPr>
              <a:t>Weekly cadence</a:t>
            </a:r>
            <a:endParaRPr lang="en-US" sz="1600" dirty="0"/>
          </a:p>
        </p:txBody>
      </p:sp>
      <p:sp>
        <p:nvSpPr>
          <p:cNvPr id="22" name="Cadence list"/>
          <p:cNvSpPr txBox="1"/>
          <p:nvPr/>
        </p:nvSpPr>
        <p:spPr>
          <a:xfrm>
            <a:off x="5440680" y="4114800"/>
            <a:ext cx="3108960" cy="187452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3D4453"/>
                </a:solidFill>
              </a:rPr>
              <a:t>A 15 to 30 minute session every week</a:t>
            </a:r>
            <a:endParaRPr lang="en-US" sz="1250" dirty="0"/>
          </a:p>
          <a:p>
            <a:pPr marL="177800" indent="-177800">
              <a:spcAft>
                <a:spcPts val="500"/>
              </a:spcAft>
              <a:buSzPct val="100000"/>
              <a:buChar char="•"/>
            </a:pPr>
            <a:r>
              <a:rPr lang="en-US" sz="1250" dirty="0">
                <a:solidFill>
                  <a:srgbClr val="3D4453"/>
                </a:solidFill>
              </a:rPr>
              <a:t>2 calls a week, side by side</a:t>
            </a:r>
            <a:endParaRPr lang="en-US" sz="1250" dirty="0"/>
          </a:p>
          <a:p>
            <a:pPr marL="177800" indent="-177800">
              <a:spcAft>
                <a:spcPts val="500"/>
              </a:spcAft>
              <a:buSzPct val="100000"/>
              <a:buChar char="•"/>
            </a:pPr>
            <a:r>
              <a:rPr lang="en-US" sz="1250" dirty="0">
                <a:solidFill>
                  <a:srgbClr val="3D4453"/>
                </a:solidFill>
              </a:rPr>
              <a:t>His survey results reviewed with him the same week</a:t>
            </a:r>
            <a:endParaRPr lang="en-US" sz="1250" dirty="0"/>
          </a:p>
          <a:p>
            <a:pPr marL="177800" indent="-177800">
              <a:spcAft>
                <a:spcPts val="500"/>
              </a:spcAft>
              <a:buSzPct val="100000"/>
              <a:buChar char="•"/>
            </a:pPr>
            <a:r>
              <a:rPr lang="en-US" sz="1250" dirty="0">
                <a:solidFill>
                  <a:srgbClr val="3D4453"/>
                </a:solidFill>
              </a:rPr>
              <a:t>Week 4: full review, then complete, extend or adjust</a:t>
            </a:r>
            <a:endParaRPr lang="en-US" sz="1250" dirty="0"/>
          </a:p>
        </p:txBody>
      </p:sp>
      <p:sp>
        <p:nvSpPr>
          <p:cNvPr id="23" name="Asks card"/>
          <p:cNvSpPr/>
          <p:nvPr/>
        </p:nvSpPr>
        <p:spPr>
          <a:xfrm>
            <a:off x="9052560" y="3291840"/>
            <a:ext cx="2590495" cy="2834640"/>
          </a:xfrm>
          <a:prstGeom prst="roundRect">
            <a:avLst>
              <a:gd name="adj" fmla="val 5295"/>
            </a:avLst>
          </a:prstGeom>
          <a:solidFill>
            <a:srgbClr val="121826"/>
          </a:solidFill>
          <a:ln/>
        </p:spPr>
      </p:sp>
      <p:sp>
        <p:nvSpPr>
          <p:cNvPr id="24" name="Icon circle"/>
          <p:cNvSpPr/>
          <p:nvPr/>
        </p:nvSpPr>
        <p:spPr>
          <a:xfrm>
            <a:off x="9281160" y="3493008"/>
            <a:ext cx="457200" cy="457200"/>
          </a:xfrm>
          <a:prstGeom prst="ellipse">
            <a:avLst/>
          </a:prstGeom>
          <a:solidFill>
            <a:srgbClr val="F26522"/>
          </a:solidFill>
          <a:ln/>
        </p:spPr>
      </p:sp>
      <p:pic>
        <p:nvPicPr>
          <p:cNvPr id="25" name="Icon" descr="preencoded.png">    </p:cNvPr>
          <p:cNvPicPr>
            <a:picLocks noChangeAspect="1"/>
          </p:cNvPicPr>
          <p:nvPr/>
        </p:nvPicPr>
        <p:blipFill>
          <a:blip r:embed="rId3"/>
          <a:stretch>
            <a:fillRect/>
          </a:stretch>
        </p:blipFill>
        <p:spPr>
          <a:xfrm>
            <a:off x="9390888" y="3602736"/>
            <a:ext cx="237744" cy="237744"/>
          </a:xfrm>
          <a:prstGeom prst="rect">
            <a:avLst/>
          </a:prstGeom>
        </p:spPr>
      </p:pic>
      <p:sp>
        <p:nvSpPr>
          <p:cNvPr id="26" name="Asks heading"/>
          <p:cNvSpPr txBox="1"/>
          <p:nvPr/>
        </p:nvSpPr>
        <p:spPr>
          <a:xfrm>
            <a:off x="9875520" y="3538728"/>
            <a:ext cx="1584655" cy="365760"/>
          </a:xfrm>
          <a:prstGeom prst="rect">
            <a:avLst/>
          </a:prstGeom>
          <a:noFill/>
          <a:ln/>
        </p:spPr>
        <p:txBody>
          <a:bodyPr wrap="square" lIns="0" tIns="0" rIns="0" bIns="0" rtlCol="0" anchor="ctr"/>
          <a:lstStyle/>
          <a:p>
            <a:pPr indent="0" marL="0">
              <a:buNone/>
            </a:pPr>
            <a:r>
              <a:rPr lang="en-US" sz="1600" b="1" dirty="0">
                <a:solidFill>
                  <a:srgbClr val="FFFFFF"/>
                </a:solidFill>
              </a:rPr>
              <a:t>Two asks</a:t>
            </a:r>
            <a:endParaRPr lang="en-US" sz="1600" dirty="0"/>
          </a:p>
        </p:txBody>
      </p:sp>
      <p:sp>
        <p:nvSpPr>
          <p:cNvPr id="27" name="Asks list"/>
          <p:cNvSpPr txBox="1"/>
          <p:nvPr/>
        </p:nvSpPr>
        <p:spPr>
          <a:xfrm>
            <a:off x="9326880" y="4114800"/>
            <a:ext cx="2087575" cy="187452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D9DDE6"/>
                </a:solidFill>
              </a:rPr>
              <a:t>Detractor comments each week, so I coach the exact moment</a:t>
            </a:r>
            <a:endParaRPr lang="en-US" sz="1250" dirty="0"/>
          </a:p>
          <a:p>
            <a:pPr marL="177800" indent="-177800">
              <a:spcAft>
                <a:spcPts val="800"/>
              </a:spcAft>
              <a:buSzPct val="100000"/>
              <a:buChar char="•"/>
            </a:pPr>
            <a:r>
              <a:rPr lang="en-US" sz="1250" dirty="0">
                <a:solidFill>
                  <a:srgbClr val="D9DDE6"/>
                </a:solidFill>
              </a:rPr>
              <a:t>Protected time off the phones for side-by-side coaching</a:t>
            </a:r>
            <a:endParaRPr lang="en-US" sz="1250" dirty="0"/>
          </a:p>
        </p:txBody>
      </p:sp>
      <p:sp>
        <p:nvSpPr>
          <p:cNvPr id="28"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728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4="http://schemas.microsoft.com/office/powerpoint/2010/main" Requires="p14">
      <p:transition spd="slow" p14:dur="1400">
        <p14:gallery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133" fill="hold">
                      <p:stCondLst>
                        <p:cond delay="indefinite"/>
                        <p:cond evt="onBegin" delay="0">
                          <p:tn val="2"/>
                        </p:cond>
                      </p:stCondLst>
                      <p:childTnLst>
                        <p:par>
                          <p:cTn id="134" fill="hold">
                            <p:stCondLst>
                              <p:cond delay="0"/>
                            </p:stCondLst>
                            <p:childTnLst>
                              <p:par>
                                <p:cTn id="5" presetID="22" presetClass="entr" presetSubtype="8" grpId="0" fill="hold" nodeType="afterEffect">
                                  <p:stCondLst>
                                    <p:cond delay="0"/>
                                  </p:stCondLst>
                                  <p:childTnLst>
                                    <p:set>
                                      <p:cBhvr>
                                        <p:cTn id="3" dur="1" fill="hold">
                                          <p:stCondLst>
                                            <p:cond delay="0"/>
                                          </p:stCondLst>
                                        </p:cTn>
                                        <p:tgtEl>
                                          <p:spTgt spid="2"/>
                                        </p:tgtEl>
                                        <p:attrNameLst>
                                          <p:attrName>style.visibility</p:attrName>
                                        </p:attrNameLst>
                                      </p:cBhvr>
                                      <p:to>
                                        <p:strVal val="visible"/>
                                      </p:to>
                                    </p:set>
                                    <p:animEffect transition="in" filter="wipe(left)">
                                      <p:cBhvr>
                                        <p:cTn id="4" dur="550"/>
                                        <p:tgtEl>
                                          <p:spTgt spid="2"/>
                                        </p:tgtEl>
                                      </p:cBhvr>
                                    </p:animEffect>
                                  </p:childTnLst>
                                </p:cTn>
                              </p:par>
                              <p:par>
                                <p:cTn id="10" presetID="42" presetClass="entr" presetSubtype="0" grpId="0" fill="hold" nodeType="withEffect">
                                  <p:stCondLst>
                                    <p:cond delay="15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750"/>
                                        <p:tgtEl>
                                          <p:spTgt spid="3"/>
                                        </p:tgtEl>
                                      </p:cBhvr>
                                    </p:animEffect>
                                    <p:anim calcmode="lin" valueType="num">
                                      <p:cBhvr>
                                        <p:cTn id="8" dur="750" decel="100000" fill="hold"/>
                                        <p:tgtEl>
                                          <p:spTgt spid="3"/>
                                        </p:tgtEl>
                                        <p:attrNameLst>
                                          <p:attrName>ppt_x</p:attrName>
                                        </p:attrNameLst>
                                      </p:cBhvr>
                                      <p:tavLst>
                                        <p:tav tm="0">
                                          <p:val>
                                            <p:strVal val="#ppt_x"/>
                                          </p:val>
                                        </p:tav>
                                        <p:tav tm="100000">
                                          <p:val>
                                            <p:strVal val="#ppt_x"/>
                                          </p:val>
                                        </p:tav>
                                      </p:tavLst>
                                    </p:anim>
                                    <p:anim calcmode="lin" valueType="num">
                                      <p:cBhvr>
                                        <p:cTn id="9" dur="750" decel="100000" fill="hold"/>
                                        <p:tgtEl>
                                          <p:spTgt spid="3"/>
                                        </p:tgtEl>
                                        <p:attrNameLst>
                                          <p:attrName>ppt_y</p:attrName>
                                        </p:attrNameLst>
                                      </p:cBhvr>
                                      <p:tavLst>
                                        <p:tav tm="0">
                                          <p:val>
                                            <p:strVal val="#ppt_y+.08"/>
                                          </p:val>
                                        </p:tav>
                                        <p:tav tm="100000">
                                          <p:val>
                                            <p:strVal val="#ppt_y"/>
                                          </p:val>
                                        </p:tav>
                                      </p:tavLst>
                                    </p:anim>
                                  </p:childTnLst>
                                </p:cTn>
                              </p:par>
                              <p:par>
                                <p:cTn id="15" presetID="42" presetClass="entr" presetSubtype="0" grpId="0" fill="hold" nodeType="withEffect">
                                  <p:stCondLst>
                                    <p:cond delay="60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750"/>
                                        <p:tgtEl>
                                          <p:spTgt spid="4"/>
                                        </p:tgtEl>
                                      </p:cBhvr>
                                    </p:animEffect>
                                    <p:anim calcmode="lin" valueType="num">
                                      <p:cBhvr>
                                        <p:cTn id="13" dur="750" decel="100000" fill="hold"/>
                                        <p:tgtEl>
                                          <p:spTgt spid="4"/>
                                        </p:tgtEl>
                                        <p:attrNameLst>
                                          <p:attrName>ppt_x</p:attrName>
                                        </p:attrNameLst>
                                      </p:cBhvr>
                                      <p:tavLst>
                                        <p:tav tm="0">
                                          <p:val>
                                            <p:strVal val="#ppt_x"/>
                                          </p:val>
                                        </p:tav>
                                        <p:tav tm="100000">
                                          <p:val>
                                            <p:strVal val="#ppt_x"/>
                                          </p:val>
                                        </p:tav>
                                      </p:tavLst>
                                    </p:anim>
                                    <p:anim calcmode="lin" valueType="num">
                                      <p:cBhvr>
                                        <p:cTn id="14" dur="750" decel="100000" fill="hold"/>
                                        <p:tgtEl>
                                          <p:spTgt spid="4"/>
                                        </p:tgtEl>
                                        <p:attrNameLst>
                                          <p:attrName>ppt_y</p:attrName>
                                        </p:attrNameLst>
                                      </p:cBhvr>
                                      <p:tavLst>
                                        <p:tav tm="0">
                                          <p:val>
                                            <p:strVal val="#ppt_y+.08"/>
                                          </p:val>
                                        </p:tav>
                                        <p:tav tm="100000">
                                          <p:val>
                                            <p:strVal val="#ppt_y"/>
                                          </p:val>
                                        </p:tav>
                                      </p:tavLst>
                                    </p:anim>
                                  </p:childTnLst>
                                </p:cTn>
                              </p:par>
                              <p:par>
                                <p:cTn id="20" presetID="42" presetClass="entr" presetSubtype="0" grpId="0" fill="hold" nodeType="withEffect">
                                  <p:stCondLst>
                                    <p:cond delay="60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750"/>
                                        <p:tgtEl>
                                          <p:spTgt spid="5"/>
                                        </p:tgtEl>
                                      </p:cBhvr>
                                    </p:animEffect>
                                    <p:anim calcmode="lin" valueType="num">
                                      <p:cBhvr>
                                        <p:cTn id="18" dur="750" decel="100000" fill="hold"/>
                                        <p:tgtEl>
                                          <p:spTgt spid="5"/>
                                        </p:tgtEl>
                                        <p:attrNameLst>
                                          <p:attrName>ppt_x</p:attrName>
                                        </p:attrNameLst>
                                      </p:cBhvr>
                                      <p:tavLst>
                                        <p:tav tm="0">
                                          <p:val>
                                            <p:strVal val="#ppt_x"/>
                                          </p:val>
                                        </p:tav>
                                        <p:tav tm="100000">
                                          <p:val>
                                            <p:strVal val="#ppt_x"/>
                                          </p:val>
                                        </p:tav>
                                      </p:tavLst>
                                    </p:anim>
                                    <p:anim calcmode="lin" valueType="num">
                                      <p:cBhvr>
                                        <p:cTn id="19" dur="750" decel="100000" fill="hold"/>
                                        <p:tgtEl>
                                          <p:spTgt spid="5"/>
                                        </p:tgtEl>
                                        <p:attrNameLst>
                                          <p:attrName>ppt_y</p:attrName>
                                        </p:attrNameLst>
                                      </p:cBhvr>
                                      <p:tavLst>
                                        <p:tav tm="0">
                                          <p:val>
                                            <p:strVal val="#ppt_y+.08"/>
                                          </p:val>
                                        </p:tav>
                                        <p:tav tm="100000">
                                          <p:val>
                                            <p:strVal val="#ppt_y"/>
                                          </p:val>
                                        </p:tav>
                                      </p:tavLst>
                                    </p:anim>
                                  </p:childTnLst>
                                </p:cTn>
                              </p:par>
                              <p:par>
                                <p:cTn id="25" presetID="42" presetClass="entr" presetSubtype="0" grpId="0" fill="hold" nodeType="withEffect">
                                  <p:stCondLst>
                                    <p:cond delay="6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750"/>
                                        <p:tgtEl>
                                          <p:spTgt spid="6"/>
                                        </p:tgtEl>
                                      </p:cBhvr>
                                    </p:animEffect>
                                    <p:anim calcmode="lin" valueType="num">
                                      <p:cBhvr>
                                        <p:cTn id="23" dur="750" decel="100000" fill="hold"/>
                                        <p:tgtEl>
                                          <p:spTgt spid="6"/>
                                        </p:tgtEl>
                                        <p:attrNameLst>
                                          <p:attrName>ppt_x</p:attrName>
                                        </p:attrNameLst>
                                      </p:cBhvr>
                                      <p:tavLst>
                                        <p:tav tm="0">
                                          <p:val>
                                            <p:strVal val="#ppt_x"/>
                                          </p:val>
                                        </p:tav>
                                        <p:tav tm="100000">
                                          <p:val>
                                            <p:strVal val="#ppt_x"/>
                                          </p:val>
                                        </p:tav>
                                      </p:tavLst>
                                    </p:anim>
                                    <p:anim calcmode="lin" valueType="num">
                                      <p:cBhvr>
                                        <p:cTn id="24" dur="750" decel="100000" fill="hold"/>
                                        <p:tgtEl>
                                          <p:spTgt spid="6"/>
                                        </p:tgtEl>
                                        <p:attrNameLst>
                                          <p:attrName>ppt_y</p:attrName>
                                        </p:attrNameLst>
                                      </p:cBhvr>
                                      <p:tavLst>
                                        <p:tav tm="0">
                                          <p:val>
                                            <p:strVal val="#ppt_y+.08"/>
                                          </p:val>
                                        </p:tav>
                                        <p:tav tm="100000">
                                          <p:val>
                                            <p:strVal val="#ppt_y"/>
                                          </p:val>
                                        </p:tav>
                                      </p:tavLst>
                                    </p:anim>
                                  </p:childTnLst>
                                </p:cTn>
                              </p:par>
                              <p:par>
                                <p:cTn id="30" presetID="42" presetClass="entr" presetSubtype="0" grpId="0" fill="hold" nodeType="withEffect">
                                  <p:stCondLst>
                                    <p:cond delay="80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750"/>
                                        <p:tgtEl>
                                          <p:spTgt spid="7"/>
                                        </p:tgtEl>
                                      </p:cBhvr>
                                    </p:animEffect>
                                    <p:anim calcmode="lin" valueType="num">
                                      <p:cBhvr>
                                        <p:cTn id="28" dur="750" decel="100000" fill="hold"/>
                                        <p:tgtEl>
                                          <p:spTgt spid="7"/>
                                        </p:tgtEl>
                                        <p:attrNameLst>
                                          <p:attrName>ppt_x</p:attrName>
                                        </p:attrNameLst>
                                      </p:cBhvr>
                                      <p:tavLst>
                                        <p:tav tm="0">
                                          <p:val>
                                            <p:strVal val="#ppt_x"/>
                                          </p:val>
                                        </p:tav>
                                        <p:tav tm="100000">
                                          <p:val>
                                            <p:strVal val="#ppt_x"/>
                                          </p:val>
                                        </p:tav>
                                      </p:tavLst>
                                    </p:anim>
                                    <p:anim calcmode="lin" valueType="num">
                                      <p:cBhvr>
                                        <p:cTn id="29" dur="750" decel="100000" fill="hold"/>
                                        <p:tgtEl>
                                          <p:spTgt spid="7"/>
                                        </p:tgtEl>
                                        <p:attrNameLst>
                                          <p:attrName>ppt_y</p:attrName>
                                        </p:attrNameLst>
                                      </p:cBhvr>
                                      <p:tavLst>
                                        <p:tav tm="0">
                                          <p:val>
                                            <p:strVal val="#ppt_y+.08"/>
                                          </p:val>
                                        </p:tav>
                                        <p:tav tm="100000">
                                          <p:val>
                                            <p:strVal val="#ppt_y"/>
                                          </p:val>
                                        </p:tav>
                                      </p:tavLst>
                                    </p:anim>
                                  </p:childTnLst>
                                </p:cTn>
                              </p:par>
                              <p:par>
                                <p:cTn id="35" presetID="42" presetClass="entr" presetSubtype="0" grpId="0" fill="hold" nodeType="withEffect">
                                  <p:stCondLst>
                                    <p:cond delay="80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750"/>
                                        <p:tgtEl>
                                          <p:spTgt spid="8"/>
                                        </p:tgtEl>
                                      </p:cBhvr>
                                    </p:animEffect>
                                    <p:anim calcmode="lin" valueType="num">
                                      <p:cBhvr>
                                        <p:cTn id="33" dur="750" decel="100000" fill="hold"/>
                                        <p:tgtEl>
                                          <p:spTgt spid="8"/>
                                        </p:tgtEl>
                                        <p:attrNameLst>
                                          <p:attrName>ppt_x</p:attrName>
                                        </p:attrNameLst>
                                      </p:cBhvr>
                                      <p:tavLst>
                                        <p:tav tm="0">
                                          <p:val>
                                            <p:strVal val="#ppt_x"/>
                                          </p:val>
                                        </p:tav>
                                        <p:tav tm="100000">
                                          <p:val>
                                            <p:strVal val="#ppt_x"/>
                                          </p:val>
                                        </p:tav>
                                      </p:tavLst>
                                    </p:anim>
                                    <p:anim calcmode="lin" valueType="num">
                                      <p:cBhvr>
                                        <p:cTn id="34" dur="750" decel="100000" fill="hold"/>
                                        <p:tgtEl>
                                          <p:spTgt spid="8"/>
                                        </p:tgtEl>
                                        <p:attrNameLst>
                                          <p:attrName>ppt_y</p:attrName>
                                        </p:attrNameLst>
                                      </p:cBhvr>
                                      <p:tavLst>
                                        <p:tav tm="0">
                                          <p:val>
                                            <p:strVal val="#ppt_y+.08"/>
                                          </p:val>
                                        </p:tav>
                                        <p:tav tm="100000">
                                          <p:val>
                                            <p:strVal val="#ppt_y"/>
                                          </p:val>
                                        </p:tav>
                                      </p:tavLst>
                                    </p:anim>
                                  </p:childTnLst>
                                </p:cTn>
                              </p:par>
                              <p:par>
                                <p:cTn id="40" presetID="42" presetClass="entr" presetSubtype="0" grpId="0" fill="hold" nodeType="withEffect">
                                  <p:stCondLst>
                                    <p:cond delay="80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750"/>
                                        <p:tgtEl>
                                          <p:spTgt spid="9"/>
                                        </p:tgtEl>
                                      </p:cBhvr>
                                    </p:animEffect>
                                    <p:anim calcmode="lin" valueType="num">
                                      <p:cBhvr>
                                        <p:cTn id="38" dur="750" decel="100000" fill="hold"/>
                                        <p:tgtEl>
                                          <p:spTgt spid="9"/>
                                        </p:tgtEl>
                                        <p:attrNameLst>
                                          <p:attrName>ppt_x</p:attrName>
                                        </p:attrNameLst>
                                      </p:cBhvr>
                                      <p:tavLst>
                                        <p:tav tm="0">
                                          <p:val>
                                            <p:strVal val="#ppt_x"/>
                                          </p:val>
                                        </p:tav>
                                        <p:tav tm="100000">
                                          <p:val>
                                            <p:strVal val="#ppt_x"/>
                                          </p:val>
                                        </p:tav>
                                      </p:tavLst>
                                    </p:anim>
                                    <p:anim calcmode="lin" valueType="num">
                                      <p:cBhvr>
                                        <p:cTn id="39" dur="750" decel="100000" fill="hold"/>
                                        <p:tgtEl>
                                          <p:spTgt spid="9"/>
                                        </p:tgtEl>
                                        <p:attrNameLst>
                                          <p:attrName>ppt_y</p:attrName>
                                        </p:attrNameLst>
                                      </p:cBhvr>
                                      <p:tavLst>
                                        <p:tav tm="0">
                                          <p:val>
                                            <p:strVal val="#ppt_y+.08"/>
                                          </p:val>
                                        </p:tav>
                                        <p:tav tm="100000">
                                          <p:val>
                                            <p:strVal val="#ppt_y"/>
                                          </p:val>
                                        </p:tav>
                                      </p:tavLst>
                                    </p:anim>
                                  </p:childTnLst>
                                </p:cTn>
                              </p:par>
                              <p:par>
                                <p:cTn id="45" presetID="42" presetClass="entr" presetSubtype="0" grpId="0" fill="hold" nodeType="withEffect">
                                  <p:stCondLst>
                                    <p:cond delay="100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750"/>
                                        <p:tgtEl>
                                          <p:spTgt spid="10"/>
                                        </p:tgtEl>
                                      </p:cBhvr>
                                    </p:animEffect>
                                    <p:anim calcmode="lin" valueType="num">
                                      <p:cBhvr>
                                        <p:cTn id="43" dur="750" decel="100000" fill="hold"/>
                                        <p:tgtEl>
                                          <p:spTgt spid="10"/>
                                        </p:tgtEl>
                                        <p:attrNameLst>
                                          <p:attrName>ppt_x</p:attrName>
                                        </p:attrNameLst>
                                      </p:cBhvr>
                                      <p:tavLst>
                                        <p:tav tm="0">
                                          <p:val>
                                            <p:strVal val="#ppt_x"/>
                                          </p:val>
                                        </p:tav>
                                        <p:tav tm="100000">
                                          <p:val>
                                            <p:strVal val="#ppt_x"/>
                                          </p:val>
                                        </p:tav>
                                      </p:tavLst>
                                    </p:anim>
                                    <p:anim calcmode="lin" valueType="num">
                                      <p:cBhvr>
                                        <p:cTn id="44" dur="750" decel="100000" fill="hold"/>
                                        <p:tgtEl>
                                          <p:spTgt spid="10"/>
                                        </p:tgtEl>
                                        <p:attrNameLst>
                                          <p:attrName>ppt_y</p:attrName>
                                        </p:attrNameLst>
                                      </p:cBhvr>
                                      <p:tavLst>
                                        <p:tav tm="0">
                                          <p:val>
                                            <p:strVal val="#ppt_y+.08"/>
                                          </p:val>
                                        </p:tav>
                                        <p:tav tm="100000">
                                          <p:val>
                                            <p:strVal val="#ppt_y"/>
                                          </p:val>
                                        </p:tav>
                                      </p:tavLst>
                                    </p:anim>
                                  </p:childTnLst>
                                </p:cTn>
                              </p:par>
                              <p:par>
                                <p:cTn id="50" presetID="42" presetClass="entr" presetSubtype="0" grpId="0" fill="hold" nodeType="withEffect">
                                  <p:stCondLst>
                                    <p:cond delay="100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750"/>
                                        <p:tgtEl>
                                          <p:spTgt spid="11"/>
                                        </p:tgtEl>
                                      </p:cBhvr>
                                    </p:animEffect>
                                    <p:anim calcmode="lin" valueType="num">
                                      <p:cBhvr>
                                        <p:cTn id="48" dur="750" decel="100000" fill="hold"/>
                                        <p:tgtEl>
                                          <p:spTgt spid="11"/>
                                        </p:tgtEl>
                                        <p:attrNameLst>
                                          <p:attrName>ppt_x</p:attrName>
                                        </p:attrNameLst>
                                      </p:cBhvr>
                                      <p:tavLst>
                                        <p:tav tm="0">
                                          <p:val>
                                            <p:strVal val="#ppt_x"/>
                                          </p:val>
                                        </p:tav>
                                        <p:tav tm="100000">
                                          <p:val>
                                            <p:strVal val="#ppt_x"/>
                                          </p:val>
                                        </p:tav>
                                      </p:tavLst>
                                    </p:anim>
                                    <p:anim calcmode="lin" valueType="num">
                                      <p:cBhvr>
                                        <p:cTn id="49" dur="750" decel="100000" fill="hold"/>
                                        <p:tgtEl>
                                          <p:spTgt spid="11"/>
                                        </p:tgtEl>
                                        <p:attrNameLst>
                                          <p:attrName>ppt_y</p:attrName>
                                        </p:attrNameLst>
                                      </p:cBhvr>
                                      <p:tavLst>
                                        <p:tav tm="0">
                                          <p:val>
                                            <p:strVal val="#ppt_y+.08"/>
                                          </p:val>
                                        </p:tav>
                                        <p:tav tm="100000">
                                          <p:val>
                                            <p:strVal val="#ppt_y"/>
                                          </p:val>
                                        </p:tav>
                                      </p:tavLst>
                                    </p:anim>
                                  </p:childTnLst>
                                </p:cTn>
                              </p:par>
                              <p:par>
                                <p:cTn id="55" presetID="42" presetClass="entr" presetSubtype="0" grpId="0" fill="hold" nodeType="withEffect">
                                  <p:stCondLst>
                                    <p:cond delay="100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750"/>
                                        <p:tgtEl>
                                          <p:spTgt spid="12"/>
                                        </p:tgtEl>
                                      </p:cBhvr>
                                    </p:animEffect>
                                    <p:anim calcmode="lin" valueType="num">
                                      <p:cBhvr>
                                        <p:cTn id="53" dur="750" decel="100000" fill="hold"/>
                                        <p:tgtEl>
                                          <p:spTgt spid="12"/>
                                        </p:tgtEl>
                                        <p:attrNameLst>
                                          <p:attrName>ppt_x</p:attrName>
                                        </p:attrNameLst>
                                      </p:cBhvr>
                                      <p:tavLst>
                                        <p:tav tm="0">
                                          <p:val>
                                            <p:strVal val="#ppt_x"/>
                                          </p:val>
                                        </p:tav>
                                        <p:tav tm="100000">
                                          <p:val>
                                            <p:strVal val="#ppt_x"/>
                                          </p:val>
                                        </p:tav>
                                      </p:tavLst>
                                    </p:anim>
                                    <p:anim calcmode="lin" valueType="num">
                                      <p:cBhvr>
                                        <p:cTn id="54" dur="750" decel="100000" fill="hold"/>
                                        <p:tgtEl>
                                          <p:spTgt spid="12"/>
                                        </p:tgtEl>
                                        <p:attrNameLst>
                                          <p:attrName>ppt_y</p:attrName>
                                        </p:attrNameLst>
                                      </p:cBhvr>
                                      <p:tavLst>
                                        <p:tav tm="0">
                                          <p:val>
                                            <p:strVal val="#ppt_y+.08"/>
                                          </p:val>
                                        </p:tav>
                                        <p:tav tm="100000">
                                          <p:val>
                                            <p:strVal val="#ppt_y"/>
                                          </p:val>
                                        </p:tav>
                                      </p:tavLst>
                                    </p:anim>
                                  </p:childTnLst>
                                </p:cTn>
                              </p:par>
                              <p:par>
                                <p:cTn id="57" presetID="6" presetClass="emph" presetSubtype="0" grpId="1" fill="hold" nodeType="withEffect">
                                  <p:stCondLst>
                                    <p:cond delay="1500"/>
                                  </p:stCondLst>
                                  <p:childTnLst>
                                    <p:animScale>
                                      <p:cBhvr>
                                        <p:cTn id="56" dur="350" autoRev="1" fill="hold"/>
                                        <p:tgtEl>
                                          <p:spTgt spid="8"/>
                                        </p:tgtEl>
                                      </p:cBhvr>
                                      <p:by x="112000" y="112000"/>
                                    </p:animScale>
                                  </p:childTnLst>
                                </p:cTn>
                              </p:par>
                              <p:par>
                                <p:cTn id="62" presetID="42" presetClass="entr" presetSubtype="0" grpId="0" fill="hold" nodeType="withEffect">
                                  <p:stCondLst>
                                    <p:cond delay="185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750"/>
                                        <p:tgtEl>
                                          <p:spTgt spid="13"/>
                                        </p:tgtEl>
                                      </p:cBhvr>
                                    </p:animEffect>
                                    <p:anim calcmode="lin" valueType="num">
                                      <p:cBhvr>
                                        <p:cTn id="60" dur="750" decel="100000" fill="hold"/>
                                        <p:tgtEl>
                                          <p:spTgt spid="13"/>
                                        </p:tgtEl>
                                        <p:attrNameLst>
                                          <p:attrName>ppt_x</p:attrName>
                                        </p:attrNameLst>
                                      </p:cBhvr>
                                      <p:tavLst>
                                        <p:tav tm="0">
                                          <p:val>
                                            <p:strVal val="#ppt_x"/>
                                          </p:val>
                                        </p:tav>
                                        <p:tav tm="100000">
                                          <p:val>
                                            <p:strVal val="#ppt_x"/>
                                          </p:val>
                                        </p:tav>
                                      </p:tavLst>
                                    </p:anim>
                                    <p:anim calcmode="lin" valueType="num">
                                      <p:cBhvr>
                                        <p:cTn id="61" dur="750" decel="100000" fill="hold"/>
                                        <p:tgtEl>
                                          <p:spTgt spid="13"/>
                                        </p:tgtEl>
                                        <p:attrNameLst>
                                          <p:attrName>ppt_y</p:attrName>
                                        </p:attrNameLst>
                                      </p:cBhvr>
                                      <p:tavLst>
                                        <p:tav tm="0">
                                          <p:val>
                                            <p:strVal val="#ppt_y+.08"/>
                                          </p:val>
                                        </p:tav>
                                        <p:tav tm="100000">
                                          <p:val>
                                            <p:strVal val="#ppt_y"/>
                                          </p:val>
                                        </p:tav>
                                      </p:tavLst>
                                    </p:anim>
                                  </p:childTnLst>
                                </p:cTn>
                              </p:par>
                              <p:par>
                                <p:cTn id="67" presetID="42" presetClass="entr" presetSubtype="0" grpId="0" fill="hold" nodeType="withEffect">
                                  <p:stCondLst>
                                    <p:cond delay="185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750"/>
                                        <p:tgtEl>
                                          <p:spTgt spid="14"/>
                                        </p:tgtEl>
                                      </p:cBhvr>
                                    </p:animEffect>
                                    <p:anim calcmode="lin" valueType="num">
                                      <p:cBhvr>
                                        <p:cTn id="65" dur="750" decel="100000" fill="hold"/>
                                        <p:tgtEl>
                                          <p:spTgt spid="14"/>
                                        </p:tgtEl>
                                        <p:attrNameLst>
                                          <p:attrName>ppt_x</p:attrName>
                                        </p:attrNameLst>
                                      </p:cBhvr>
                                      <p:tavLst>
                                        <p:tav tm="0">
                                          <p:val>
                                            <p:strVal val="#ppt_x"/>
                                          </p:val>
                                        </p:tav>
                                        <p:tav tm="100000">
                                          <p:val>
                                            <p:strVal val="#ppt_x"/>
                                          </p:val>
                                        </p:tav>
                                      </p:tavLst>
                                    </p:anim>
                                    <p:anim calcmode="lin" valueType="num">
                                      <p:cBhvr>
                                        <p:cTn id="66" dur="750" decel="100000" fill="hold"/>
                                        <p:tgtEl>
                                          <p:spTgt spid="14"/>
                                        </p:tgtEl>
                                        <p:attrNameLst>
                                          <p:attrName>ppt_y</p:attrName>
                                        </p:attrNameLst>
                                      </p:cBhvr>
                                      <p:tavLst>
                                        <p:tav tm="0">
                                          <p:val>
                                            <p:strVal val="#ppt_y+.08"/>
                                          </p:val>
                                        </p:tav>
                                        <p:tav tm="100000">
                                          <p:val>
                                            <p:strVal val="#ppt_y"/>
                                          </p:val>
                                        </p:tav>
                                      </p:tavLst>
                                    </p:anim>
                                  </p:childTnLst>
                                </p:cTn>
                              </p:par>
                              <p:par>
                                <p:cTn id="72" presetID="42" presetClass="entr" presetSubtype="0" grpId="0" fill="hold" nodeType="withEffect">
                                  <p:stCondLst>
                                    <p:cond delay="185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750"/>
                                        <p:tgtEl>
                                          <p:spTgt spid="15"/>
                                        </p:tgtEl>
                                      </p:cBhvr>
                                    </p:animEffect>
                                    <p:anim calcmode="lin" valueType="num">
                                      <p:cBhvr>
                                        <p:cTn id="70" dur="750" decel="100000" fill="hold"/>
                                        <p:tgtEl>
                                          <p:spTgt spid="15"/>
                                        </p:tgtEl>
                                        <p:attrNameLst>
                                          <p:attrName>ppt_x</p:attrName>
                                        </p:attrNameLst>
                                      </p:cBhvr>
                                      <p:tavLst>
                                        <p:tav tm="0">
                                          <p:val>
                                            <p:strVal val="#ppt_x"/>
                                          </p:val>
                                        </p:tav>
                                        <p:tav tm="100000">
                                          <p:val>
                                            <p:strVal val="#ppt_x"/>
                                          </p:val>
                                        </p:tav>
                                      </p:tavLst>
                                    </p:anim>
                                    <p:anim calcmode="lin" valueType="num">
                                      <p:cBhvr>
                                        <p:cTn id="71" dur="750" decel="100000" fill="hold"/>
                                        <p:tgtEl>
                                          <p:spTgt spid="15"/>
                                        </p:tgtEl>
                                        <p:attrNameLst>
                                          <p:attrName>ppt_y</p:attrName>
                                        </p:attrNameLst>
                                      </p:cBhvr>
                                      <p:tavLst>
                                        <p:tav tm="0">
                                          <p:val>
                                            <p:strVal val="#ppt_y+.08"/>
                                          </p:val>
                                        </p:tav>
                                        <p:tav tm="100000">
                                          <p:val>
                                            <p:strVal val="#ppt_y"/>
                                          </p:val>
                                        </p:tav>
                                      </p:tavLst>
                                    </p:anim>
                                  </p:childTnLst>
                                </p:cTn>
                              </p:par>
                              <p:par>
                                <p:cTn id="77" presetID="42" presetClass="entr" presetSubtype="0" grpId="0" fill="hold" nodeType="withEffect">
                                  <p:stCondLst>
                                    <p:cond delay="185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750"/>
                                        <p:tgtEl>
                                          <p:spTgt spid="16"/>
                                        </p:tgtEl>
                                      </p:cBhvr>
                                    </p:animEffect>
                                    <p:anim calcmode="lin" valueType="num">
                                      <p:cBhvr>
                                        <p:cTn id="75" dur="750" decel="100000" fill="hold"/>
                                        <p:tgtEl>
                                          <p:spTgt spid="16"/>
                                        </p:tgtEl>
                                        <p:attrNameLst>
                                          <p:attrName>ppt_x</p:attrName>
                                        </p:attrNameLst>
                                      </p:cBhvr>
                                      <p:tavLst>
                                        <p:tav tm="0">
                                          <p:val>
                                            <p:strVal val="#ppt_x"/>
                                          </p:val>
                                        </p:tav>
                                        <p:tav tm="100000">
                                          <p:val>
                                            <p:strVal val="#ppt_x"/>
                                          </p:val>
                                        </p:tav>
                                      </p:tavLst>
                                    </p:anim>
                                    <p:anim calcmode="lin" valueType="num">
                                      <p:cBhvr>
                                        <p:cTn id="76" dur="750" decel="100000" fill="hold"/>
                                        <p:tgtEl>
                                          <p:spTgt spid="16"/>
                                        </p:tgtEl>
                                        <p:attrNameLst>
                                          <p:attrName>ppt_y</p:attrName>
                                        </p:attrNameLst>
                                      </p:cBhvr>
                                      <p:tavLst>
                                        <p:tav tm="0">
                                          <p:val>
                                            <p:strVal val="#ppt_y+.08"/>
                                          </p:val>
                                        </p:tav>
                                        <p:tav tm="100000">
                                          <p:val>
                                            <p:strVal val="#ppt_y"/>
                                          </p:val>
                                        </p:tav>
                                      </p:tavLst>
                                    </p:anim>
                                  </p:childTnLst>
                                </p:cTn>
                              </p:par>
                              <p:par>
                                <p:cTn id="82" presetID="42" presetClass="entr" presetSubtype="0" grpId="0" fill="hold" nodeType="withEffect">
                                  <p:stCondLst>
                                    <p:cond delay="185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750"/>
                                        <p:tgtEl>
                                          <p:spTgt spid="17"/>
                                        </p:tgtEl>
                                      </p:cBhvr>
                                    </p:animEffect>
                                    <p:anim calcmode="lin" valueType="num">
                                      <p:cBhvr>
                                        <p:cTn id="80" dur="750" decel="100000" fill="hold"/>
                                        <p:tgtEl>
                                          <p:spTgt spid="17"/>
                                        </p:tgtEl>
                                        <p:attrNameLst>
                                          <p:attrName>ppt_x</p:attrName>
                                        </p:attrNameLst>
                                      </p:cBhvr>
                                      <p:tavLst>
                                        <p:tav tm="0">
                                          <p:val>
                                            <p:strVal val="#ppt_x"/>
                                          </p:val>
                                        </p:tav>
                                        <p:tav tm="100000">
                                          <p:val>
                                            <p:strVal val="#ppt_x"/>
                                          </p:val>
                                        </p:tav>
                                      </p:tavLst>
                                    </p:anim>
                                    <p:anim calcmode="lin" valueType="num">
                                      <p:cBhvr>
                                        <p:cTn id="81" dur="750" decel="100000" fill="hold"/>
                                        <p:tgtEl>
                                          <p:spTgt spid="17"/>
                                        </p:tgtEl>
                                        <p:attrNameLst>
                                          <p:attrName>ppt_y</p:attrName>
                                        </p:attrNameLst>
                                      </p:cBhvr>
                                      <p:tavLst>
                                        <p:tav tm="0">
                                          <p:val>
                                            <p:strVal val="#ppt_y+.08"/>
                                          </p:val>
                                        </p:tav>
                                        <p:tav tm="100000">
                                          <p:val>
                                            <p:strVal val="#ppt_y"/>
                                          </p:val>
                                        </p:tav>
                                      </p:tavLst>
                                    </p:anim>
                                  </p:childTnLst>
                                </p:cTn>
                              </p:par>
                              <p:par>
                                <p:cTn id="87" presetID="42" presetClass="entr" presetSubtype="0" grpId="0" fill="hold" nodeType="withEffect">
                                  <p:stCondLst>
                                    <p:cond delay="2050"/>
                                  </p:stCondLst>
                                  <p:childTnLst>
                                    <p:set>
                                      <p:cBhvr>
                                        <p:cTn id="83" dur="1" fill="hold">
                                          <p:stCondLst>
                                            <p:cond delay="0"/>
                                          </p:stCondLst>
                                        </p:cTn>
                                        <p:tgtEl>
                                          <p:spTgt spid="18"/>
                                        </p:tgtEl>
                                        <p:attrNameLst>
                                          <p:attrName>style.visibility</p:attrName>
                                        </p:attrNameLst>
                                      </p:cBhvr>
                                      <p:to>
                                        <p:strVal val="visible"/>
                                      </p:to>
                                    </p:set>
                                    <p:animEffect transition="in" filter="fade">
                                      <p:cBhvr>
                                        <p:cTn id="84" dur="750"/>
                                        <p:tgtEl>
                                          <p:spTgt spid="18"/>
                                        </p:tgtEl>
                                      </p:cBhvr>
                                    </p:animEffect>
                                    <p:anim calcmode="lin" valueType="num">
                                      <p:cBhvr>
                                        <p:cTn id="85" dur="750" decel="100000" fill="hold"/>
                                        <p:tgtEl>
                                          <p:spTgt spid="18"/>
                                        </p:tgtEl>
                                        <p:attrNameLst>
                                          <p:attrName>ppt_x</p:attrName>
                                        </p:attrNameLst>
                                      </p:cBhvr>
                                      <p:tavLst>
                                        <p:tav tm="0">
                                          <p:val>
                                            <p:strVal val="#ppt_x"/>
                                          </p:val>
                                        </p:tav>
                                        <p:tav tm="100000">
                                          <p:val>
                                            <p:strVal val="#ppt_x"/>
                                          </p:val>
                                        </p:tav>
                                      </p:tavLst>
                                    </p:anim>
                                    <p:anim calcmode="lin" valueType="num">
                                      <p:cBhvr>
                                        <p:cTn id="86" dur="750" decel="100000" fill="hold"/>
                                        <p:tgtEl>
                                          <p:spTgt spid="18"/>
                                        </p:tgtEl>
                                        <p:attrNameLst>
                                          <p:attrName>ppt_y</p:attrName>
                                        </p:attrNameLst>
                                      </p:cBhvr>
                                      <p:tavLst>
                                        <p:tav tm="0">
                                          <p:val>
                                            <p:strVal val="#ppt_y+.08"/>
                                          </p:val>
                                        </p:tav>
                                        <p:tav tm="100000">
                                          <p:val>
                                            <p:strVal val="#ppt_y"/>
                                          </p:val>
                                        </p:tav>
                                      </p:tavLst>
                                    </p:anim>
                                  </p:childTnLst>
                                </p:cTn>
                              </p:par>
                              <p:par>
                                <p:cTn id="92" presetID="42" presetClass="entr" presetSubtype="0" grpId="0" fill="hold" nodeType="withEffect">
                                  <p:stCondLst>
                                    <p:cond delay="2050"/>
                                  </p:stCondLst>
                                  <p:childTnLst>
                                    <p:set>
                                      <p:cBhvr>
                                        <p:cTn id="88" dur="1" fill="hold">
                                          <p:stCondLst>
                                            <p:cond delay="0"/>
                                          </p:stCondLst>
                                        </p:cTn>
                                        <p:tgtEl>
                                          <p:spTgt spid="19"/>
                                        </p:tgtEl>
                                        <p:attrNameLst>
                                          <p:attrName>style.visibility</p:attrName>
                                        </p:attrNameLst>
                                      </p:cBhvr>
                                      <p:to>
                                        <p:strVal val="visible"/>
                                      </p:to>
                                    </p:set>
                                    <p:animEffect transition="in" filter="fade">
                                      <p:cBhvr>
                                        <p:cTn id="89" dur="750"/>
                                        <p:tgtEl>
                                          <p:spTgt spid="19"/>
                                        </p:tgtEl>
                                      </p:cBhvr>
                                    </p:animEffect>
                                    <p:anim calcmode="lin" valueType="num">
                                      <p:cBhvr>
                                        <p:cTn id="90" dur="750" decel="100000" fill="hold"/>
                                        <p:tgtEl>
                                          <p:spTgt spid="19"/>
                                        </p:tgtEl>
                                        <p:attrNameLst>
                                          <p:attrName>ppt_x</p:attrName>
                                        </p:attrNameLst>
                                      </p:cBhvr>
                                      <p:tavLst>
                                        <p:tav tm="0">
                                          <p:val>
                                            <p:strVal val="#ppt_x"/>
                                          </p:val>
                                        </p:tav>
                                        <p:tav tm="100000">
                                          <p:val>
                                            <p:strVal val="#ppt_x"/>
                                          </p:val>
                                        </p:tav>
                                      </p:tavLst>
                                    </p:anim>
                                    <p:anim calcmode="lin" valueType="num">
                                      <p:cBhvr>
                                        <p:cTn id="91" dur="750" decel="100000" fill="hold"/>
                                        <p:tgtEl>
                                          <p:spTgt spid="19"/>
                                        </p:tgtEl>
                                        <p:attrNameLst>
                                          <p:attrName>ppt_y</p:attrName>
                                        </p:attrNameLst>
                                      </p:cBhvr>
                                      <p:tavLst>
                                        <p:tav tm="0">
                                          <p:val>
                                            <p:strVal val="#ppt_y+.08"/>
                                          </p:val>
                                        </p:tav>
                                        <p:tav tm="100000">
                                          <p:val>
                                            <p:strVal val="#ppt_y"/>
                                          </p:val>
                                        </p:tav>
                                      </p:tavLst>
                                    </p:anim>
                                  </p:childTnLst>
                                </p:cTn>
                              </p:par>
                              <p:par>
                                <p:cTn id="97" presetID="42" presetClass="entr" presetSubtype="0" grpId="0" fill="hold" nodeType="withEffect">
                                  <p:stCondLst>
                                    <p:cond delay="205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50"/>
                                        <p:tgtEl>
                                          <p:spTgt spid="20"/>
                                        </p:tgtEl>
                                      </p:cBhvr>
                                    </p:animEffect>
                                    <p:anim calcmode="lin" valueType="num">
                                      <p:cBhvr>
                                        <p:cTn id="95" dur="750" decel="100000" fill="hold"/>
                                        <p:tgtEl>
                                          <p:spTgt spid="20"/>
                                        </p:tgtEl>
                                        <p:attrNameLst>
                                          <p:attrName>ppt_x</p:attrName>
                                        </p:attrNameLst>
                                      </p:cBhvr>
                                      <p:tavLst>
                                        <p:tav tm="0">
                                          <p:val>
                                            <p:strVal val="#ppt_x"/>
                                          </p:val>
                                        </p:tav>
                                        <p:tav tm="100000">
                                          <p:val>
                                            <p:strVal val="#ppt_x"/>
                                          </p:val>
                                        </p:tav>
                                      </p:tavLst>
                                    </p:anim>
                                    <p:anim calcmode="lin" valueType="num">
                                      <p:cBhvr>
                                        <p:cTn id="96" dur="750" decel="100000" fill="hold"/>
                                        <p:tgtEl>
                                          <p:spTgt spid="20"/>
                                        </p:tgtEl>
                                        <p:attrNameLst>
                                          <p:attrName>ppt_y</p:attrName>
                                        </p:attrNameLst>
                                      </p:cBhvr>
                                      <p:tavLst>
                                        <p:tav tm="0">
                                          <p:val>
                                            <p:strVal val="#ppt_y+.08"/>
                                          </p:val>
                                        </p:tav>
                                        <p:tav tm="100000">
                                          <p:val>
                                            <p:strVal val="#ppt_y"/>
                                          </p:val>
                                        </p:tav>
                                      </p:tavLst>
                                    </p:anim>
                                  </p:childTnLst>
                                </p:cTn>
                              </p:par>
                              <p:par>
                                <p:cTn id="102" presetID="42" presetClass="entr" presetSubtype="0" grpId="0" fill="hold" nodeType="withEffect">
                                  <p:stCondLst>
                                    <p:cond delay="2050"/>
                                  </p:stCondLst>
                                  <p:childTnLst>
                                    <p:set>
                                      <p:cBhvr>
                                        <p:cTn id="98" dur="1" fill="hold">
                                          <p:stCondLst>
                                            <p:cond delay="0"/>
                                          </p:stCondLst>
                                        </p:cTn>
                                        <p:tgtEl>
                                          <p:spTgt spid="21"/>
                                        </p:tgtEl>
                                        <p:attrNameLst>
                                          <p:attrName>style.visibility</p:attrName>
                                        </p:attrNameLst>
                                      </p:cBhvr>
                                      <p:to>
                                        <p:strVal val="visible"/>
                                      </p:to>
                                    </p:set>
                                    <p:animEffect transition="in" filter="fade">
                                      <p:cBhvr>
                                        <p:cTn id="99" dur="750"/>
                                        <p:tgtEl>
                                          <p:spTgt spid="21"/>
                                        </p:tgtEl>
                                      </p:cBhvr>
                                    </p:animEffect>
                                    <p:anim calcmode="lin" valueType="num">
                                      <p:cBhvr>
                                        <p:cTn id="100" dur="750" decel="100000" fill="hold"/>
                                        <p:tgtEl>
                                          <p:spTgt spid="21"/>
                                        </p:tgtEl>
                                        <p:attrNameLst>
                                          <p:attrName>ppt_x</p:attrName>
                                        </p:attrNameLst>
                                      </p:cBhvr>
                                      <p:tavLst>
                                        <p:tav tm="0">
                                          <p:val>
                                            <p:strVal val="#ppt_x"/>
                                          </p:val>
                                        </p:tav>
                                        <p:tav tm="100000">
                                          <p:val>
                                            <p:strVal val="#ppt_x"/>
                                          </p:val>
                                        </p:tav>
                                      </p:tavLst>
                                    </p:anim>
                                    <p:anim calcmode="lin" valueType="num">
                                      <p:cBhvr>
                                        <p:cTn id="101" dur="750" decel="100000" fill="hold"/>
                                        <p:tgtEl>
                                          <p:spTgt spid="21"/>
                                        </p:tgtEl>
                                        <p:attrNameLst>
                                          <p:attrName>ppt_y</p:attrName>
                                        </p:attrNameLst>
                                      </p:cBhvr>
                                      <p:tavLst>
                                        <p:tav tm="0">
                                          <p:val>
                                            <p:strVal val="#ppt_y+.08"/>
                                          </p:val>
                                        </p:tav>
                                        <p:tav tm="100000">
                                          <p:val>
                                            <p:strVal val="#ppt_y"/>
                                          </p:val>
                                        </p:tav>
                                      </p:tavLst>
                                    </p:anim>
                                  </p:childTnLst>
                                </p:cTn>
                              </p:par>
                              <p:par>
                                <p:cTn id="107" presetID="42" presetClass="entr" presetSubtype="0" grpId="0" fill="hold" nodeType="withEffect">
                                  <p:stCondLst>
                                    <p:cond delay="2050"/>
                                  </p:stCondLst>
                                  <p:childTnLst>
                                    <p:set>
                                      <p:cBhvr>
                                        <p:cTn id="103" dur="1" fill="hold">
                                          <p:stCondLst>
                                            <p:cond delay="0"/>
                                          </p:stCondLst>
                                        </p:cTn>
                                        <p:tgtEl>
                                          <p:spTgt spid="22"/>
                                        </p:tgtEl>
                                        <p:attrNameLst>
                                          <p:attrName>style.visibility</p:attrName>
                                        </p:attrNameLst>
                                      </p:cBhvr>
                                      <p:to>
                                        <p:strVal val="visible"/>
                                      </p:to>
                                    </p:set>
                                    <p:animEffect transition="in" filter="fade">
                                      <p:cBhvr>
                                        <p:cTn id="104" dur="750"/>
                                        <p:tgtEl>
                                          <p:spTgt spid="22"/>
                                        </p:tgtEl>
                                      </p:cBhvr>
                                    </p:animEffect>
                                    <p:anim calcmode="lin" valueType="num">
                                      <p:cBhvr>
                                        <p:cTn id="105" dur="750" decel="100000" fill="hold"/>
                                        <p:tgtEl>
                                          <p:spTgt spid="22"/>
                                        </p:tgtEl>
                                        <p:attrNameLst>
                                          <p:attrName>ppt_x</p:attrName>
                                        </p:attrNameLst>
                                      </p:cBhvr>
                                      <p:tavLst>
                                        <p:tav tm="0">
                                          <p:val>
                                            <p:strVal val="#ppt_x"/>
                                          </p:val>
                                        </p:tav>
                                        <p:tav tm="100000">
                                          <p:val>
                                            <p:strVal val="#ppt_x"/>
                                          </p:val>
                                        </p:tav>
                                      </p:tavLst>
                                    </p:anim>
                                    <p:anim calcmode="lin" valueType="num">
                                      <p:cBhvr>
                                        <p:cTn id="106" dur="750" decel="100000" fill="hold"/>
                                        <p:tgtEl>
                                          <p:spTgt spid="22"/>
                                        </p:tgtEl>
                                        <p:attrNameLst>
                                          <p:attrName>ppt_y</p:attrName>
                                        </p:attrNameLst>
                                      </p:cBhvr>
                                      <p:tavLst>
                                        <p:tav tm="0">
                                          <p:val>
                                            <p:strVal val="#ppt_y+.08"/>
                                          </p:val>
                                        </p:tav>
                                        <p:tav tm="100000">
                                          <p:val>
                                            <p:strVal val="#ppt_y"/>
                                          </p:val>
                                        </p:tav>
                                      </p:tavLst>
                                    </p:anim>
                                  </p:childTnLst>
                                </p:cTn>
                              </p:par>
                              <p:par>
                                <p:cTn id="112" presetID="42" presetClass="entr" presetSubtype="0" grpId="0" fill="hold" nodeType="withEffect">
                                  <p:stCondLst>
                                    <p:cond delay="2250"/>
                                  </p:stCondLst>
                                  <p:childTnLst>
                                    <p:set>
                                      <p:cBhvr>
                                        <p:cTn id="108" dur="1" fill="hold">
                                          <p:stCondLst>
                                            <p:cond delay="0"/>
                                          </p:stCondLst>
                                        </p:cTn>
                                        <p:tgtEl>
                                          <p:spTgt spid="23"/>
                                        </p:tgtEl>
                                        <p:attrNameLst>
                                          <p:attrName>style.visibility</p:attrName>
                                        </p:attrNameLst>
                                      </p:cBhvr>
                                      <p:to>
                                        <p:strVal val="visible"/>
                                      </p:to>
                                    </p:set>
                                    <p:animEffect transition="in" filter="fade">
                                      <p:cBhvr>
                                        <p:cTn id="109" dur="750"/>
                                        <p:tgtEl>
                                          <p:spTgt spid="23"/>
                                        </p:tgtEl>
                                      </p:cBhvr>
                                    </p:animEffect>
                                    <p:anim calcmode="lin" valueType="num">
                                      <p:cBhvr>
                                        <p:cTn id="110" dur="750" decel="100000" fill="hold"/>
                                        <p:tgtEl>
                                          <p:spTgt spid="23"/>
                                        </p:tgtEl>
                                        <p:attrNameLst>
                                          <p:attrName>ppt_x</p:attrName>
                                        </p:attrNameLst>
                                      </p:cBhvr>
                                      <p:tavLst>
                                        <p:tav tm="0">
                                          <p:val>
                                            <p:strVal val="#ppt_x"/>
                                          </p:val>
                                        </p:tav>
                                        <p:tav tm="100000">
                                          <p:val>
                                            <p:strVal val="#ppt_x"/>
                                          </p:val>
                                        </p:tav>
                                      </p:tavLst>
                                    </p:anim>
                                    <p:anim calcmode="lin" valueType="num">
                                      <p:cBhvr>
                                        <p:cTn id="111" dur="750" decel="100000" fill="hold"/>
                                        <p:tgtEl>
                                          <p:spTgt spid="23"/>
                                        </p:tgtEl>
                                        <p:attrNameLst>
                                          <p:attrName>ppt_y</p:attrName>
                                        </p:attrNameLst>
                                      </p:cBhvr>
                                      <p:tavLst>
                                        <p:tav tm="0">
                                          <p:val>
                                            <p:strVal val="#ppt_y+.08"/>
                                          </p:val>
                                        </p:tav>
                                        <p:tav tm="100000">
                                          <p:val>
                                            <p:strVal val="#ppt_y"/>
                                          </p:val>
                                        </p:tav>
                                      </p:tavLst>
                                    </p:anim>
                                  </p:childTnLst>
                                </p:cTn>
                              </p:par>
                              <p:par>
                                <p:cTn id="117" presetID="42" presetClass="entr" presetSubtype="0" grpId="0" fill="hold" nodeType="withEffect">
                                  <p:stCondLst>
                                    <p:cond delay="2250"/>
                                  </p:stCondLst>
                                  <p:childTnLst>
                                    <p:set>
                                      <p:cBhvr>
                                        <p:cTn id="113" dur="1" fill="hold">
                                          <p:stCondLst>
                                            <p:cond delay="0"/>
                                          </p:stCondLst>
                                        </p:cTn>
                                        <p:tgtEl>
                                          <p:spTgt spid="24"/>
                                        </p:tgtEl>
                                        <p:attrNameLst>
                                          <p:attrName>style.visibility</p:attrName>
                                        </p:attrNameLst>
                                      </p:cBhvr>
                                      <p:to>
                                        <p:strVal val="visible"/>
                                      </p:to>
                                    </p:set>
                                    <p:animEffect transition="in" filter="fade">
                                      <p:cBhvr>
                                        <p:cTn id="114" dur="750"/>
                                        <p:tgtEl>
                                          <p:spTgt spid="24"/>
                                        </p:tgtEl>
                                      </p:cBhvr>
                                    </p:animEffect>
                                    <p:anim calcmode="lin" valueType="num">
                                      <p:cBhvr>
                                        <p:cTn id="115" dur="750" decel="100000" fill="hold"/>
                                        <p:tgtEl>
                                          <p:spTgt spid="24"/>
                                        </p:tgtEl>
                                        <p:attrNameLst>
                                          <p:attrName>ppt_x</p:attrName>
                                        </p:attrNameLst>
                                      </p:cBhvr>
                                      <p:tavLst>
                                        <p:tav tm="0">
                                          <p:val>
                                            <p:strVal val="#ppt_x"/>
                                          </p:val>
                                        </p:tav>
                                        <p:tav tm="100000">
                                          <p:val>
                                            <p:strVal val="#ppt_x"/>
                                          </p:val>
                                        </p:tav>
                                      </p:tavLst>
                                    </p:anim>
                                    <p:anim calcmode="lin" valueType="num">
                                      <p:cBhvr>
                                        <p:cTn id="116" dur="750" decel="100000" fill="hold"/>
                                        <p:tgtEl>
                                          <p:spTgt spid="24"/>
                                        </p:tgtEl>
                                        <p:attrNameLst>
                                          <p:attrName>ppt_y</p:attrName>
                                        </p:attrNameLst>
                                      </p:cBhvr>
                                      <p:tavLst>
                                        <p:tav tm="0">
                                          <p:val>
                                            <p:strVal val="#ppt_y+.08"/>
                                          </p:val>
                                        </p:tav>
                                        <p:tav tm="100000">
                                          <p:val>
                                            <p:strVal val="#ppt_y"/>
                                          </p:val>
                                        </p:tav>
                                      </p:tavLst>
                                    </p:anim>
                                  </p:childTnLst>
                                </p:cTn>
                              </p:par>
                              <p:par>
                                <p:cTn id="122" presetID="42" presetClass="entr" presetSubtype="0" grpId="0" fill="hold" nodeType="withEffect">
                                  <p:stCondLst>
                                    <p:cond delay="2250"/>
                                  </p:stCondLst>
                                  <p:childTnLst>
                                    <p:set>
                                      <p:cBhvr>
                                        <p:cTn id="118" dur="1" fill="hold">
                                          <p:stCondLst>
                                            <p:cond delay="0"/>
                                          </p:stCondLst>
                                        </p:cTn>
                                        <p:tgtEl>
                                          <p:spTgt spid="25"/>
                                        </p:tgtEl>
                                        <p:attrNameLst>
                                          <p:attrName>style.visibility</p:attrName>
                                        </p:attrNameLst>
                                      </p:cBhvr>
                                      <p:to>
                                        <p:strVal val="visible"/>
                                      </p:to>
                                    </p:set>
                                    <p:animEffect transition="in" filter="fade">
                                      <p:cBhvr>
                                        <p:cTn id="119" dur="750"/>
                                        <p:tgtEl>
                                          <p:spTgt spid="25"/>
                                        </p:tgtEl>
                                      </p:cBhvr>
                                    </p:animEffect>
                                    <p:anim calcmode="lin" valueType="num">
                                      <p:cBhvr>
                                        <p:cTn id="120" dur="750" decel="100000" fill="hold"/>
                                        <p:tgtEl>
                                          <p:spTgt spid="25"/>
                                        </p:tgtEl>
                                        <p:attrNameLst>
                                          <p:attrName>ppt_x</p:attrName>
                                        </p:attrNameLst>
                                      </p:cBhvr>
                                      <p:tavLst>
                                        <p:tav tm="0">
                                          <p:val>
                                            <p:strVal val="#ppt_x"/>
                                          </p:val>
                                        </p:tav>
                                        <p:tav tm="100000">
                                          <p:val>
                                            <p:strVal val="#ppt_x"/>
                                          </p:val>
                                        </p:tav>
                                      </p:tavLst>
                                    </p:anim>
                                    <p:anim calcmode="lin" valueType="num">
                                      <p:cBhvr>
                                        <p:cTn id="121" dur="750" decel="100000" fill="hold"/>
                                        <p:tgtEl>
                                          <p:spTgt spid="25"/>
                                        </p:tgtEl>
                                        <p:attrNameLst>
                                          <p:attrName>ppt_y</p:attrName>
                                        </p:attrNameLst>
                                      </p:cBhvr>
                                      <p:tavLst>
                                        <p:tav tm="0">
                                          <p:val>
                                            <p:strVal val="#ppt_y+.08"/>
                                          </p:val>
                                        </p:tav>
                                        <p:tav tm="100000">
                                          <p:val>
                                            <p:strVal val="#ppt_y"/>
                                          </p:val>
                                        </p:tav>
                                      </p:tavLst>
                                    </p:anim>
                                  </p:childTnLst>
                                </p:cTn>
                              </p:par>
                              <p:par>
                                <p:cTn id="127" presetID="42" presetClass="entr" presetSubtype="0" grpId="0" fill="hold" nodeType="withEffect">
                                  <p:stCondLst>
                                    <p:cond delay="2250"/>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750"/>
                                        <p:tgtEl>
                                          <p:spTgt spid="26"/>
                                        </p:tgtEl>
                                      </p:cBhvr>
                                    </p:animEffect>
                                    <p:anim calcmode="lin" valueType="num">
                                      <p:cBhvr>
                                        <p:cTn id="125" dur="750" decel="100000" fill="hold"/>
                                        <p:tgtEl>
                                          <p:spTgt spid="26"/>
                                        </p:tgtEl>
                                        <p:attrNameLst>
                                          <p:attrName>ppt_x</p:attrName>
                                        </p:attrNameLst>
                                      </p:cBhvr>
                                      <p:tavLst>
                                        <p:tav tm="0">
                                          <p:val>
                                            <p:strVal val="#ppt_x"/>
                                          </p:val>
                                        </p:tav>
                                        <p:tav tm="100000">
                                          <p:val>
                                            <p:strVal val="#ppt_x"/>
                                          </p:val>
                                        </p:tav>
                                      </p:tavLst>
                                    </p:anim>
                                    <p:anim calcmode="lin" valueType="num">
                                      <p:cBhvr>
                                        <p:cTn id="126" dur="750" decel="100000" fill="hold"/>
                                        <p:tgtEl>
                                          <p:spTgt spid="26"/>
                                        </p:tgtEl>
                                        <p:attrNameLst>
                                          <p:attrName>ppt_y</p:attrName>
                                        </p:attrNameLst>
                                      </p:cBhvr>
                                      <p:tavLst>
                                        <p:tav tm="0">
                                          <p:val>
                                            <p:strVal val="#ppt_y+.08"/>
                                          </p:val>
                                        </p:tav>
                                        <p:tav tm="100000">
                                          <p:val>
                                            <p:strVal val="#ppt_y"/>
                                          </p:val>
                                        </p:tav>
                                      </p:tavLst>
                                    </p:anim>
                                  </p:childTnLst>
                                </p:cTn>
                              </p:par>
                              <p:par>
                                <p:cTn id="132" presetID="42" presetClass="entr" presetSubtype="0" grpId="0" fill="hold" nodeType="withEffect">
                                  <p:stCondLst>
                                    <p:cond delay="2250"/>
                                  </p:stCondLst>
                                  <p:childTnLst>
                                    <p:set>
                                      <p:cBhvr>
                                        <p:cTn id="128" dur="1" fill="hold">
                                          <p:stCondLst>
                                            <p:cond delay="0"/>
                                          </p:stCondLst>
                                        </p:cTn>
                                        <p:tgtEl>
                                          <p:spTgt spid="27"/>
                                        </p:tgtEl>
                                        <p:attrNameLst>
                                          <p:attrName>style.visibility</p:attrName>
                                        </p:attrNameLst>
                                      </p:cBhvr>
                                      <p:to>
                                        <p:strVal val="visible"/>
                                      </p:to>
                                    </p:set>
                                    <p:animEffect transition="in" filter="fade">
                                      <p:cBhvr>
                                        <p:cTn id="129" dur="750"/>
                                        <p:tgtEl>
                                          <p:spTgt spid="27"/>
                                        </p:tgtEl>
                                      </p:cBhvr>
                                    </p:animEffect>
                                    <p:anim calcmode="lin" valueType="num">
                                      <p:cBhvr>
                                        <p:cTn id="130" dur="750" decel="100000" fill="hold"/>
                                        <p:tgtEl>
                                          <p:spTgt spid="27"/>
                                        </p:tgtEl>
                                        <p:attrNameLst>
                                          <p:attrName>ppt_x</p:attrName>
                                        </p:attrNameLst>
                                      </p:cBhvr>
                                      <p:tavLst>
                                        <p:tav tm="0">
                                          <p:val>
                                            <p:strVal val="#ppt_x"/>
                                          </p:val>
                                        </p:tav>
                                        <p:tav tm="100000">
                                          <p:val>
                                            <p:strVal val="#ppt_x"/>
                                          </p:val>
                                        </p:tav>
                                      </p:tavLst>
                                    </p:anim>
                                    <p:anim calcmode="lin" valueType="num">
                                      <p:cBhvr>
                                        <p:cTn id="131" dur="750" decel="10000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6" grpId="0" animBg="1"/>
      <p:bldGraphic spid="17" grpId="0">
        <p:bldAsOne/>
      </p:bldGraphic>
      <p:bldP spid="18" grpId="0" animBg="1"/>
      <p:bldP spid="19" grpId="0" animBg="1"/>
      <p:bldP spid="21" grpId="0" animBg="1"/>
      <p:bldP spid="22" grpId="0" animBg="1"/>
      <p:bldP spid="23" grpId="0" animBg="1"/>
      <p:bldP spid="24" grpId="0" animBg="1"/>
      <p:bldP spid="26" grpId="0" animBg="1"/>
      <p:bldP spid="27" grpId="0" animBg="1"/>
      <p:bldP spid="8" grpId="1" animBg="1"/>
    </p:bldLst>
  </p:timing>
</p:sld>
</file>

<file path=ppt/theme/theme1.xml><?xml version="1.0" encoding="utf-8"?>
<a:theme xmlns:a="http://schemas.openxmlformats.org/drawingml/2006/main" name="VXI Team Standing">
  <a:themeElements>
    <a:clrScheme name="VXI Team Standing">
      <a:dk1>
        <a:srgbClr val="121826"/>
      </a:dk1>
      <a:lt1>
        <a:srgbClr val="FFFFFF"/>
      </a:lt1>
      <a:dk2>
        <a:srgbClr val="3D4453"/>
      </a:dk2>
      <a:lt2>
        <a:srgbClr val="F6F3EE"/>
      </a:lt2>
      <a:accent1>
        <a:srgbClr val="F26522"/>
      </a:accent1>
      <a:accent2>
        <a:srgbClr val="C94A10"/>
      </a:accent2>
      <a:accent3>
        <a:srgbClr val="1E7F5C"/>
      </a:accent3>
      <a:accent4>
        <a:srgbClr val="B42318"/>
      </a:accent4>
      <a:accent5>
        <a:srgbClr val="FDE9DF"/>
      </a:accent5>
      <a:accent6>
        <a:srgbClr val="8C96AC"/>
      </a:accent6>
      <a:hlink>
        <a:srgbClr val="C94A10"/>
      </a:hlink>
      <a:folHlink>
        <a:srgbClr val="C94A10"/>
      </a:folHlink>
    </a:clrScheme>
    <a:fontScheme name="VXI Team Standin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Coaching Plan: Omar Mansour</dc:title>
  <dc:subject>PptxGenJS Presentation</dc:subject>
  <dc:creator>Omar Mansour</dc:creator>
  <cp:lastModifiedBy>Omar Mansour</cp:lastModifiedBy>
  <cp:revision>1</cp:revision>
  <dcterms:created xsi:type="dcterms:W3CDTF">2026-10-19T15:26:15Z</dcterms:created>
  <dcterms:modified xsi:type="dcterms:W3CDTF">2026-10-19T15:26:15Z</dcterms:modified>
</cp:coreProperties>
</file>