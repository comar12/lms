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c547dc22-c3c6-d001-e0f3-6e47e5323c4d}">
          <p14:sldIdLst>
            <p14:sldId id="256"/>
          </p14:sldIdLst>
        </p14:section>
        <p14:section name="The three agents" id="{71d25f73-9dc4-1983-269d-c1b5bd2bbdd7}">
          <p14:sldIdLst>
            <p14:sldId id="257"/>
          </p14:sldIdLst>
        </p14:section>
        <p14:section name="How I coach" id="{e823aba3-d0ca-bd7e-79e1-27f1b1a69e3f}">
          <p14:sldIdLst>
            <p14:sldId id="258"/>
          </p14:sldIdLst>
        </p14:section>
        <p14:section name="Next 30 days" id="{a82b0551-9299-6769-e53d-54c98f944137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my coaching plan for the three agents I am working on first: Mohammed Ammar, Mohamed Mahmoud and Ahmed Elbanna. All three are new hires. The numbers are October month to date, September 22 to October 14, from the TSX dashboard. I will go through three things: the three agents and what they need, how I prepare and coach, and my plan for the next 30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three agents I am coaching first: Ammar, Mohamed Mahmoud and Ahmed Elbanna. All three need the same six things: assurance, empathy, acknowledgement, rapport, tone of voice, and no unexplained mute or silence on the call. I do not coach six things at once, so I take them two at a time. Week 1 is acknowledgement and empathy, week 2 is assurance and rapport, and week 3 is tone of voice and explaining every pause or using hold instead of going silent. Ammar has been improving over the last period, so I keep the same plan going and sit with him on 2 calls a week. Mohamed Mahmoud and Ahmed Elbanna start at step 1 this week. I model the line, we role play it, and I listen to 2 to 4 of their calls before each weekly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how I prepare and coach, following the five focus areas from the calibration email. Before every session I check Tableau, Power BI and i3, I pick one KPI gap, and I listen to 2 to 4 calls. In the session I ask what was going through their mind at that moment, so I get to the cause and not only the symptom. With these three agents the causes are the same: assurance, empathy, acknowledgement, rapport, tone of voice, and unexplained mute or silence. The agent says the gap in their own words, I model it, and we role play. Every plan has one or two behaviors, a KPI target with the surveys behind it, and a follow-up date. Then I follow up on calls every week. The dark row is Ammar, so you can see the five steps on one real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agents are negative on 44 of the team’s 172 surveys. If they only get to zero, team tNPS goes from 11 to about 17, before a single new promoter. So the goal for each of them is 0 or better in 30 days, and each step showing on 3 of 3 calls I review. The cadence is the same every week: a session with each of them, 2 calls a week side by side with Ammar, and 2 to 4 calls before each session for Mohamed Mahmoud and Ahmed Elbanna. In week 4 we review everything and decide if the plan is complete, extended or adjusted. Two things would help me. Detractor comments every week, so I can coach the exact moment on the call. And protected time off the phones for side-by-side coaching while they are in nesting.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plan · TSX Cairo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2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1280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6522"/>
                </a:solidFill>
              </a:rPr>
              <a:t>VXI · TSX CAIRO · COMCAST REPAIR</a:t>
            </a:r>
            <a:endParaRPr lang="en-US" sz="1200" dirty="0"/>
          </a:p>
        </p:txBody>
      </p:sp>
      <p:sp>
        <p:nvSpPr>
          <p:cNvPr id="3" name="Deck title"/>
          <p:cNvSpPr txBox="1"/>
          <p:nvPr/>
        </p:nvSpPr>
        <p:spPr>
          <a:xfrm>
            <a:off x="548640" y="173736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spc="-100" kern="0" dirty="0">
                <a:solidFill>
                  <a:srgbClr val="FFFFFF"/>
                </a:solidFill>
              </a:rPr>
              <a:t>Coaching plan: three agents</a:t>
            </a:r>
            <a:endParaRPr lang="en-US" sz="5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3657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D9DDE6"/>
                </a:solidFill>
              </a:rPr>
              <a:t>Who I am coaching first, what they need, and how I prepare and follow up.</a:t>
            </a:r>
            <a:endParaRPr lang="en-US" sz="1900" dirty="0"/>
          </a:p>
        </p:txBody>
      </p:sp>
      <p:sp>
        <p:nvSpPr>
          <p:cNvPr id="5" name="Agenda card"/>
          <p:cNvSpPr/>
          <p:nvPr/>
        </p:nvSpPr>
        <p:spPr>
          <a:xfrm>
            <a:off x="7818120" y="1371600"/>
            <a:ext cx="3824935" cy="3291840"/>
          </a:xfrm>
          <a:prstGeom prst="roundRect">
            <a:avLst>
              <a:gd name="adj" fmla="val 5556"/>
            </a:avLst>
          </a:prstGeom>
          <a:solidFill>
            <a:srgbClr val="1C2437"/>
          </a:solidFill>
          <a:ln/>
        </p:spPr>
      </p:sp>
      <p:sp>
        <p:nvSpPr>
          <p:cNvPr id="6" name="Icon circle"/>
          <p:cNvSpPr/>
          <p:nvPr/>
        </p:nvSpPr>
        <p:spPr>
          <a:xfrm>
            <a:off x="8119872" y="1645920"/>
            <a:ext cx="493776" cy="493776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8378" y="1764426"/>
            <a:ext cx="256764" cy="256764"/>
          </a:xfrm>
          <a:prstGeom prst="rect">
            <a:avLst/>
          </a:prstGeom>
        </p:spPr>
      </p:pic>
      <p:sp>
        <p:nvSpPr>
          <p:cNvPr id="8" name="Agenda item"/>
          <p:cNvSpPr txBox="1"/>
          <p:nvPr/>
        </p:nvSpPr>
        <p:spPr>
          <a:xfrm>
            <a:off x="8778240" y="1691640"/>
            <a:ext cx="2636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522"/>
                </a:solidFill>
              </a:rPr>
              <a:t>2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three agents</a:t>
            </a:r>
            <a:endParaRPr lang="en-US" sz="1700" dirty="0"/>
          </a:p>
        </p:txBody>
      </p:sp>
      <p:sp>
        <p:nvSpPr>
          <p:cNvPr id="9" name="Icon circle"/>
          <p:cNvSpPr/>
          <p:nvPr/>
        </p:nvSpPr>
        <p:spPr>
          <a:xfrm>
            <a:off x="8119872" y="2350008"/>
            <a:ext cx="493776" cy="493776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378" y="2468514"/>
            <a:ext cx="256764" cy="256764"/>
          </a:xfrm>
          <a:prstGeom prst="rect">
            <a:avLst/>
          </a:prstGeom>
        </p:spPr>
      </p:pic>
      <p:sp>
        <p:nvSpPr>
          <p:cNvPr id="11" name="Agenda item"/>
          <p:cNvSpPr txBox="1"/>
          <p:nvPr/>
        </p:nvSpPr>
        <p:spPr>
          <a:xfrm>
            <a:off x="8778240" y="2395728"/>
            <a:ext cx="2636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522"/>
                </a:solidFill>
              </a:rPr>
              <a:t>3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How I prepare and coach</a:t>
            </a:r>
            <a:endParaRPr lang="en-US" sz="1700" dirty="0"/>
          </a:p>
        </p:txBody>
      </p:sp>
      <p:sp>
        <p:nvSpPr>
          <p:cNvPr id="12" name="Icon circle"/>
          <p:cNvSpPr/>
          <p:nvPr/>
        </p:nvSpPr>
        <p:spPr>
          <a:xfrm>
            <a:off x="8119872" y="3054096"/>
            <a:ext cx="493776" cy="493776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13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378" y="3172602"/>
            <a:ext cx="256764" cy="256764"/>
          </a:xfrm>
          <a:prstGeom prst="rect">
            <a:avLst/>
          </a:prstGeom>
        </p:spPr>
      </p:pic>
      <p:sp>
        <p:nvSpPr>
          <p:cNvPr id="14" name="Agenda item"/>
          <p:cNvSpPr txBox="1"/>
          <p:nvPr/>
        </p:nvSpPr>
        <p:spPr>
          <a:xfrm>
            <a:off x="8778240" y="3099816"/>
            <a:ext cx="263621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6522"/>
                </a:solidFill>
              </a:rPr>
              <a:t>4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next 30 days</a:t>
            </a:r>
            <a:endParaRPr lang="en-US" sz="1700" dirty="0"/>
          </a:p>
        </p:txBody>
      </p:sp>
      <p:sp>
        <p:nvSpPr>
          <p:cNvPr id="15" name="Label"/>
          <p:cNvSpPr txBox="1"/>
          <p:nvPr/>
        </p:nvSpPr>
        <p:spPr>
          <a:xfrm>
            <a:off x="548640" y="5257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C96AC"/>
                </a:solidFill>
              </a:rPr>
              <a:t>PRESENTED BY</a:t>
            </a:r>
            <a:endParaRPr lang="en-US" sz="1050" dirty="0"/>
          </a:p>
        </p:txBody>
      </p:sp>
      <p:sp>
        <p:nvSpPr>
          <p:cNvPr id="16" name="Cover detail"/>
          <p:cNvSpPr txBox="1"/>
          <p:nvPr/>
        </p:nvSpPr>
        <p:spPr>
          <a:xfrm>
            <a:off x="548640" y="5532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Omar Mansour, Supervisor</a:t>
            </a:r>
            <a:endParaRPr lang="en-US" sz="1700" dirty="0"/>
          </a:p>
        </p:txBody>
      </p:sp>
      <p:sp>
        <p:nvSpPr>
          <p:cNvPr id="17" name="Label"/>
          <p:cNvSpPr txBox="1"/>
          <p:nvPr/>
        </p:nvSpPr>
        <p:spPr>
          <a:xfrm>
            <a:off x="4251960" y="5257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C96AC"/>
                </a:solidFill>
              </a:rPr>
              <a:t>FOCUS</a:t>
            </a:r>
            <a:endParaRPr lang="en-US" sz="1050" dirty="0"/>
          </a:p>
        </p:txBody>
      </p:sp>
      <p:sp>
        <p:nvSpPr>
          <p:cNvPr id="18" name="Cover detail"/>
          <p:cNvSpPr txBox="1"/>
          <p:nvPr/>
        </p:nvSpPr>
        <p:spPr>
          <a:xfrm>
            <a:off x="4251960" y="5532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Three agents, coached weekly</a:t>
            </a:r>
            <a:endParaRPr lang="en-US" sz="1700" dirty="0"/>
          </a:p>
        </p:txBody>
      </p:sp>
      <p:sp>
        <p:nvSpPr>
          <p:cNvPr id="19" name="Label"/>
          <p:cNvSpPr txBox="1"/>
          <p:nvPr/>
        </p:nvSpPr>
        <p:spPr>
          <a:xfrm>
            <a:off x="7955280" y="5257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C96AC"/>
                </a:solidFill>
              </a:rPr>
              <a:t>SESSION</a:t>
            </a:r>
            <a:endParaRPr lang="en-US" sz="1050" dirty="0"/>
          </a:p>
        </p:txBody>
      </p:sp>
      <p:sp>
        <p:nvSpPr>
          <p:cNvPr id="20" name="Cover detail"/>
          <p:cNvSpPr txBox="1"/>
          <p:nvPr/>
        </p:nvSpPr>
        <p:spPr>
          <a:xfrm>
            <a:off x="7955280" y="5532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Week of October 19, 2026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A10"/>
                </a:solidFill>
              </a:rPr>
              <a:t>THE AGENTS I AM COACHING FIRST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agents, the same six behaviors</a:t>
            </a:r>
            <a:endParaRPr lang="en-US" sz="3200" dirty="0"/>
          </a:p>
        </p:txBody>
      </p:sp>
      <p:sp>
        <p:nvSpPr>
          <p:cNvPr id="4" name="Behaviors band"/>
          <p:cNvSpPr/>
          <p:nvPr/>
        </p:nvSpPr>
        <p:spPr>
          <a:xfrm>
            <a:off x="548640" y="1691640"/>
            <a:ext cx="11094415" cy="1325880"/>
          </a:xfrm>
          <a:prstGeom prst="roundRect">
            <a:avLst>
              <a:gd name="adj" fmla="val 10345"/>
            </a:avLst>
          </a:prstGeom>
          <a:solidFill>
            <a:srgbClr val="F6F3EE"/>
          </a:solidFill>
          <a:ln/>
        </p:spPr>
      </p:sp>
      <p:sp>
        <p:nvSpPr>
          <p:cNvPr id="5" name="Label"/>
          <p:cNvSpPr txBox="1"/>
          <p:nvPr/>
        </p:nvSpPr>
        <p:spPr>
          <a:xfrm>
            <a:off x="822960" y="1856232"/>
            <a:ext cx="105457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B7280"/>
                </a:solidFill>
              </a:rPr>
              <a:t>WHAT ALL THREE NEED, COACHED TWO AT A TIME</a:t>
            </a:r>
            <a:endParaRPr lang="en-US" sz="1050" dirty="0"/>
          </a:p>
        </p:txBody>
      </p:sp>
      <p:sp>
        <p:nvSpPr>
          <p:cNvPr id="6" name="Step box"/>
          <p:cNvSpPr/>
          <p:nvPr/>
        </p:nvSpPr>
        <p:spPr>
          <a:xfrm>
            <a:off x="822960" y="2148840"/>
            <a:ext cx="339333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3DED7"/>
            </a:solidFill>
            <a:prstDash val="solid"/>
          </a:ln>
        </p:spPr>
      </p:sp>
      <p:sp>
        <p:nvSpPr>
          <p:cNvPr id="7" name="Step label"/>
          <p:cNvSpPr txBox="1"/>
          <p:nvPr/>
        </p:nvSpPr>
        <p:spPr>
          <a:xfrm>
            <a:off x="987552" y="2212848"/>
            <a:ext cx="30641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4A10"/>
                </a:solidFill>
              </a:rPr>
              <a:t>STEP 1 · WEEK 1</a:t>
            </a:r>
            <a:endParaRPr lang="en-US" sz="950" dirty="0"/>
          </a:p>
        </p:txBody>
      </p:sp>
      <p:sp>
        <p:nvSpPr>
          <p:cNvPr id="8" name="Step behaviors"/>
          <p:cNvSpPr txBox="1"/>
          <p:nvPr/>
        </p:nvSpPr>
        <p:spPr>
          <a:xfrm>
            <a:off x="987552" y="2404872"/>
            <a:ext cx="30641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</a:rPr>
              <a:t>Acknowledgement and empathy</a:t>
            </a:r>
            <a:endParaRPr lang="en-US" sz="1250" dirty="0"/>
          </a:p>
        </p:txBody>
      </p:sp>
      <p:sp>
        <p:nvSpPr>
          <p:cNvPr id="9" name="Step box"/>
          <p:cNvSpPr/>
          <p:nvPr/>
        </p:nvSpPr>
        <p:spPr>
          <a:xfrm>
            <a:off x="4399178" y="2148840"/>
            <a:ext cx="339333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3DED7"/>
            </a:solidFill>
            <a:prstDash val="solid"/>
          </a:ln>
        </p:spPr>
      </p:sp>
      <p:sp>
        <p:nvSpPr>
          <p:cNvPr id="10" name="Step label"/>
          <p:cNvSpPr txBox="1"/>
          <p:nvPr/>
        </p:nvSpPr>
        <p:spPr>
          <a:xfrm>
            <a:off x="4563770" y="2212848"/>
            <a:ext cx="30641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4A10"/>
                </a:solidFill>
              </a:rPr>
              <a:t>STEP 2 · WEEK 2</a:t>
            </a:r>
            <a:endParaRPr lang="en-US" sz="950" dirty="0"/>
          </a:p>
        </p:txBody>
      </p:sp>
      <p:sp>
        <p:nvSpPr>
          <p:cNvPr id="11" name="Step behaviors"/>
          <p:cNvSpPr txBox="1"/>
          <p:nvPr/>
        </p:nvSpPr>
        <p:spPr>
          <a:xfrm>
            <a:off x="4563770" y="2404872"/>
            <a:ext cx="30641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</a:rPr>
              <a:t>Assurance and rapport</a:t>
            </a:r>
            <a:endParaRPr lang="en-US" sz="1250" dirty="0"/>
          </a:p>
        </p:txBody>
      </p:sp>
      <p:sp>
        <p:nvSpPr>
          <p:cNvPr id="12" name="Step box"/>
          <p:cNvSpPr/>
          <p:nvPr/>
        </p:nvSpPr>
        <p:spPr>
          <a:xfrm>
            <a:off x="7975397" y="2148840"/>
            <a:ext cx="3393338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3DED7"/>
            </a:solidFill>
            <a:prstDash val="solid"/>
          </a:ln>
        </p:spPr>
      </p:sp>
      <p:sp>
        <p:nvSpPr>
          <p:cNvPr id="13" name="Step label"/>
          <p:cNvSpPr txBox="1"/>
          <p:nvPr/>
        </p:nvSpPr>
        <p:spPr>
          <a:xfrm>
            <a:off x="8139989" y="2212848"/>
            <a:ext cx="30641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94A10"/>
                </a:solidFill>
              </a:rPr>
              <a:t>STEP 3 · WEEK 3</a:t>
            </a:r>
            <a:endParaRPr lang="en-US" sz="950" dirty="0"/>
          </a:p>
        </p:txBody>
      </p:sp>
      <p:sp>
        <p:nvSpPr>
          <p:cNvPr id="14" name="Step behaviors"/>
          <p:cNvSpPr txBox="1"/>
          <p:nvPr/>
        </p:nvSpPr>
        <p:spPr>
          <a:xfrm>
            <a:off x="8139989" y="2404872"/>
            <a:ext cx="306415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</a:rPr>
              <a:t>Tone of voice, and no unexplained mute or silence</a:t>
            </a:r>
            <a:endParaRPr lang="en-US" sz="1250" dirty="0"/>
          </a:p>
        </p:txBody>
      </p:sp>
      <p:sp>
        <p:nvSpPr>
          <p:cNvPr id="15" name="Agent card"/>
          <p:cNvSpPr/>
          <p:nvPr/>
        </p:nvSpPr>
        <p:spPr>
          <a:xfrm>
            <a:off x="548640" y="3200400"/>
            <a:ext cx="3515258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Agent name"/>
          <p:cNvSpPr txBox="1"/>
          <p:nvPr/>
        </p:nvSpPr>
        <p:spPr>
          <a:xfrm>
            <a:off x="804672" y="3364992"/>
            <a:ext cx="30031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</a:rPr>
              <a:t>Mohammed Ammar</a:t>
            </a:r>
            <a:endParaRPr lang="en-US" sz="1700" dirty="0"/>
          </a:p>
        </p:txBody>
      </p:sp>
      <p:sp>
        <p:nvSpPr>
          <p:cNvPr id="17" name="Tag"/>
          <p:cNvSpPr/>
          <p:nvPr/>
        </p:nvSpPr>
        <p:spPr>
          <a:xfrm>
            <a:off x="2664866" y="3392424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E3F2EC"/>
          </a:solidFill>
          <a:ln/>
        </p:spPr>
      </p:sp>
      <p:sp>
        <p:nvSpPr>
          <p:cNvPr id="18" name="Tag text"/>
          <p:cNvSpPr txBox="1"/>
          <p:nvPr/>
        </p:nvSpPr>
        <p:spPr>
          <a:xfrm>
            <a:off x="2664866" y="339242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1E7F5C"/>
                </a:solidFill>
              </a:rPr>
              <a:t>IMPROVING</a:t>
            </a:r>
            <a:endParaRPr lang="en-US" sz="950" dirty="0"/>
          </a:p>
        </p:txBody>
      </p:sp>
      <p:sp>
        <p:nvSpPr>
          <p:cNvPr id="19" name="Agent tNPS"/>
          <p:cNvSpPr txBox="1"/>
          <p:nvPr/>
        </p:nvSpPr>
        <p:spPr>
          <a:xfrm>
            <a:off x="804672" y="3730752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2318"/>
                </a:solidFill>
              </a:rPr>
              <a:t>−37.5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  tNPS</a:t>
            </a:r>
            <a:endParaRPr lang="en-US" sz="2800" dirty="0"/>
          </a:p>
        </p:txBody>
      </p:sp>
      <p:sp>
        <p:nvSpPr>
          <p:cNvPr id="20" name="Agent numbers"/>
          <p:cNvSpPr txBox="1"/>
          <p:nvPr/>
        </p:nvSpPr>
        <p:spPr>
          <a:xfrm>
            <a:off x="804672" y="4169664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53"/>
                </a:solidFill>
              </a:rPr>
              <a:t>16 surveys · aiCR 61.3% · 5 XM lines</a:t>
            </a:r>
            <a:endParaRPr lang="en-US" sz="1200" dirty="0"/>
          </a:p>
        </p:txBody>
      </p:sp>
      <p:sp>
        <p:nvSpPr>
          <p:cNvPr id="21" name="Divider"/>
          <p:cNvSpPr/>
          <p:nvPr/>
        </p:nvSpPr>
        <p:spPr>
          <a:xfrm>
            <a:off x="804672" y="4498848"/>
            <a:ext cx="3003194" cy="0"/>
          </a:xfrm>
          <a:prstGeom prst="line">
            <a:avLst/>
          </a:prstGeom>
          <a:noFill/>
          <a:ln w="9525">
            <a:solidFill>
              <a:srgbClr val="E3DED7"/>
            </a:solidFill>
            <a:prstDash val="solid"/>
          </a:ln>
        </p:spPr>
      </p:sp>
      <p:sp>
        <p:nvSpPr>
          <p:cNvPr id="22" name="Label"/>
          <p:cNvSpPr txBox="1"/>
          <p:nvPr/>
        </p:nvSpPr>
        <p:spPr>
          <a:xfrm>
            <a:off x="804672" y="460857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4A10"/>
                </a:solidFill>
              </a:rPr>
              <a:t>PLAN</a:t>
            </a:r>
            <a:endParaRPr lang="en-US" sz="1050" dirty="0"/>
          </a:p>
        </p:txBody>
      </p:sp>
      <p:sp>
        <p:nvSpPr>
          <p:cNvPr id="23" name="Paragraph"/>
          <p:cNvSpPr txBox="1"/>
          <p:nvPr/>
        </p:nvSpPr>
        <p:spPr>
          <a:xfrm>
            <a:off x="804672" y="4846320"/>
            <a:ext cx="300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453"/>
                </a:solidFill>
              </a:rPr>
              <a:t>Improving over the last period. Same plan, kept going step by step so the gains hold.</a:t>
            </a:r>
            <a:endParaRPr lang="en-US" sz="1250" dirty="0"/>
          </a:p>
        </p:txBody>
      </p:sp>
      <p:sp>
        <p:nvSpPr>
          <p:cNvPr id="24" name="Label"/>
          <p:cNvSpPr txBox="1"/>
          <p:nvPr/>
        </p:nvSpPr>
        <p:spPr>
          <a:xfrm>
            <a:off x="804672" y="5468112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4A10"/>
                </a:solidFill>
              </a:rPr>
              <a:t>FOLLOW-UP</a:t>
            </a:r>
            <a:endParaRPr lang="en-US" sz="1050" dirty="0"/>
          </a:p>
        </p:txBody>
      </p:sp>
      <p:sp>
        <p:nvSpPr>
          <p:cNvPr id="25" name="Paragraph"/>
          <p:cNvSpPr txBox="1"/>
          <p:nvPr/>
        </p:nvSpPr>
        <p:spPr>
          <a:xfrm>
            <a:off x="804672" y="5705856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</a:rPr>
              <a:t>2 calls a week, side by side</a:t>
            </a:r>
            <a:endParaRPr lang="en-US" sz="1250" dirty="0"/>
          </a:p>
        </p:txBody>
      </p:sp>
      <p:sp>
        <p:nvSpPr>
          <p:cNvPr id="26" name="Agent card"/>
          <p:cNvSpPr/>
          <p:nvPr/>
        </p:nvSpPr>
        <p:spPr>
          <a:xfrm>
            <a:off x="4338218" y="3200400"/>
            <a:ext cx="3515258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Agent name"/>
          <p:cNvSpPr txBox="1"/>
          <p:nvPr/>
        </p:nvSpPr>
        <p:spPr>
          <a:xfrm>
            <a:off x="4594250" y="3364992"/>
            <a:ext cx="30031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</a:rPr>
              <a:t>Mohamed Mahmoud</a:t>
            </a:r>
            <a:endParaRPr lang="en-US" sz="1700" dirty="0"/>
          </a:p>
        </p:txBody>
      </p:sp>
      <p:sp>
        <p:nvSpPr>
          <p:cNvPr id="28" name="Agent tNPS"/>
          <p:cNvSpPr txBox="1"/>
          <p:nvPr/>
        </p:nvSpPr>
        <p:spPr>
          <a:xfrm>
            <a:off x="4594250" y="3730752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2318"/>
                </a:solidFill>
              </a:rPr>
              <a:t>−20.0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  tNPS</a:t>
            </a:r>
            <a:endParaRPr lang="en-US" sz="2800" dirty="0"/>
          </a:p>
        </p:txBody>
      </p:sp>
      <p:sp>
        <p:nvSpPr>
          <p:cNvPr id="29" name="Agent numbers"/>
          <p:cNvSpPr txBox="1"/>
          <p:nvPr/>
        </p:nvSpPr>
        <p:spPr>
          <a:xfrm>
            <a:off x="4594250" y="4169664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53"/>
                </a:solidFill>
              </a:rPr>
              <a:t>15 surveys · aiCR 65.4% · 1 XM line</a:t>
            </a:r>
            <a:endParaRPr lang="en-US" sz="1200" dirty="0"/>
          </a:p>
        </p:txBody>
      </p:sp>
      <p:sp>
        <p:nvSpPr>
          <p:cNvPr id="30" name="Divider"/>
          <p:cNvSpPr/>
          <p:nvPr/>
        </p:nvSpPr>
        <p:spPr>
          <a:xfrm>
            <a:off x="4594250" y="4498848"/>
            <a:ext cx="3003194" cy="0"/>
          </a:xfrm>
          <a:prstGeom prst="line">
            <a:avLst/>
          </a:prstGeom>
          <a:noFill/>
          <a:ln w="9525">
            <a:solidFill>
              <a:srgbClr val="E3DED7"/>
            </a:solidFill>
            <a:prstDash val="solid"/>
          </a:ln>
        </p:spPr>
      </p:sp>
      <p:sp>
        <p:nvSpPr>
          <p:cNvPr id="31" name="Label"/>
          <p:cNvSpPr txBox="1"/>
          <p:nvPr/>
        </p:nvSpPr>
        <p:spPr>
          <a:xfrm>
            <a:off x="4594250" y="460857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4A10"/>
                </a:solidFill>
              </a:rPr>
              <a:t>PLAN</a:t>
            </a:r>
            <a:endParaRPr lang="en-US" sz="1050" dirty="0"/>
          </a:p>
        </p:txBody>
      </p:sp>
      <p:sp>
        <p:nvSpPr>
          <p:cNvPr id="32" name="Paragraph"/>
          <p:cNvSpPr txBox="1"/>
          <p:nvPr/>
        </p:nvSpPr>
        <p:spPr>
          <a:xfrm>
            <a:off x="4594250" y="4846320"/>
            <a:ext cx="300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453"/>
                </a:solidFill>
              </a:rPr>
              <a:t>Starts at step 1 this week. I model the acknowledgement, then we role play it on his own calls.</a:t>
            </a:r>
            <a:endParaRPr lang="en-US" sz="1250" dirty="0"/>
          </a:p>
        </p:txBody>
      </p:sp>
      <p:sp>
        <p:nvSpPr>
          <p:cNvPr id="33" name="Label"/>
          <p:cNvSpPr txBox="1"/>
          <p:nvPr/>
        </p:nvSpPr>
        <p:spPr>
          <a:xfrm>
            <a:off x="4594250" y="5468112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4A10"/>
                </a:solidFill>
              </a:rPr>
              <a:t>FOLLOW-UP</a:t>
            </a:r>
            <a:endParaRPr lang="en-US" sz="1050" dirty="0"/>
          </a:p>
        </p:txBody>
      </p:sp>
      <p:sp>
        <p:nvSpPr>
          <p:cNvPr id="34" name="Paragraph"/>
          <p:cNvSpPr txBox="1"/>
          <p:nvPr/>
        </p:nvSpPr>
        <p:spPr>
          <a:xfrm>
            <a:off x="4594250" y="5705856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</a:rPr>
              <a:t>2 to 4 calls before each weekly session</a:t>
            </a:r>
            <a:endParaRPr lang="en-US" sz="1250" dirty="0"/>
          </a:p>
        </p:txBody>
      </p:sp>
      <p:sp>
        <p:nvSpPr>
          <p:cNvPr id="35" name="Agent card"/>
          <p:cNvSpPr/>
          <p:nvPr/>
        </p:nvSpPr>
        <p:spPr>
          <a:xfrm>
            <a:off x="8127797" y="3200400"/>
            <a:ext cx="3515258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Agent name"/>
          <p:cNvSpPr txBox="1"/>
          <p:nvPr/>
        </p:nvSpPr>
        <p:spPr>
          <a:xfrm>
            <a:off x="8383829" y="3364992"/>
            <a:ext cx="300319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1826"/>
                </a:solidFill>
              </a:rPr>
              <a:t>Ahmed Elbanna</a:t>
            </a:r>
            <a:endParaRPr lang="en-US" sz="1700" dirty="0"/>
          </a:p>
        </p:txBody>
      </p:sp>
      <p:sp>
        <p:nvSpPr>
          <p:cNvPr id="37" name="Agent tNPS"/>
          <p:cNvSpPr txBox="1"/>
          <p:nvPr/>
        </p:nvSpPr>
        <p:spPr>
          <a:xfrm>
            <a:off x="8383829" y="3730752"/>
            <a:ext cx="30031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42318"/>
                </a:solidFill>
              </a:rPr>
              <a:t>−15.4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  tNPS</a:t>
            </a:r>
            <a:endParaRPr lang="en-US" sz="2800" dirty="0"/>
          </a:p>
        </p:txBody>
      </p:sp>
      <p:sp>
        <p:nvSpPr>
          <p:cNvPr id="38" name="Agent numbers"/>
          <p:cNvSpPr txBox="1"/>
          <p:nvPr/>
        </p:nvSpPr>
        <p:spPr>
          <a:xfrm>
            <a:off x="8383829" y="4169664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4453"/>
                </a:solidFill>
              </a:rPr>
              <a:t>13 surveys · aiCR 58.1% · 1 XM line</a:t>
            </a:r>
            <a:endParaRPr lang="en-US" sz="1200" dirty="0"/>
          </a:p>
        </p:txBody>
      </p:sp>
      <p:sp>
        <p:nvSpPr>
          <p:cNvPr id="39" name="Divider"/>
          <p:cNvSpPr/>
          <p:nvPr/>
        </p:nvSpPr>
        <p:spPr>
          <a:xfrm>
            <a:off x="8383829" y="4498848"/>
            <a:ext cx="3003194" cy="0"/>
          </a:xfrm>
          <a:prstGeom prst="line">
            <a:avLst/>
          </a:prstGeom>
          <a:noFill/>
          <a:ln w="9525">
            <a:solidFill>
              <a:srgbClr val="E3DED7"/>
            </a:solidFill>
            <a:prstDash val="solid"/>
          </a:ln>
        </p:spPr>
      </p:sp>
      <p:sp>
        <p:nvSpPr>
          <p:cNvPr id="40" name="Label"/>
          <p:cNvSpPr txBox="1"/>
          <p:nvPr/>
        </p:nvSpPr>
        <p:spPr>
          <a:xfrm>
            <a:off x="8383829" y="460857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4A10"/>
                </a:solidFill>
              </a:rPr>
              <a:t>PLAN</a:t>
            </a:r>
            <a:endParaRPr lang="en-US" sz="1050" dirty="0"/>
          </a:p>
        </p:txBody>
      </p:sp>
      <p:sp>
        <p:nvSpPr>
          <p:cNvPr id="41" name="Paragraph"/>
          <p:cNvSpPr txBox="1"/>
          <p:nvPr/>
        </p:nvSpPr>
        <p:spPr>
          <a:xfrm>
            <a:off x="8383829" y="4846320"/>
            <a:ext cx="30031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453"/>
                </a:solidFill>
              </a:rPr>
              <a:t>Starts at step 1 this week. I model the empathy line, then we role play it on his own calls.</a:t>
            </a:r>
            <a:endParaRPr lang="en-US" sz="1250" dirty="0"/>
          </a:p>
        </p:txBody>
      </p:sp>
      <p:sp>
        <p:nvSpPr>
          <p:cNvPr id="42" name="Label"/>
          <p:cNvSpPr txBox="1"/>
          <p:nvPr/>
        </p:nvSpPr>
        <p:spPr>
          <a:xfrm>
            <a:off x="8383829" y="5468112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4A10"/>
                </a:solidFill>
              </a:rPr>
              <a:t>FOLLOW-UP</a:t>
            </a:r>
            <a:endParaRPr lang="en-US" sz="1050" dirty="0"/>
          </a:p>
        </p:txBody>
      </p:sp>
      <p:sp>
        <p:nvSpPr>
          <p:cNvPr id="43" name="Paragraph"/>
          <p:cNvSpPr txBox="1"/>
          <p:nvPr/>
        </p:nvSpPr>
        <p:spPr>
          <a:xfrm>
            <a:off x="8383829" y="5705856"/>
            <a:ext cx="3003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</a:rPr>
              <a:t>2 to 4 calls before each weekly session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A10"/>
                </a:solidFill>
              </a:rPr>
              <a:t>MAPPED TO THE FIVE COACHING CALIBRATION FOCUS AREAS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prepare and coach, two behaviors at a time</a:t>
            </a:r>
            <a:endParaRPr lang="en-US" sz="3200" dirty="0"/>
          </a:p>
        </p:txBody>
      </p:sp>
      <p:sp>
        <p:nvSpPr>
          <p:cNvPr id="4" name="Focus area 1 card"/>
          <p:cNvSpPr/>
          <p:nvPr/>
        </p:nvSpPr>
        <p:spPr>
          <a:xfrm>
            <a:off x="548640" y="1691640"/>
            <a:ext cx="2036003" cy="3154680"/>
          </a:xfrm>
          <a:prstGeom prst="roundRect">
            <a:avLst>
              <a:gd name="adj" fmla="val 6737"/>
            </a:avLst>
          </a:prstGeom>
          <a:solidFill>
            <a:srgbClr val="F6F3EE"/>
          </a:solidFill>
          <a:ln/>
        </p:spPr>
      </p:sp>
      <p:sp>
        <p:nvSpPr>
          <p:cNvPr id="5" name="Icon circle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FDE9DF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984248"/>
            <a:ext cx="237744" cy="237744"/>
          </a:xfrm>
          <a:prstGeom prst="rect">
            <a:avLst/>
          </a:prstGeom>
        </p:spPr>
      </p:pic>
      <p:sp>
        <p:nvSpPr>
          <p:cNvPr id="7" name="Step number"/>
          <p:cNvSpPr txBox="1"/>
          <p:nvPr/>
        </p:nvSpPr>
        <p:spPr>
          <a:xfrm>
            <a:off x="2036003" y="1874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26522"/>
                </a:solidFill>
              </a:rPr>
              <a:t>1</a:t>
            </a:r>
            <a:endParaRPr lang="en-US" sz="2600" dirty="0"/>
          </a:p>
        </p:txBody>
      </p:sp>
      <p:sp>
        <p:nvSpPr>
          <p:cNvPr id="8" name="Focus area title"/>
          <p:cNvSpPr txBox="1"/>
          <p:nvPr/>
        </p:nvSpPr>
        <p:spPr>
          <a:xfrm>
            <a:off x="731520" y="244144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</a:rPr>
              <a:t>Preparation and data</a:t>
            </a:r>
            <a:endParaRPr lang="en-US" sz="1400" dirty="0"/>
          </a:p>
        </p:txBody>
      </p:sp>
      <p:sp>
        <p:nvSpPr>
          <p:cNvPr id="9" name="Focus area list"/>
          <p:cNvSpPr txBox="1"/>
          <p:nvPr/>
        </p:nvSpPr>
        <p:spPr>
          <a:xfrm>
            <a:off x="731520" y="2935224"/>
            <a:ext cx="171596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Tableau, Power BI and i3 before every session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Pick the one KPI gap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Listen to 2 to 4 calls per agent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Self-check with my Coaching Intelligence toolkit</a:t>
            </a:r>
            <a:endParaRPr lang="en-US" sz="1150" dirty="0"/>
          </a:p>
        </p:txBody>
      </p:sp>
      <p:sp>
        <p:nvSpPr>
          <p:cNvPr id="10" name="Ammar example 1"/>
          <p:cNvSpPr/>
          <p:nvPr/>
        </p:nvSpPr>
        <p:spPr>
          <a:xfrm>
            <a:off x="548640" y="5376672"/>
            <a:ext cx="2036003" cy="749808"/>
          </a:xfrm>
          <a:prstGeom prst="roundRect">
            <a:avLst>
              <a:gd name="adj" fmla="val 18293"/>
            </a:avLst>
          </a:prstGeom>
          <a:solidFill>
            <a:srgbClr val="121826"/>
          </a:solidFill>
          <a:ln/>
        </p:spPr>
      </p:sp>
      <p:sp>
        <p:nvSpPr>
          <p:cNvPr id="11" name="Paragraph"/>
          <p:cNvSpPr txBox="1"/>
          <p:nvPr/>
        </p:nvSpPr>
        <p:spPr>
          <a:xfrm>
            <a:off x="731520" y="5449824"/>
            <a:ext cx="16702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tNPS −37.5 on 16 surveys, and improving over the last period</a:t>
            </a:r>
            <a:endParaRPr lang="en-US" sz="1150" dirty="0"/>
          </a:p>
        </p:txBody>
      </p:sp>
      <p:sp>
        <p:nvSpPr>
          <p:cNvPr id="12" name="Focus area 2 card"/>
          <p:cNvSpPr/>
          <p:nvPr/>
        </p:nvSpPr>
        <p:spPr>
          <a:xfrm>
            <a:off x="2813243" y="1691640"/>
            <a:ext cx="2036003" cy="3154680"/>
          </a:xfrm>
          <a:prstGeom prst="roundRect">
            <a:avLst>
              <a:gd name="adj" fmla="val 6737"/>
            </a:avLst>
          </a:prstGeom>
          <a:solidFill>
            <a:srgbClr val="F6F3EE"/>
          </a:solidFill>
          <a:ln/>
        </p:spPr>
      </p:sp>
      <p:sp>
        <p:nvSpPr>
          <p:cNvPr id="13" name="Icon circle"/>
          <p:cNvSpPr/>
          <p:nvPr/>
        </p:nvSpPr>
        <p:spPr>
          <a:xfrm>
            <a:off x="2996123" y="1874520"/>
            <a:ext cx="457200" cy="457200"/>
          </a:xfrm>
          <a:prstGeom prst="ellipse">
            <a:avLst/>
          </a:prstGeom>
          <a:solidFill>
            <a:srgbClr val="FDE9DF"/>
          </a:solidFill>
          <a:ln/>
        </p:spPr>
      </p:sp>
      <p:pic>
        <p:nvPicPr>
          <p:cNvPr id="14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5851" y="1984248"/>
            <a:ext cx="237744" cy="237744"/>
          </a:xfrm>
          <a:prstGeom prst="rect">
            <a:avLst/>
          </a:prstGeom>
        </p:spPr>
      </p:pic>
      <p:sp>
        <p:nvSpPr>
          <p:cNvPr id="15" name="Step number"/>
          <p:cNvSpPr txBox="1"/>
          <p:nvPr/>
        </p:nvSpPr>
        <p:spPr>
          <a:xfrm>
            <a:off x="4300606" y="1874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26522"/>
                </a:solidFill>
              </a:rPr>
              <a:t>2</a:t>
            </a:r>
            <a:endParaRPr lang="en-US" sz="2600" dirty="0"/>
          </a:p>
        </p:txBody>
      </p:sp>
      <p:sp>
        <p:nvSpPr>
          <p:cNvPr id="16" name="Focus area title"/>
          <p:cNvSpPr txBox="1"/>
          <p:nvPr/>
        </p:nvSpPr>
        <p:spPr>
          <a:xfrm>
            <a:off x="2996123" y="244144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</a:rPr>
              <a:t>Root cause, not symptoms</a:t>
            </a:r>
            <a:endParaRPr lang="en-US" sz="1400" dirty="0"/>
          </a:p>
        </p:txBody>
      </p:sp>
      <p:sp>
        <p:nvSpPr>
          <p:cNvPr id="17" name="Focus area list"/>
          <p:cNvSpPr txBox="1"/>
          <p:nvPr/>
        </p:nvSpPr>
        <p:spPr>
          <a:xfrm>
            <a:off x="2996123" y="2935224"/>
            <a:ext cx="171596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“What was going through your mind at that moment?”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Knowledge or skill, or will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Found here: assurance, empathy, acknowledgement, rapport, tone of voice, unexplained mute and silence</a:t>
            </a:r>
            <a:endParaRPr lang="en-US" sz="1150" dirty="0"/>
          </a:p>
        </p:txBody>
      </p:sp>
      <p:sp>
        <p:nvSpPr>
          <p:cNvPr id="18" name="Ammar example 2"/>
          <p:cNvSpPr/>
          <p:nvPr/>
        </p:nvSpPr>
        <p:spPr>
          <a:xfrm>
            <a:off x="2813243" y="5376672"/>
            <a:ext cx="2036003" cy="749808"/>
          </a:xfrm>
          <a:prstGeom prst="roundRect">
            <a:avLst>
              <a:gd name="adj" fmla="val 18293"/>
            </a:avLst>
          </a:prstGeom>
          <a:solidFill>
            <a:srgbClr val="121826"/>
          </a:solidFill>
          <a:ln/>
        </p:spPr>
      </p:sp>
      <p:sp>
        <p:nvSpPr>
          <p:cNvPr id="19" name="Paragraph"/>
          <p:cNvSpPr txBox="1"/>
          <p:nvPr/>
        </p:nvSpPr>
        <p:spPr>
          <a:xfrm>
            <a:off x="2996123" y="5449824"/>
            <a:ext cx="16702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Not knowledge: assurance, empathy, rapport, tone and unexplained mute</a:t>
            </a:r>
            <a:endParaRPr lang="en-US" sz="1150" dirty="0"/>
          </a:p>
        </p:txBody>
      </p:sp>
      <p:sp>
        <p:nvSpPr>
          <p:cNvPr id="20" name="Focus area 3 card"/>
          <p:cNvSpPr/>
          <p:nvPr/>
        </p:nvSpPr>
        <p:spPr>
          <a:xfrm>
            <a:off x="5077846" y="1691640"/>
            <a:ext cx="2036003" cy="3154680"/>
          </a:xfrm>
          <a:prstGeom prst="roundRect">
            <a:avLst>
              <a:gd name="adj" fmla="val 6737"/>
            </a:avLst>
          </a:prstGeom>
          <a:solidFill>
            <a:srgbClr val="F6F3EE"/>
          </a:solidFill>
          <a:ln/>
        </p:spPr>
      </p:sp>
      <p:sp>
        <p:nvSpPr>
          <p:cNvPr id="21" name="Icon circle"/>
          <p:cNvSpPr/>
          <p:nvPr/>
        </p:nvSpPr>
        <p:spPr>
          <a:xfrm>
            <a:off x="5260726" y="1874520"/>
            <a:ext cx="457200" cy="457200"/>
          </a:xfrm>
          <a:prstGeom prst="ellipse">
            <a:avLst/>
          </a:prstGeom>
          <a:solidFill>
            <a:srgbClr val="FDE9DF"/>
          </a:solidFill>
          <a:ln/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0454" y="1984248"/>
            <a:ext cx="237744" cy="237744"/>
          </a:xfrm>
          <a:prstGeom prst="rect">
            <a:avLst/>
          </a:prstGeom>
        </p:spPr>
      </p:pic>
      <p:sp>
        <p:nvSpPr>
          <p:cNvPr id="23" name="Step number"/>
          <p:cNvSpPr txBox="1"/>
          <p:nvPr/>
        </p:nvSpPr>
        <p:spPr>
          <a:xfrm>
            <a:off x="6565209" y="1874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26522"/>
                </a:solidFill>
              </a:rPr>
              <a:t>3</a:t>
            </a:r>
            <a:endParaRPr lang="en-US" sz="2600" dirty="0"/>
          </a:p>
        </p:txBody>
      </p:sp>
      <p:sp>
        <p:nvSpPr>
          <p:cNvPr id="24" name="Focus area title"/>
          <p:cNvSpPr txBox="1"/>
          <p:nvPr/>
        </p:nvSpPr>
        <p:spPr>
          <a:xfrm>
            <a:off x="5260726" y="244144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</a:rPr>
              <a:t>Techniques and questions</a:t>
            </a:r>
            <a:endParaRPr lang="en-US" sz="1400" dirty="0"/>
          </a:p>
        </p:txBody>
      </p:sp>
      <p:sp>
        <p:nvSpPr>
          <p:cNvPr id="25" name="Focus area list"/>
          <p:cNvSpPr txBox="1"/>
          <p:nvPr/>
        </p:nvSpPr>
        <p:spPr>
          <a:xfrm>
            <a:off x="5260726" y="2935224"/>
            <a:ext cx="171596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Open questions first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The agent states the gap in their own words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I model the behavior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Role play it</a:t>
            </a:r>
            <a:endParaRPr lang="en-US" sz="1150" dirty="0"/>
          </a:p>
        </p:txBody>
      </p:sp>
      <p:sp>
        <p:nvSpPr>
          <p:cNvPr id="26" name="Ammar example 3"/>
          <p:cNvSpPr/>
          <p:nvPr/>
        </p:nvSpPr>
        <p:spPr>
          <a:xfrm>
            <a:off x="5077846" y="5376672"/>
            <a:ext cx="2036003" cy="749808"/>
          </a:xfrm>
          <a:prstGeom prst="roundRect">
            <a:avLst>
              <a:gd name="adj" fmla="val 18293"/>
            </a:avLst>
          </a:prstGeom>
          <a:solidFill>
            <a:srgbClr val="121826"/>
          </a:solidFill>
          <a:ln/>
        </p:spPr>
      </p:sp>
      <p:sp>
        <p:nvSpPr>
          <p:cNvPr id="27" name="Paragraph"/>
          <p:cNvSpPr txBox="1"/>
          <p:nvPr/>
        </p:nvSpPr>
        <p:spPr>
          <a:xfrm>
            <a:off x="5260726" y="5449824"/>
            <a:ext cx="16702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He names the gap in his own words, then we role play it</a:t>
            </a:r>
            <a:endParaRPr lang="en-US" sz="1150" dirty="0"/>
          </a:p>
        </p:txBody>
      </p:sp>
      <p:sp>
        <p:nvSpPr>
          <p:cNvPr id="28" name="Focus area 4 card"/>
          <p:cNvSpPr/>
          <p:nvPr/>
        </p:nvSpPr>
        <p:spPr>
          <a:xfrm>
            <a:off x="7342449" y="1691640"/>
            <a:ext cx="2036003" cy="3154680"/>
          </a:xfrm>
          <a:prstGeom prst="roundRect">
            <a:avLst>
              <a:gd name="adj" fmla="val 6737"/>
            </a:avLst>
          </a:prstGeom>
          <a:solidFill>
            <a:srgbClr val="F6F3EE"/>
          </a:solidFill>
          <a:ln/>
        </p:spPr>
      </p:sp>
      <p:sp>
        <p:nvSpPr>
          <p:cNvPr id="29" name="Icon circle"/>
          <p:cNvSpPr/>
          <p:nvPr/>
        </p:nvSpPr>
        <p:spPr>
          <a:xfrm>
            <a:off x="7525329" y="1874520"/>
            <a:ext cx="457200" cy="457200"/>
          </a:xfrm>
          <a:prstGeom prst="ellipse">
            <a:avLst/>
          </a:prstGeom>
          <a:solidFill>
            <a:srgbClr val="FDE9DF"/>
          </a:solidFill>
          <a:ln/>
        </p:spPr>
      </p:sp>
      <p:pic>
        <p:nvPicPr>
          <p:cNvPr id="3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057" y="1984248"/>
            <a:ext cx="237744" cy="237744"/>
          </a:xfrm>
          <a:prstGeom prst="rect">
            <a:avLst/>
          </a:prstGeom>
        </p:spPr>
      </p:pic>
      <p:sp>
        <p:nvSpPr>
          <p:cNvPr id="31" name="Step number"/>
          <p:cNvSpPr txBox="1"/>
          <p:nvPr/>
        </p:nvSpPr>
        <p:spPr>
          <a:xfrm>
            <a:off x="8829812" y="1874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26522"/>
                </a:solidFill>
              </a:rPr>
              <a:t>4</a:t>
            </a:r>
            <a:endParaRPr lang="en-US" sz="2600" dirty="0"/>
          </a:p>
        </p:txBody>
      </p:sp>
      <p:sp>
        <p:nvSpPr>
          <p:cNvPr id="32" name="Focus area title"/>
          <p:cNvSpPr txBox="1"/>
          <p:nvPr/>
        </p:nvSpPr>
        <p:spPr>
          <a:xfrm>
            <a:off x="7525329" y="244144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</a:rPr>
              <a:t>Clear, measurable plan</a:t>
            </a:r>
            <a:endParaRPr lang="en-US" sz="1400" dirty="0"/>
          </a:p>
        </p:txBody>
      </p:sp>
      <p:sp>
        <p:nvSpPr>
          <p:cNvPr id="33" name="Focus area list"/>
          <p:cNvSpPr txBox="1"/>
          <p:nvPr/>
        </p:nvSpPr>
        <p:spPr>
          <a:xfrm>
            <a:off x="7525329" y="2935224"/>
            <a:ext cx="171596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One or two behaviors per session, never more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A KPI target with the surveys behind it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A follow-up date on every plan</a:t>
            </a:r>
            <a:endParaRPr lang="en-US" sz="1150" dirty="0"/>
          </a:p>
        </p:txBody>
      </p:sp>
      <p:sp>
        <p:nvSpPr>
          <p:cNvPr id="34" name="Ammar example 4"/>
          <p:cNvSpPr/>
          <p:nvPr/>
        </p:nvSpPr>
        <p:spPr>
          <a:xfrm>
            <a:off x="7342449" y="5376672"/>
            <a:ext cx="2036003" cy="749808"/>
          </a:xfrm>
          <a:prstGeom prst="roundRect">
            <a:avLst>
              <a:gd name="adj" fmla="val 18293"/>
            </a:avLst>
          </a:prstGeom>
          <a:solidFill>
            <a:srgbClr val="121826"/>
          </a:solidFill>
          <a:ln/>
        </p:spPr>
      </p:sp>
      <p:sp>
        <p:nvSpPr>
          <p:cNvPr id="35" name="Paragraph"/>
          <p:cNvSpPr txBox="1"/>
          <p:nvPr/>
        </p:nvSpPr>
        <p:spPr>
          <a:xfrm>
            <a:off x="7525329" y="5449824"/>
            <a:ext cx="16702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Two at a time: acknowledgement and empathy first</a:t>
            </a:r>
            <a:endParaRPr lang="en-US" sz="1150" dirty="0"/>
          </a:p>
        </p:txBody>
      </p:sp>
      <p:sp>
        <p:nvSpPr>
          <p:cNvPr id="36" name="Focus area 5 card"/>
          <p:cNvSpPr/>
          <p:nvPr/>
        </p:nvSpPr>
        <p:spPr>
          <a:xfrm>
            <a:off x="9607052" y="1691640"/>
            <a:ext cx="2036003" cy="3154680"/>
          </a:xfrm>
          <a:prstGeom prst="roundRect">
            <a:avLst>
              <a:gd name="adj" fmla="val 6737"/>
            </a:avLst>
          </a:prstGeom>
          <a:solidFill>
            <a:srgbClr val="F6F3EE"/>
          </a:solidFill>
          <a:ln/>
        </p:spPr>
      </p:sp>
      <p:sp>
        <p:nvSpPr>
          <p:cNvPr id="37" name="Icon circle"/>
          <p:cNvSpPr/>
          <p:nvPr/>
        </p:nvSpPr>
        <p:spPr>
          <a:xfrm>
            <a:off x="9789932" y="1874520"/>
            <a:ext cx="457200" cy="457200"/>
          </a:xfrm>
          <a:prstGeom prst="ellipse">
            <a:avLst/>
          </a:prstGeom>
          <a:solidFill>
            <a:srgbClr val="FDE9DF"/>
          </a:solidFill>
          <a:ln/>
        </p:spPr>
      </p:sp>
      <p:pic>
        <p:nvPicPr>
          <p:cNvPr id="38" name="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660" y="1984248"/>
            <a:ext cx="237744" cy="237744"/>
          </a:xfrm>
          <a:prstGeom prst="rect">
            <a:avLst/>
          </a:prstGeom>
        </p:spPr>
      </p:pic>
      <p:sp>
        <p:nvSpPr>
          <p:cNvPr id="39" name="Step number"/>
          <p:cNvSpPr txBox="1"/>
          <p:nvPr/>
        </p:nvSpPr>
        <p:spPr>
          <a:xfrm>
            <a:off x="11094415" y="18745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26522"/>
                </a:solidFill>
              </a:rPr>
              <a:t>5</a:t>
            </a:r>
            <a:endParaRPr lang="en-US" sz="2600" dirty="0"/>
          </a:p>
        </p:txBody>
      </p:sp>
      <p:sp>
        <p:nvSpPr>
          <p:cNvPr id="40" name="Focus area title"/>
          <p:cNvSpPr txBox="1"/>
          <p:nvPr/>
        </p:nvSpPr>
        <p:spPr>
          <a:xfrm>
            <a:off x="9789932" y="2441448"/>
            <a:ext cx="16702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1826"/>
                </a:solidFill>
              </a:rPr>
              <a:t>Best practice and consistency</a:t>
            </a:r>
            <a:endParaRPr lang="en-US" sz="1400" dirty="0"/>
          </a:p>
        </p:txBody>
      </p:sp>
      <p:sp>
        <p:nvSpPr>
          <p:cNvPr id="41" name="Focus area list"/>
          <p:cNvSpPr txBox="1"/>
          <p:nvPr/>
        </p:nvSpPr>
        <p:spPr>
          <a:xfrm>
            <a:off x="9789932" y="2935224"/>
            <a:ext cx="1715963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Weekly session, 15 to 30 minutes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Follow-up by listening to calls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Weekly huddle on the most-missed behavior</a:t>
            </a:r>
            <a:endParaRPr lang="en-US" sz="11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4453"/>
                </a:solidFill>
              </a:rPr>
              <a:t>Calibration pack every week</a:t>
            </a:r>
            <a:endParaRPr lang="en-US" sz="1150" dirty="0"/>
          </a:p>
        </p:txBody>
      </p:sp>
      <p:sp>
        <p:nvSpPr>
          <p:cNvPr id="42" name="Ammar example 5"/>
          <p:cNvSpPr/>
          <p:nvPr/>
        </p:nvSpPr>
        <p:spPr>
          <a:xfrm>
            <a:off x="9607052" y="5376672"/>
            <a:ext cx="2036003" cy="749808"/>
          </a:xfrm>
          <a:prstGeom prst="roundRect">
            <a:avLst>
              <a:gd name="adj" fmla="val 18293"/>
            </a:avLst>
          </a:prstGeom>
          <a:solidFill>
            <a:srgbClr val="121826"/>
          </a:solidFill>
          <a:ln/>
        </p:spPr>
      </p:sp>
      <p:sp>
        <p:nvSpPr>
          <p:cNvPr id="43" name="Paragraph"/>
          <p:cNvSpPr txBox="1"/>
          <p:nvPr/>
        </p:nvSpPr>
        <p:spPr>
          <a:xfrm>
            <a:off x="9789932" y="5449824"/>
            <a:ext cx="16702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2 calls a week, side by side, every week</a:t>
            </a:r>
            <a:endParaRPr lang="en-US" sz="1150" dirty="0"/>
          </a:p>
        </p:txBody>
      </p:sp>
      <p:sp>
        <p:nvSpPr>
          <p:cNvPr id="44" name="Example label"/>
          <p:cNvSpPr txBox="1"/>
          <p:nvPr/>
        </p:nvSpPr>
        <p:spPr>
          <a:xfrm>
            <a:off x="548640" y="499262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4A10"/>
                </a:solidFill>
              </a:rPr>
              <a:t>Live example: </a:t>
            </a:r>
            <a:pPr indent="0" marL="0">
              <a:buNone/>
            </a:pPr>
            <a:r>
              <a:rPr lang="en-US" sz="1250" b="1" dirty="0">
                <a:solidFill>
                  <a:srgbClr val="121826"/>
                </a:solidFill>
              </a:rPr>
              <a:t>Mohammed Ammar, the same five steps on one agent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4A10"/>
                </a:solidFill>
              </a:rPr>
              <a:t>THE NEXT 30 DAYS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at zero would take team tNPS from 11.0 to 17.4</a:t>
            </a:r>
            <a:endParaRPr lang="en-US" sz="3200" dirty="0"/>
          </a:p>
        </p:txBody>
      </p:sp>
      <p:sp>
        <p:nvSpPr>
          <p:cNvPr id="4" name="Stat card"/>
          <p:cNvSpPr/>
          <p:nvPr/>
        </p:nvSpPr>
        <p:spPr>
          <a:xfrm>
            <a:off x="548640" y="1691640"/>
            <a:ext cx="3515258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tat number"/>
          <p:cNvSpPr txBox="1"/>
          <p:nvPr/>
        </p:nvSpPr>
        <p:spPr>
          <a:xfrm>
            <a:off x="822960" y="1828800"/>
            <a:ext cx="29666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2318"/>
                </a:solidFill>
              </a:rPr>
              <a:t>3 agents</a:t>
            </a:r>
            <a:endParaRPr lang="en-US" sz="3600" dirty="0"/>
          </a:p>
        </p:txBody>
      </p:sp>
      <p:sp>
        <p:nvSpPr>
          <p:cNvPr id="6" name="Paragraph"/>
          <p:cNvSpPr txBox="1"/>
          <p:nvPr/>
        </p:nvSpPr>
        <p:spPr>
          <a:xfrm>
            <a:off x="822960" y="2496312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D4453"/>
                </a:solidFill>
              </a:rPr>
              <a:t>negative on tNPS, on 44 of the team’s 172 surveys</a:t>
            </a:r>
            <a:endParaRPr lang="en-US" sz="1250" dirty="0"/>
          </a:p>
        </p:txBody>
      </p:sp>
      <p:sp>
        <p:nvSpPr>
          <p:cNvPr id="7" name="Stat card"/>
          <p:cNvSpPr/>
          <p:nvPr/>
        </p:nvSpPr>
        <p:spPr>
          <a:xfrm>
            <a:off x="4338218" y="1691640"/>
            <a:ext cx="3515258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tat number"/>
          <p:cNvSpPr txBox="1"/>
          <p:nvPr/>
        </p:nvSpPr>
        <p:spPr>
          <a:xfrm>
            <a:off x="4612538" y="1828800"/>
            <a:ext cx="29666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7F5C"/>
                </a:solidFill>
              </a:rPr>
              <a:t>11.0 → 17.4</a:t>
            </a:r>
            <a:endParaRPr lang="en-US" sz="3600" dirty="0"/>
          </a:p>
        </p:txBody>
      </p:sp>
      <p:sp>
        <p:nvSpPr>
          <p:cNvPr id="9" name="Paragraph"/>
          <p:cNvSpPr txBox="1"/>
          <p:nvPr/>
        </p:nvSpPr>
        <p:spPr>
          <a:xfrm>
            <a:off x="4612538" y="2496312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D4453"/>
                </a:solidFill>
              </a:rPr>
              <a:t>team tNPS if the three reach zero, with no new promoters added</a:t>
            </a:r>
            <a:endParaRPr lang="en-US" sz="1250" dirty="0"/>
          </a:p>
        </p:txBody>
      </p:sp>
      <p:sp>
        <p:nvSpPr>
          <p:cNvPr id="10" name="Stat card"/>
          <p:cNvSpPr/>
          <p:nvPr/>
        </p:nvSpPr>
        <p:spPr>
          <a:xfrm>
            <a:off x="8127797" y="1691640"/>
            <a:ext cx="3515258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E3DED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tat number"/>
          <p:cNvSpPr txBox="1"/>
          <p:nvPr/>
        </p:nvSpPr>
        <p:spPr>
          <a:xfrm>
            <a:off x="8402117" y="1828800"/>
            <a:ext cx="29666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4A10"/>
                </a:solidFill>
              </a:rPr>
              <a:t>3 steps</a:t>
            </a:r>
            <a:endParaRPr lang="en-US" sz="3600" dirty="0"/>
          </a:p>
        </p:txBody>
      </p:sp>
      <p:sp>
        <p:nvSpPr>
          <p:cNvPr id="12" name="Paragraph"/>
          <p:cNvSpPr txBox="1"/>
          <p:nvPr/>
        </p:nvSpPr>
        <p:spPr>
          <a:xfrm>
            <a:off x="8402117" y="2496312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3D4453"/>
                </a:solidFill>
              </a:rPr>
              <a:t>two behaviors a week, then a full review in week 4</a:t>
            </a:r>
            <a:endParaRPr lang="en-US" sz="1250" dirty="0"/>
          </a:p>
        </p:txBody>
      </p:sp>
      <p:sp>
        <p:nvSpPr>
          <p:cNvPr id="13" name="Goals card"/>
          <p:cNvSpPr/>
          <p:nvPr/>
        </p:nvSpPr>
        <p:spPr>
          <a:xfrm>
            <a:off x="548640" y="3291840"/>
            <a:ext cx="4343400" cy="2834640"/>
          </a:xfrm>
          <a:prstGeom prst="roundRect">
            <a:avLst>
              <a:gd name="adj" fmla="val 4839"/>
            </a:avLst>
          </a:prstGeom>
          <a:solidFill>
            <a:srgbClr val="F6F3EE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777240" y="3493008"/>
            <a:ext cx="457200" cy="457200"/>
          </a:xfrm>
          <a:prstGeom prst="ellipse">
            <a:avLst/>
          </a:prstGeom>
          <a:solidFill>
            <a:srgbClr val="FDE9DF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602736"/>
            <a:ext cx="237744" cy="237744"/>
          </a:xfrm>
          <a:prstGeom prst="rect">
            <a:avLst/>
          </a:prstGeom>
        </p:spPr>
      </p:pic>
      <p:sp>
        <p:nvSpPr>
          <p:cNvPr id="16" name="Goals heading"/>
          <p:cNvSpPr txBox="1"/>
          <p:nvPr/>
        </p:nvSpPr>
        <p:spPr>
          <a:xfrm>
            <a:off x="1371600" y="353872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6"/>
                </a:solidFill>
              </a:rPr>
              <a:t>Measurable goals</a:t>
            </a:r>
            <a:endParaRPr lang="en-US" sz="1600" dirty="0"/>
          </a:p>
        </p:txBody>
      </p:sp>
      <p:graphicFrame>
        <p:nvGraphicFramePr>
          <p:cNvPr id="5" name="Goa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069080"/>
          <a:ext cx="38862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73152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tNPS now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Mohammed Ammar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−37.5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or better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Mohamed Mahmoud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or better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 Elbanna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−15.4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or better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18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three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D44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step on 3 of 3 reviewed calls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54864" marT="27432" marB="27432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E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Cadence card"/>
          <p:cNvSpPr/>
          <p:nvPr/>
        </p:nvSpPr>
        <p:spPr>
          <a:xfrm>
            <a:off x="5166360" y="3291840"/>
            <a:ext cx="3611880" cy="2834640"/>
          </a:xfrm>
          <a:prstGeom prst="roundRect">
            <a:avLst>
              <a:gd name="adj" fmla="val 4839"/>
            </a:avLst>
          </a:prstGeom>
          <a:solidFill>
            <a:srgbClr val="F6F3EE"/>
          </a:solidFill>
          <a:ln/>
        </p:spPr>
      </p:sp>
      <p:sp>
        <p:nvSpPr>
          <p:cNvPr id="19" name="Icon circle"/>
          <p:cNvSpPr/>
          <p:nvPr/>
        </p:nvSpPr>
        <p:spPr>
          <a:xfrm>
            <a:off x="5394960" y="3493008"/>
            <a:ext cx="457200" cy="457200"/>
          </a:xfrm>
          <a:prstGeom prst="ellipse">
            <a:avLst/>
          </a:prstGeom>
          <a:solidFill>
            <a:srgbClr val="FDE9DF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3602736"/>
            <a:ext cx="237744" cy="237744"/>
          </a:xfrm>
          <a:prstGeom prst="rect">
            <a:avLst/>
          </a:prstGeom>
        </p:spPr>
      </p:pic>
      <p:sp>
        <p:nvSpPr>
          <p:cNvPr id="21" name="Cadence heading"/>
          <p:cNvSpPr txBox="1"/>
          <p:nvPr/>
        </p:nvSpPr>
        <p:spPr>
          <a:xfrm>
            <a:off x="5989320" y="35387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1826"/>
                </a:solidFill>
              </a:rPr>
              <a:t>Weekly cadence</a:t>
            </a:r>
            <a:endParaRPr lang="en-US" sz="1600" dirty="0"/>
          </a:p>
        </p:txBody>
      </p:sp>
      <p:sp>
        <p:nvSpPr>
          <p:cNvPr id="22" name="Cadence list"/>
          <p:cNvSpPr txBox="1"/>
          <p:nvPr/>
        </p:nvSpPr>
        <p:spPr>
          <a:xfrm>
            <a:off x="5440680" y="411480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A 15 to 30 minute session with each of the three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Ammar: 2 calls a week, side by side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Mohamed Mahmoud and Ahmed Elbanna: 2 to 4 calls before each session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3D4453"/>
                </a:solidFill>
              </a:rPr>
              <a:t>Week 4: full review, then complete, extend or adjust</a:t>
            </a:r>
            <a:endParaRPr lang="en-US" sz="1250" dirty="0"/>
          </a:p>
        </p:txBody>
      </p:sp>
      <p:sp>
        <p:nvSpPr>
          <p:cNvPr id="23" name="Asks card"/>
          <p:cNvSpPr/>
          <p:nvPr/>
        </p:nvSpPr>
        <p:spPr>
          <a:xfrm>
            <a:off x="9052560" y="3291840"/>
            <a:ext cx="2590495" cy="2834640"/>
          </a:xfrm>
          <a:prstGeom prst="roundRect">
            <a:avLst>
              <a:gd name="adj" fmla="val 5295"/>
            </a:avLst>
          </a:prstGeom>
          <a:solidFill>
            <a:srgbClr val="121826"/>
          </a:solidFill>
          <a:ln/>
        </p:spPr>
      </p:sp>
      <p:sp>
        <p:nvSpPr>
          <p:cNvPr id="24" name="Icon circle"/>
          <p:cNvSpPr/>
          <p:nvPr/>
        </p:nvSpPr>
        <p:spPr>
          <a:xfrm>
            <a:off x="9281160" y="3493008"/>
            <a:ext cx="457200" cy="457200"/>
          </a:xfrm>
          <a:prstGeom prst="ellipse">
            <a:avLst/>
          </a:prstGeom>
          <a:solidFill>
            <a:srgbClr val="F26522"/>
          </a:solidFill>
          <a:ln/>
        </p:spPr>
      </p:sp>
      <p:pic>
        <p:nvPicPr>
          <p:cNvPr id="2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0888" y="3602736"/>
            <a:ext cx="237744" cy="237744"/>
          </a:xfrm>
          <a:prstGeom prst="rect">
            <a:avLst/>
          </a:prstGeom>
        </p:spPr>
      </p:pic>
      <p:sp>
        <p:nvSpPr>
          <p:cNvPr id="26" name="Asks heading"/>
          <p:cNvSpPr txBox="1"/>
          <p:nvPr/>
        </p:nvSpPr>
        <p:spPr>
          <a:xfrm>
            <a:off x="9875520" y="3538728"/>
            <a:ext cx="1584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Two asks</a:t>
            </a:r>
            <a:endParaRPr lang="en-US" sz="1600" dirty="0"/>
          </a:p>
        </p:txBody>
      </p:sp>
      <p:sp>
        <p:nvSpPr>
          <p:cNvPr id="27" name="Asks list"/>
          <p:cNvSpPr txBox="1"/>
          <p:nvPr/>
        </p:nvSpPr>
        <p:spPr>
          <a:xfrm>
            <a:off x="9326880" y="4114800"/>
            <a:ext cx="2087575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9DDE6"/>
                </a:solidFill>
              </a:rPr>
              <a:t>Detractor comments each week, so I coach the exact moment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D9DDE6"/>
                </a:solidFill>
              </a:rPr>
              <a:t>Protected time off the phones for side-by-side coaching during nesting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XI Team Standing">
  <a:themeElements>
    <a:clrScheme name="VXI Team Standing">
      <a:dk1>
        <a:srgbClr val="121826"/>
      </a:dk1>
      <a:lt1>
        <a:srgbClr val="FFFFFF"/>
      </a:lt1>
      <a:dk2>
        <a:srgbClr val="3D4453"/>
      </a:dk2>
      <a:lt2>
        <a:srgbClr val="F6F3EE"/>
      </a:lt2>
      <a:accent1>
        <a:srgbClr val="F26522"/>
      </a:accent1>
      <a:accent2>
        <a:srgbClr val="C94A10"/>
      </a:accent2>
      <a:accent3>
        <a:srgbClr val="1E7F5C"/>
      </a:accent3>
      <a:accent4>
        <a:srgbClr val="B42318"/>
      </a:accent4>
      <a:accent5>
        <a:srgbClr val="FDE9DF"/>
      </a:accent5>
      <a:accent6>
        <a:srgbClr val="8C96AC"/>
      </a:accent6>
      <a:hlink>
        <a:srgbClr val="C94A10"/>
      </a:hlink>
      <a:folHlink>
        <a:srgbClr val="C94A10"/>
      </a:folHlink>
    </a:clrScheme>
    <a:fontScheme name="VXI Team Stand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Coaching Plan: Omar Mansour</dc:title>
  <dc:subject>PptxGenJS Presentation</dc:subject>
  <dc:creator>Omar Mansour</dc:creator>
  <cp:lastModifiedBy>Omar Mansour</cp:lastModifiedBy>
  <cp:revision>1</cp:revision>
  <dcterms:created xsi:type="dcterms:W3CDTF">2026-10-19T15:06:02Z</dcterms:created>
  <dcterms:modified xsi:type="dcterms:W3CDTF">2026-10-19T15:06:02Z</dcterms:modified>
</cp:coreProperties>
</file>